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handoutMasterIdLst>
    <p:handoutMasterId r:id="rId51"/>
  </p:handoutMasterIdLst>
  <p:sldIdLst>
    <p:sldId id="263" r:id="rId2"/>
    <p:sldId id="257" r:id="rId3"/>
    <p:sldId id="304" r:id="rId4"/>
    <p:sldId id="305" r:id="rId5"/>
    <p:sldId id="335" r:id="rId6"/>
    <p:sldId id="303" r:id="rId7"/>
    <p:sldId id="306" r:id="rId8"/>
    <p:sldId id="336" r:id="rId9"/>
    <p:sldId id="341" r:id="rId10"/>
    <p:sldId id="308" r:id="rId11"/>
    <p:sldId id="345" r:id="rId12"/>
    <p:sldId id="337" r:id="rId13"/>
    <p:sldId id="282" r:id="rId14"/>
    <p:sldId id="309" r:id="rId15"/>
    <p:sldId id="310" r:id="rId16"/>
    <p:sldId id="311" r:id="rId17"/>
    <p:sldId id="312" r:id="rId18"/>
    <p:sldId id="264"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9" r:id="rId35"/>
    <p:sldId id="269" r:id="rId36"/>
    <p:sldId id="307" r:id="rId37"/>
    <p:sldId id="273" r:id="rId38"/>
    <p:sldId id="274" r:id="rId39"/>
    <p:sldId id="275" r:id="rId40"/>
    <p:sldId id="330" r:id="rId41"/>
    <p:sldId id="339" r:id="rId42"/>
    <p:sldId id="340" r:id="rId43"/>
    <p:sldId id="331" r:id="rId44"/>
    <p:sldId id="342" r:id="rId45"/>
    <p:sldId id="344" r:id="rId46"/>
    <p:sldId id="265" r:id="rId47"/>
    <p:sldId id="299" r:id="rId48"/>
    <p:sldId id="332"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FE58"/>
    <a:srgbClr val="503E10"/>
    <a:srgbClr val="6633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86248" autoAdjust="0"/>
  </p:normalViewPr>
  <p:slideViewPr>
    <p:cSldViewPr snapToGrid="0">
      <p:cViewPr varScale="1">
        <p:scale>
          <a:sx n="57" d="100"/>
          <a:sy n="57" d="100"/>
        </p:scale>
        <p:origin x="1484"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5491"/>
    </p:cViewPr>
  </p:sorterViewPr>
  <p:notesViewPr>
    <p:cSldViewPr snapToGrid="0">
      <p:cViewPr varScale="1">
        <p:scale>
          <a:sx n="88" d="100"/>
          <a:sy n="88" d="100"/>
        </p:scale>
        <p:origin x="3822"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AU" dirty="0"/>
              <a:t>Lecture 18 Cereal Phenology </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AU" dirty="0"/>
              <a:t>20/08/2019</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443AF4-DF30-4CE1-93E4-83C861FF0367}" type="slidenum">
              <a:rPr lang="en-AU" smtClean="0"/>
              <a:t>‹#›</a:t>
            </a:fld>
            <a:endParaRPr lang="en-AU"/>
          </a:p>
        </p:txBody>
      </p:sp>
    </p:spTree>
    <p:extLst>
      <p:ext uri="{BB962C8B-B14F-4D97-AF65-F5344CB8AC3E}">
        <p14:creationId xmlns:p14="http://schemas.microsoft.com/office/powerpoint/2010/main" val="2262871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733FBB-7BC6-45BD-9C3D-E308D7EE8433}" type="datetimeFigureOut">
              <a:rPr lang="en-AU" smtClean="0"/>
              <a:t>14/08/2023</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925F34-0F13-4141-8C84-09B2386A2CC0}" type="slidenum">
              <a:rPr lang="en-AU" smtClean="0"/>
              <a:t>‹#›</a:t>
            </a:fld>
            <a:endParaRPr lang="en-AU"/>
          </a:p>
        </p:txBody>
      </p:sp>
    </p:spTree>
    <p:extLst>
      <p:ext uri="{BB962C8B-B14F-4D97-AF65-F5344CB8AC3E}">
        <p14:creationId xmlns:p14="http://schemas.microsoft.com/office/powerpoint/2010/main" val="1240463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59925F34-0F13-4141-8C84-09B2386A2CC0}" type="slidenum">
              <a:rPr lang="en-AU" smtClean="0"/>
              <a:t>4</a:t>
            </a:fld>
            <a:endParaRPr lang="en-AU"/>
          </a:p>
        </p:txBody>
      </p:sp>
    </p:spTree>
    <p:extLst>
      <p:ext uri="{BB962C8B-B14F-4D97-AF65-F5344CB8AC3E}">
        <p14:creationId xmlns:p14="http://schemas.microsoft.com/office/powerpoint/2010/main" val="4184992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Earliness</a:t>
            </a:r>
            <a:r>
              <a:rPr lang="en-AU" baseline="0"/>
              <a:t> per se is the differences in time to heading when photoperiod and vernalisation have accounted for</a:t>
            </a:r>
            <a:endParaRPr lang="en-AU"/>
          </a:p>
        </p:txBody>
      </p:sp>
      <p:sp>
        <p:nvSpPr>
          <p:cNvPr id="4" name="Slide Number Placeholder 3"/>
          <p:cNvSpPr>
            <a:spLocks noGrp="1"/>
          </p:cNvSpPr>
          <p:nvPr>
            <p:ph type="sldNum" sz="quarter" idx="10"/>
          </p:nvPr>
        </p:nvSpPr>
        <p:spPr/>
        <p:txBody>
          <a:bodyPr/>
          <a:lstStyle/>
          <a:p>
            <a:fld id="{59925F34-0F13-4141-8C84-09B2386A2CC0}" type="slidenum">
              <a:rPr lang="en-AU" smtClean="0"/>
              <a:t>6</a:t>
            </a:fld>
            <a:endParaRPr lang="en-AU"/>
          </a:p>
        </p:txBody>
      </p:sp>
    </p:spTree>
    <p:extLst>
      <p:ext uri="{BB962C8B-B14F-4D97-AF65-F5344CB8AC3E}">
        <p14:creationId xmlns:p14="http://schemas.microsoft.com/office/powerpoint/2010/main" val="3260069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Earliness</a:t>
            </a:r>
            <a:r>
              <a:rPr lang="en-AU" baseline="0"/>
              <a:t> per se is the differences in time to heading when photoperiod and vernalisation have accounted for</a:t>
            </a:r>
            <a:endParaRPr lang="en-AU"/>
          </a:p>
        </p:txBody>
      </p:sp>
      <p:sp>
        <p:nvSpPr>
          <p:cNvPr id="4" name="Slide Number Placeholder 3"/>
          <p:cNvSpPr>
            <a:spLocks noGrp="1"/>
          </p:cNvSpPr>
          <p:nvPr>
            <p:ph type="sldNum" sz="quarter" idx="10"/>
          </p:nvPr>
        </p:nvSpPr>
        <p:spPr/>
        <p:txBody>
          <a:bodyPr/>
          <a:lstStyle/>
          <a:p>
            <a:fld id="{59925F34-0F13-4141-8C84-09B2386A2CC0}" type="slidenum">
              <a:rPr lang="en-AU" smtClean="0"/>
              <a:t>7</a:t>
            </a:fld>
            <a:endParaRPr lang="en-AU"/>
          </a:p>
        </p:txBody>
      </p:sp>
    </p:spTree>
    <p:extLst>
      <p:ext uri="{BB962C8B-B14F-4D97-AF65-F5344CB8AC3E}">
        <p14:creationId xmlns:p14="http://schemas.microsoft.com/office/powerpoint/2010/main" val="1931143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Canopy management:</a:t>
            </a:r>
            <a:r>
              <a:rPr lang="en-AU" baseline="0"/>
              <a:t> thicker – pros: generally higher </a:t>
            </a:r>
            <a:r>
              <a:rPr lang="en-AU"/>
              <a:t>yield, compete with weeds through shading</a:t>
            </a:r>
          </a:p>
          <a:p>
            <a:r>
              <a:rPr lang="en-AU"/>
              <a:t>Thicker – cons: potentially more</a:t>
            </a:r>
            <a:r>
              <a:rPr lang="en-AU" baseline="0"/>
              <a:t> disease, greater frost damage risk</a:t>
            </a:r>
          </a:p>
          <a:p>
            <a:r>
              <a:rPr lang="en-AU" baseline="0"/>
              <a:t>In this example the target protein is an important consideration. Is the high yield worth the reduction in protein (wheat grade) and the cost of application and product?</a:t>
            </a:r>
            <a:endParaRPr lang="en-AU"/>
          </a:p>
        </p:txBody>
      </p:sp>
      <p:sp>
        <p:nvSpPr>
          <p:cNvPr id="4" name="Slide Number Placeholder 3"/>
          <p:cNvSpPr>
            <a:spLocks noGrp="1"/>
          </p:cNvSpPr>
          <p:nvPr>
            <p:ph type="sldNum" sz="quarter" idx="10"/>
          </p:nvPr>
        </p:nvSpPr>
        <p:spPr/>
        <p:txBody>
          <a:bodyPr/>
          <a:lstStyle/>
          <a:p>
            <a:fld id="{59925F34-0F13-4141-8C84-09B2386A2CC0}" type="slidenum">
              <a:rPr lang="en-AU" smtClean="0"/>
              <a:t>46</a:t>
            </a:fld>
            <a:endParaRPr lang="en-AU"/>
          </a:p>
        </p:txBody>
      </p:sp>
    </p:spTree>
    <p:extLst>
      <p:ext uri="{BB962C8B-B14F-4D97-AF65-F5344CB8AC3E}">
        <p14:creationId xmlns:p14="http://schemas.microsoft.com/office/powerpoint/2010/main" val="81034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FC11E4C-BCD2-44FE-9BFE-5E5057C4E4E4}" type="datetimeFigureOut">
              <a:rPr lang="en-AU" smtClean="0"/>
              <a:t>14/08/2023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068A04-0318-4C7F-A148-A59366B6E91B}" type="slidenum">
              <a:rPr lang="en-AU" smtClean="0"/>
              <a:t>‹#›</a:t>
            </a:fld>
            <a:endParaRPr lang="en-AU"/>
          </a:p>
        </p:txBody>
      </p:sp>
    </p:spTree>
    <p:extLst>
      <p:ext uri="{BB962C8B-B14F-4D97-AF65-F5344CB8AC3E}">
        <p14:creationId xmlns:p14="http://schemas.microsoft.com/office/powerpoint/2010/main" val="3064191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C11E4C-BCD2-44FE-9BFE-5E5057C4E4E4}" type="datetimeFigureOut">
              <a:rPr lang="en-AU" smtClean="0"/>
              <a:t>14/08/2023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068A04-0318-4C7F-A148-A59366B6E91B}" type="slidenum">
              <a:rPr lang="en-AU" smtClean="0"/>
              <a:t>‹#›</a:t>
            </a:fld>
            <a:endParaRPr lang="en-AU"/>
          </a:p>
        </p:txBody>
      </p:sp>
    </p:spTree>
    <p:extLst>
      <p:ext uri="{BB962C8B-B14F-4D97-AF65-F5344CB8AC3E}">
        <p14:creationId xmlns:p14="http://schemas.microsoft.com/office/powerpoint/2010/main" val="677140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C11E4C-BCD2-44FE-9BFE-5E5057C4E4E4}" type="datetimeFigureOut">
              <a:rPr lang="en-AU" smtClean="0"/>
              <a:t>14/08/2023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068A04-0318-4C7F-A148-A59366B6E91B}" type="slidenum">
              <a:rPr lang="en-AU" smtClean="0"/>
              <a:t>‹#›</a:t>
            </a:fld>
            <a:endParaRPr lang="en-AU"/>
          </a:p>
        </p:txBody>
      </p:sp>
    </p:spTree>
    <p:extLst>
      <p:ext uri="{BB962C8B-B14F-4D97-AF65-F5344CB8AC3E}">
        <p14:creationId xmlns:p14="http://schemas.microsoft.com/office/powerpoint/2010/main" val="3207874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C11E4C-BCD2-44FE-9BFE-5E5057C4E4E4}" type="datetimeFigureOut">
              <a:rPr lang="en-AU" smtClean="0"/>
              <a:t>14/08/2023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D068A04-0318-4C7F-A148-A59366B6E91B}" type="slidenum">
              <a:rPr lang="en-AU" smtClean="0"/>
              <a:t>‹#›</a:t>
            </a:fld>
            <a:endParaRPr lang="en-AU"/>
          </a:p>
        </p:txBody>
      </p:sp>
    </p:spTree>
    <p:extLst>
      <p:ext uri="{BB962C8B-B14F-4D97-AF65-F5344CB8AC3E}">
        <p14:creationId xmlns:p14="http://schemas.microsoft.com/office/powerpoint/2010/main" val="2878849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C11E4C-BCD2-44FE-9BFE-5E5057C4E4E4}" type="datetimeFigureOut">
              <a:rPr lang="en-AU" smtClean="0"/>
              <a:t>14/08/2023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D068A04-0318-4C7F-A148-A59366B6E91B}" type="slidenum">
              <a:rPr lang="en-AU" smtClean="0"/>
              <a:t>‹#›</a:t>
            </a:fld>
            <a:endParaRPr lang="en-AU"/>
          </a:p>
        </p:txBody>
      </p:sp>
    </p:spTree>
    <p:extLst>
      <p:ext uri="{BB962C8B-B14F-4D97-AF65-F5344CB8AC3E}">
        <p14:creationId xmlns:p14="http://schemas.microsoft.com/office/powerpoint/2010/main" val="870740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C11E4C-BCD2-44FE-9BFE-5E5057C4E4E4}" type="datetimeFigureOut">
              <a:rPr lang="en-AU" smtClean="0"/>
              <a:t>14/08/2023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D068A04-0318-4C7F-A148-A59366B6E91B}" type="slidenum">
              <a:rPr lang="en-AU" smtClean="0"/>
              <a:t>‹#›</a:t>
            </a:fld>
            <a:endParaRPr lang="en-AU"/>
          </a:p>
        </p:txBody>
      </p:sp>
    </p:spTree>
    <p:extLst>
      <p:ext uri="{BB962C8B-B14F-4D97-AF65-F5344CB8AC3E}">
        <p14:creationId xmlns:p14="http://schemas.microsoft.com/office/powerpoint/2010/main" val="434050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C11E4C-BCD2-44FE-9BFE-5E5057C4E4E4}" type="datetimeFigureOut">
              <a:rPr lang="en-AU" smtClean="0"/>
              <a:t>14/08/2023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D068A04-0318-4C7F-A148-A59366B6E91B}" type="slidenum">
              <a:rPr lang="en-AU" smtClean="0"/>
              <a:t>‹#›</a:t>
            </a:fld>
            <a:endParaRPr lang="en-AU"/>
          </a:p>
        </p:txBody>
      </p:sp>
    </p:spTree>
    <p:extLst>
      <p:ext uri="{BB962C8B-B14F-4D97-AF65-F5344CB8AC3E}">
        <p14:creationId xmlns:p14="http://schemas.microsoft.com/office/powerpoint/2010/main" val="112902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C11E4C-BCD2-44FE-9BFE-5E5057C4E4E4}" type="datetimeFigureOut">
              <a:rPr lang="en-AU" smtClean="0"/>
              <a:t>14/08/2023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D068A04-0318-4C7F-A148-A59366B6E91B}" type="slidenum">
              <a:rPr lang="en-AU" smtClean="0"/>
              <a:t>‹#›</a:t>
            </a:fld>
            <a:endParaRPr lang="en-AU"/>
          </a:p>
        </p:txBody>
      </p:sp>
    </p:spTree>
    <p:extLst>
      <p:ext uri="{BB962C8B-B14F-4D97-AF65-F5344CB8AC3E}">
        <p14:creationId xmlns:p14="http://schemas.microsoft.com/office/powerpoint/2010/main" val="3938392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C11E4C-BCD2-44FE-9BFE-5E5057C4E4E4}" type="datetimeFigureOut">
              <a:rPr lang="en-AU" smtClean="0"/>
              <a:t>14/08/2023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D068A04-0318-4C7F-A148-A59366B6E91B}" type="slidenum">
              <a:rPr lang="en-AU" smtClean="0"/>
              <a:t>‹#›</a:t>
            </a:fld>
            <a:endParaRPr lang="en-AU"/>
          </a:p>
        </p:txBody>
      </p:sp>
    </p:spTree>
    <p:extLst>
      <p:ext uri="{BB962C8B-B14F-4D97-AF65-F5344CB8AC3E}">
        <p14:creationId xmlns:p14="http://schemas.microsoft.com/office/powerpoint/2010/main" val="998538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C11E4C-BCD2-44FE-9BFE-5E5057C4E4E4}" type="datetimeFigureOut">
              <a:rPr lang="en-AU" smtClean="0"/>
              <a:t>14/08/2023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068A04-0318-4C7F-A148-A59366B6E91B}" type="slidenum">
              <a:rPr lang="en-AU" smtClean="0"/>
              <a:t>‹#›</a:t>
            </a:fld>
            <a:endParaRPr lang="en-AU"/>
          </a:p>
        </p:txBody>
      </p:sp>
    </p:spTree>
    <p:extLst>
      <p:ext uri="{BB962C8B-B14F-4D97-AF65-F5344CB8AC3E}">
        <p14:creationId xmlns:p14="http://schemas.microsoft.com/office/powerpoint/2010/main" val="57494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C11E4C-BCD2-44FE-9BFE-5E5057C4E4E4}" type="datetimeFigureOut">
              <a:rPr lang="en-AU" smtClean="0"/>
              <a:t>14/08/2023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068A04-0318-4C7F-A148-A59366B6E91B}" type="slidenum">
              <a:rPr lang="en-AU" smtClean="0"/>
              <a:t>‹#›</a:t>
            </a:fld>
            <a:endParaRPr lang="en-AU"/>
          </a:p>
        </p:txBody>
      </p:sp>
    </p:spTree>
    <p:extLst>
      <p:ext uri="{BB962C8B-B14F-4D97-AF65-F5344CB8AC3E}">
        <p14:creationId xmlns:p14="http://schemas.microsoft.com/office/powerpoint/2010/main" val="2202586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C11E4C-BCD2-44FE-9BFE-5E5057C4E4E4}" type="datetimeFigureOut">
              <a:rPr lang="en-AU" smtClean="0"/>
              <a:t>14/08/2023</a:t>
            </a:fld>
            <a:endParaRPr lang="en-AU"/>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068A04-0318-4C7F-A148-A59366B6E91B}" type="slidenum">
              <a:rPr lang="en-AU" smtClean="0"/>
              <a:t>‹#›</a:t>
            </a:fld>
            <a:endParaRPr lang="en-AU"/>
          </a:p>
        </p:txBody>
      </p:sp>
    </p:spTree>
    <p:extLst>
      <p:ext uri="{BB962C8B-B14F-4D97-AF65-F5344CB8AC3E}">
        <p14:creationId xmlns:p14="http://schemas.microsoft.com/office/powerpoint/2010/main" val="3482008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7.xml"/><Relationship Id="rId4" Type="http://schemas.openxmlformats.org/officeDocument/2006/relationships/image" Target="../media/image29.JPG"/></Relationships>
</file>

<file path=ppt/slides/_rels/slide26.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JPG"/></Relationships>
</file>

<file path=ppt/slides/_rels/slide33.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7.png"/><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3" Type="http://schemas.openxmlformats.org/officeDocument/2006/relationships/hyperlink" Target="https://www.agric.wa.gov.au/wheat/wheat-book-principles-and-practice" TargetMode="External"/><Relationship Id="rId2" Type="http://schemas.openxmlformats.org/officeDocument/2006/relationships/image" Target="../media/image51.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TextBox 3"/>
          <p:cNvSpPr txBox="1"/>
          <p:nvPr/>
        </p:nvSpPr>
        <p:spPr>
          <a:xfrm>
            <a:off x="864301" y="100229"/>
            <a:ext cx="6419643" cy="1323439"/>
          </a:xfrm>
          <a:prstGeom prst="rect">
            <a:avLst/>
          </a:prstGeom>
          <a:noFill/>
        </p:spPr>
        <p:txBody>
          <a:bodyPr wrap="none" rtlCol="0">
            <a:spAutoFit/>
          </a:bodyPr>
          <a:lstStyle/>
          <a:p>
            <a:r>
              <a:rPr lang="en-AU" sz="4000" b="1" dirty="0"/>
              <a:t>Cereal Growth stages</a:t>
            </a:r>
          </a:p>
          <a:p>
            <a:r>
              <a:rPr lang="en-AU" sz="4000" b="1" dirty="0"/>
              <a:t>The link to crop management</a:t>
            </a:r>
          </a:p>
        </p:txBody>
      </p:sp>
      <p:sp>
        <p:nvSpPr>
          <p:cNvPr id="2" name="TextBox 1"/>
          <p:cNvSpPr txBox="1"/>
          <p:nvPr/>
        </p:nvSpPr>
        <p:spPr>
          <a:xfrm>
            <a:off x="2365243" y="4287187"/>
            <a:ext cx="3417757" cy="954107"/>
          </a:xfrm>
          <a:prstGeom prst="rect">
            <a:avLst/>
          </a:prstGeom>
          <a:solidFill>
            <a:schemeClr val="bg1">
              <a:alpha val="58000"/>
            </a:schemeClr>
          </a:solidFill>
        </p:spPr>
        <p:txBody>
          <a:bodyPr wrap="square" rtlCol="0">
            <a:spAutoFit/>
          </a:bodyPr>
          <a:lstStyle/>
          <a:p>
            <a:r>
              <a:rPr lang="en-AU" sz="2800" b="1"/>
              <a:t>Ken Flower and Brenton Leske</a:t>
            </a:r>
          </a:p>
        </p:txBody>
      </p:sp>
      <p:pic>
        <p:nvPicPr>
          <p:cNvPr id="6" name="Picture 5"/>
          <p:cNvPicPr>
            <a:picLocks noChangeAspect="1"/>
          </p:cNvPicPr>
          <p:nvPr/>
        </p:nvPicPr>
        <p:blipFill>
          <a:blip r:embed="rId3"/>
          <a:stretch>
            <a:fillRect/>
          </a:stretch>
        </p:blipFill>
        <p:spPr>
          <a:xfrm>
            <a:off x="7472417" y="5977935"/>
            <a:ext cx="1566652" cy="745372"/>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799" y="6053362"/>
            <a:ext cx="2075885" cy="669945"/>
          </a:xfrm>
          <a:prstGeom prst="rect">
            <a:avLst/>
          </a:prstGeom>
        </p:spPr>
      </p:pic>
    </p:spTree>
    <p:extLst>
      <p:ext uri="{BB962C8B-B14F-4D97-AF65-F5344CB8AC3E}">
        <p14:creationId xmlns:p14="http://schemas.microsoft.com/office/powerpoint/2010/main" val="507882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p:cNvSpPr txBox="1"/>
          <p:nvPr/>
        </p:nvSpPr>
        <p:spPr>
          <a:xfrm>
            <a:off x="582967" y="356339"/>
            <a:ext cx="5590185" cy="1938992"/>
          </a:xfrm>
          <a:prstGeom prst="rect">
            <a:avLst/>
          </a:prstGeom>
          <a:noFill/>
        </p:spPr>
        <p:txBody>
          <a:bodyPr wrap="none" rtlCol="0">
            <a:spAutoFit/>
          </a:bodyPr>
          <a:lstStyle/>
          <a:p>
            <a:r>
              <a:rPr lang="en-AU" sz="4000" b="1" dirty="0"/>
              <a:t>Cereal growth stages</a:t>
            </a:r>
          </a:p>
          <a:p>
            <a:endParaRPr lang="en-AU" sz="4000" b="1" dirty="0"/>
          </a:p>
          <a:p>
            <a:r>
              <a:rPr lang="en-AU" sz="4000" b="1" dirty="0"/>
              <a:t>     Why is this important?</a:t>
            </a:r>
          </a:p>
        </p:txBody>
      </p:sp>
      <p:sp>
        <p:nvSpPr>
          <p:cNvPr id="2" name="TextBox 1"/>
          <p:cNvSpPr txBox="1"/>
          <p:nvPr/>
        </p:nvSpPr>
        <p:spPr>
          <a:xfrm>
            <a:off x="157317" y="2439882"/>
            <a:ext cx="8986683" cy="2554545"/>
          </a:xfrm>
          <a:prstGeom prst="rect">
            <a:avLst/>
          </a:prstGeom>
          <a:noFill/>
        </p:spPr>
        <p:txBody>
          <a:bodyPr wrap="square" rtlCol="0">
            <a:spAutoFit/>
          </a:bodyPr>
          <a:lstStyle/>
          <a:p>
            <a:pPr marL="571500" indent="-571500">
              <a:buFont typeface="Arial" panose="020B0604020202020204" pitchFamily="34" charset="0"/>
              <a:buChar char="•"/>
            </a:pPr>
            <a:r>
              <a:rPr lang="en-AU" sz="4000" b="1" dirty="0"/>
              <a:t>Management by growth stages is critical to optimise returns from inputs such as nitrogen fertiliser, herbicides (in some cases), fungicides, irrigation</a:t>
            </a:r>
          </a:p>
        </p:txBody>
      </p:sp>
    </p:spTree>
    <p:extLst>
      <p:ext uri="{BB962C8B-B14F-4D97-AF65-F5344CB8AC3E}">
        <p14:creationId xmlns:p14="http://schemas.microsoft.com/office/powerpoint/2010/main" val="361762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p:cNvSpPr txBox="1"/>
          <p:nvPr/>
        </p:nvSpPr>
        <p:spPr>
          <a:xfrm>
            <a:off x="898071" y="1714500"/>
            <a:ext cx="8049986" cy="3108543"/>
          </a:xfrm>
          <a:prstGeom prst="rect">
            <a:avLst/>
          </a:prstGeom>
          <a:noFill/>
        </p:spPr>
        <p:txBody>
          <a:bodyPr wrap="square" rtlCol="0">
            <a:spAutoFit/>
          </a:bodyPr>
          <a:lstStyle/>
          <a:p>
            <a:r>
              <a:rPr lang="en-AU" sz="8000" b="1" dirty="0"/>
              <a:t>G x E x M</a:t>
            </a:r>
          </a:p>
          <a:p>
            <a:endParaRPr lang="en-AU" sz="8000" b="1" dirty="0"/>
          </a:p>
          <a:p>
            <a:r>
              <a:rPr lang="en-AU" sz="3600" b="1" dirty="0"/>
              <a:t>Genetics x Environment x Management</a:t>
            </a:r>
          </a:p>
        </p:txBody>
      </p:sp>
    </p:spTree>
    <p:extLst>
      <p:ext uri="{BB962C8B-B14F-4D97-AF65-F5344CB8AC3E}">
        <p14:creationId xmlns:p14="http://schemas.microsoft.com/office/powerpoint/2010/main" val="616103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8650" y="55876"/>
            <a:ext cx="7886700" cy="1325563"/>
          </a:xfrm>
        </p:spPr>
        <p:txBody>
          <a:bodyPr>
            <a:normAutofit/>
          </a:bodyPr>
          <a:lstStyle/>
          <a:p>
            <a:r>
              <a:rPr lang="en-AU" b="1" u="sng" dirty="0">
                <a:latin typeface="+mn-lt"/>
              </a:rPr>
              <a:t>G</a:t>
            </a:r>
            <a:r>
              <a:rPr lang="en-AU" b="1" dirty="0">
                <a:latin typeface="+mn-lt"/>
              </a:rPr>
              <a:t> = genetics:</a:t>
            </a:r>
            <a:r>
              <a:rPr lang="en-AU" b="1" dirty="0">
                <a:solidFill>
                  <a:srgbClr val="FFFF00"/>
                </a:solidFill>
                <a:latin typeface="+mn-lt"/>
              </a:rPr>
              <a:t> </a:t>
            </a:r>
            <a:r>
              <a:rPr lang="en-AU" b="1" dirty="0">
                <a:solidFill>
                  <a:srgbClr val="92D050"/>
                </a:solidFill>
                <a:latin typeface="+mn-lt"/>
              </a:rPr>
              <a:t>🌾</a:t>
            </a:r>
            <a:r>
              <a:rPr lang="en-AU" b="1" dirty="0">
                <a:solidFill>
                  <a:srgbClr val="FFFF00"/>
                </a:solidFill>
                <a:latin typeface="+mn-lt"/>
              </a:rPr>
              <a:t> </a:t>
            </a:r>
            <a:endParaRPr lang="en-AU" sz="3600" dirty="0">
              <a:solidFill>
                <a:srgbClr val="FFFF00"/>
              </a:solidFill>
              <a:latin typeface="+mn-lt"/>
            </a:endParaRPr>
          </a:p>
        </p:txBody>
      </p:sp>
      <p:sp>
        <p:nvSpPr>
          <p:cNvPr id="5" name="Content Placeholder 4"/>
          <p:cNvSpPr>
            <a:spLocks noGrp="1"/>
          </p:cNvSpPr>
          <p:nvPr>
            <p:ph idx="1"/>
          </p:nvPr>
        </p:nvSpPr>
        <p:spPr>
          <a:xfrm>
            <a:off x="628650" y="4224048"/>
            <a:ext cx="7886700" cy="2287222"/>
          </a:xfrm>
        </p:spPr>
        <p:txBody>
          <a:bodyPr>
            <a:normAutofit/>
          </a:bodyPr>
          <a:lstStyle/>
          <a:p>
            <a:r>
              <a:rPr lang="en-AU" dirty="0"/>
              <a:t>Each wheat variety contains different combinations of genes </a:t>
            </a:r>
            <a:r>
              <a:rPr lang="en-AU"/>
              <a:t>that affect </a:t>
            </a:r>
            <a:r>
              <a:rPr lang="en-AU" dirty="0"/>
              <a:t>the speed of development</a:t>
            </a:r>
          </a:p>
          <a:p>
            <a:pPr lvl="1"/>
            <a:r>
              <a:rPr lang="en-AU" dirty="0">
                <a:solidFill>
                  <a:schemeClr val="bg1"/>
                </a:solidFill>
              </a:rPr>
              <a:t>Eg. </a:t>
            </a:r>
            <a:r>
              <a:rPr lang="en-AU" i="1" dirty="0">
                <a:solidFill>
                  <a:schemeClr val="bg1"/>
                </a:solidFill>
              </a:rPr>
              <a:t>VRN1, PPD1</a:t>
            </a:r>
          </a:p>
        </p:txBody>
      </p:sp>
      <p:pic>
        <p:nvPicPr>
          <p:cNvPr id="6" name="Picture 5"/>
          <p:cNvPicPr>
            <a:picLocks noChangeAspect="1"/>
          </p:cNvPicPr>
          <p:nvPr/>
        </p:nvPicPr>
        <p:blipFill>
          <a:blip r:embed="rId3"/>
          <a:stretch>
            <a:fillRect/>
          </a:stretch>
        </p:blipFill>
        <p:spPr>
          <a:xfrm>
            <a:off x="628650" y="1201825"/>
            <a:ext cx="7821386" cy="2883381"/>
          </a:xfrm>
          <a:prstGeom prst="rect">
            <a:avLst/>
          </a:prstGeom>
        </p:spPr>
      </p:pic>
      <p:sp>
        <p:nvSpPr>
          <p:cNvPr id="2" name="TextBox 1"/>
          <p:cNvSpPr txBox="1"/>
          <p:nvPr/>
        </p:nvSpPr>
        <p:spPr>
          <a:xfrm>
            <a:off x="5355771" y="6326604"/>
            <a:ext cx="4082143" cy="369332"/>
          </a:xfrm>
          <a:prstGeom prst="rect">
            <a:avLst/>
          </a:prstGeom>
          <a:noFill/>
        </p:spPr>
        <p:txBody>
          <a:bodyPr wrap="square" rtlCol="0">
            <a:spAutoFit/>
          </a:bodyPr>
          <a:lstStyle/>
          <a:p>
            <a:r>
              <a:rPr lang="en-AU"/>
              <a:t>Diagram from Andrew Fletcher, CSIRO</a:t>
            </a:r>
          </a:p>
        </p:txBody>
      </p:sp>
      <p:pic>
        <p:nvPicPr>
          <p:cNvPr id="7" name="Picture 2" descr="Image result for 200 series landcruiser wagon"/>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790092" y="5119126"/>
            <a:ext cx="2719552" cy="121788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Image result for Mercedes"/>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4283968" y="5023121"/>
            <a:ext cx="2283617" cy="151646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6567585" y="5421086"/>
            <a:ext cx="2070229" cy="369332"/>
          </a:xfrm>
          <a:prstGeom prst="rect">
            <a:avLst/>
          </a:prstGeom>
          <a:noFill/>
        </p:spPr>
        <p:txBody>
          <a:bodyPr wrap="square" rtlCol="0">
            <a:spAutoFit/>
          </a:bodyPr>
          <a:lstStyle/>
          <a:p>
            <a:r>
              <a:rPr lang="en-AU">
                <a:solidFill>
                  <a:srgbClr val="92D050"/>
                </a:solidFill>
              </a:rPr>
              <a:t>Mace, Scepter</a:t>
            </a:r>
          </a:p>
        </p:txBody>
      </p:sp>
      <p:sp>
        <p:nvSpPr>
          <p:cNvPr id="10" name="TextBox 9"/>
          <p:cNvSpPr txBox="1"/>
          <p:nvPr/>
        </p:nvSpPr>
        <p:spPr>
          <a:xfrm>
            <a:off x="791463" y="6354920"/>
            <a:ext cx="3241694" cy="369332"/>
          </a:xfrm>
          <a:prstGeom prst="rect">
            <a:avLst/>
          </a:prstGeom>
          <a:noFill/>
        </p:spPr>
        <p:txBody>
          <a:bodyPr wrap="square" rtlCol="0">
            <a:spAutoFit/>
          </a:bodyPr>
          <a:lstStyle/>
          <a:p>
            <a:r>
              <a:rPr lang="en-AU">
                <a:solidFill>
                  <a:srgbClr val="92D050"/>
                </a:solidFill>
              </a:rPr>
              <a:t>Winter wheat, long spring types</a:t>
            </a:r>
          </a:p>
        </p:txBody>
      </p:sp>
    </p:spTree>
    <p:extLst>
      <p:ext uri="{BB962C8B-B14F-4D97-AF65-F5344CB8AC3E}">
        <p14:creationId xmlns:p14="http://schemas.microsoft.com/office/powerpoint/2010/main" val="3587077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2234" y="744878"/>
            <a:ext cx="8452624" cy="6017032"/>
          </a:xfrm>
          <a:prstGeom prst="rect">
            <a:avLst/>
          </a:prstGeom>
        </p:spPr>
        <p:txBody>
          <a:bodyPr wrap="square">
            <a:spAutoFit/>
          </a:bodyPr>
          <a:lstStyle/>
          <a:p>
            <a:pPr marL="285750" indent="-285750">
              <a:spcAft>
                <a:spcPts val="600"/>
              </a:spcAft>
              <a:buFont typeface="Arial" panose="020B0604020202020204" pitchFamily="34" charset="0"/>
              <a:buChar char="•"/>
            </a:pPr>
            <a:r>
              <a:rPr lang="en-AU" sz="2400" dirty="0">
                <a:solidFill>
                  <a:srgbClr val="000000"/>
                </a:solidFill>
                <a:latin typeface="Arial" panose="020B0604020202020204" pitchFamily="34" charset="0"/>
              </a:rPr>
              <a:t>Every phase of development requires a minimum accumulation of temperature before that stage can be complete and the plant can move to the next stage. </a:t>
            </a:r>
          </a:p>
          <a:p>
            <a:pPr marL="285750" indent="-285750">
              <a:spcAft>
                <a:spcPts val="600"/>
              </a:spcAft>
              <a:buFont typeface="Arial" panose="020B0604020202020204" pitchFamily="34" charset="0"/>
              <a:buChar char="•"/>
            </a:pPr>
            <a:r>
              <a:rPr lang="en-AU" sz="2400" dirty="0">
                <a:solidFill>
                  <a:srgbClr val="000000"/>
                </a:solidFill>
                <a:latin typeface="Arial" panose="020B0604020202020204" pitchFamily="34" charset="0"/>
              </a:rPr>
              <a:t>In effect, the plant senses the temperature every day and adds the average for that day to a running total up to the total required for the stage. </a:t>
            </a:r>
          </a:p>
          <a:p>
            <a:pPr marL="285750" indent="-285750">
              <a:spcAft>
                <a:spcPts val="600"/>
              </a:spcAft>
              <a:buFont typeface="Arial" panose="020B0604020202020204" pitchFamily="34" charset="0"/>
              <a:buChar char="•"/>
            </a:pPr>
            <a:r>
              <a:rPr lang="en-AU" sz="2400" dirty="0">
                <a:solidFill>
                  <a:srgbClr val="000000"/>
                </a:solidFill>
                <a:latin typeface="Arial" panose="020B0604020202020204" pitchFamily="34" charset="0"/>
              </a:rPr>
              <a:t>This running total is called thermal time or the heat sum for the phase, minus base temperature, and the thermal units are degree days (°Cd). </a:t>
            </a:r>
          </a:p>
          <a:p>
            <a:pPr marL="285750" indent="-285750">
              <a:spcAft>
                <a:spcPts val="600"/>
              </a:spcAft>
              <a:buFont typeface="Arial" panose="020B0604020202020204" pitchFamily="34" charset="0"/>
              <a:buChar char="•"/>
            </a:pPr>
            <a:r>
              <a:rPr lang="en-AU" sz="2400" dirty="0">
                <a:solidFill>
                  <a:srgbClr val="000000"/>
                </a:solidFill>
                <a:latin typeface="Arial" panose="020B0604020202020204" pitchFamily="34" charset="0"/>
              </a:rPr>
              <a:t>You can calculate it in the same way by totalling the mean temperatures for each day during the phase. </a:t>
            </a:r>
          </a:p>
          <a:p>
            <a:pPr marL="285750" indent="-285750">
              <a:spcAft>
                <a:spcPts val="600"/>
              </a:spcAft>
              <a:buFont typeface="Arial" panose="020B0604020202020204" pitchFamily="34" charset="0"/>
              <a:buChar char="•"/>
            </a:pPr>
            <a:r>
              <a:rPr lang="en-AU" sz="2400" dirty="0">
                <a:solidFill>
                  <a:srgbClr val="000000"/>
                </a:solidFill>
                <a:latin typeface="Arial" panose="020B0604020202020204" pitchFamily="34" charset="0"/>
              </a:rPr>
              <a:t>Mean temperature is maximum + minimum divided by 2. </a:t>
            </a:r>
          </a:p>
          <a:p>
            <a:pPr marL="285750" indent="-285750">
              <a:spcAft>
                <a:spcPts val="600"/>
              </a:spcAft>
              <a:buFont typeface="Arial" panose="020B0604020202020204" pitchFamily="34" charset="0"/>
              <a:buChar char="•"/>
            </a:pPr>
            <a:r>
              <a:rPr lang="en-AU" sz="2400" dirty="0">
                <a:solidFill>
                  <a:srgbClr val="000000"/>
                </a:solidFill>
                <a:latin typeface="Arial" panose="020B0604020202020204" pitchFamily="34" charset="0"/>
              </a:rPr>
              <a:t>So if the day had a maximum of 35° C and a minimum of 15° C the mean would be 25° C (35 + 15 divided by 2) and the heat sum for the day would be 20° Cd (25 – 5 (base))</a:t>
            </a:r>
            <a:endParaRPr lang="en-AU" sz="2400" dirty="0"/>
          </a:p>
        </p:txBody>
      </p:sp>
      <p:sp>
        <p:nvSpPr>
          <p:cNvPr id="5" name="TextBox 4"/>
          <p:cNvSpPr txBox="1"/>
          <p:nvPr/>
        </p:nvSpPr>
        <p:spPr>
          <a:xfrm>
            <a:off x="401445" y="189571"/>
            <a:ext cx="2190023" cy="523220"/>
          </a:xfrm>
          <a:prstGeom prst="rect">
            <a:avLst/>
          </a:prstGeom>
          <a:noFill/>
        </p:spPr>
        <p:txBody>
          <a:bodyPr wrap="none" rtlCol="0">
            <a:spAutoFit/>
          </a:bodyPr>
          <a:lstStyle/>
          <a:p>
            <a:r>
              <a:rPr lang="en-AU" sz="2800" b="1"/>
              <a:t>Thermal time</a:t>
            </a:r>
          </a:p>
        </p:txBody>
      </p:sp>
    </p:spTree>
    <p:extLst>
      <p:ext uri="{BB962C8B-B14F-4D97-AF65-F5344CB8AC3E}">
        <p14:creationId xmlns:p14="http://schemas.microsoft.com/office/powerpoint/2010/main" val="835651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AU" b="1" u="sng" dirty="0">
                <a:latin typeface="+mn-lt"/>
              </a:rPr>
              <a:t>E</a:t>
            </a:r>
            <a:r>
              <a:rPr lang="en-AU" b="1" dirty="0">
                <a:latin typeface="+mn-lt"/>
              </a:rPr>
              <a:t> = environment: </a:t>
            </a:r>
            <a:br>
              <a:rPr lang="en-AU" dirty="0">
                <a:latin typeface="+mn-lt"/>
              </a:rPr>
            </a:br>
            <a:r>
              <a:rPr lang="en-AU" sz="3600" dirty="0">
                <a:latin typeface="+mn-lt"/>
              </a:rPr>
              <a:t>What are the drivers of crop development?</a:t>
            </a:r>
          </a:p>
        </p:txBody>
      </p:sp>
      <p:sp>
        <p:nvSpPr>
          <p:cNvPr id="5" name="Content Placeholder 4"/>
          <p:cNvSpPr>
            <a:spLocks noGrp="1"/>
          </p:cNvSpPr>
          <p:nvPr>
            <p:ph idx="1"/>
          </p:nvPr>
        </p:nvSpPr>
        <p:spPr>
          <a:xfrm>
            <a:off x="111512" y="1825625"/>
            <a:ext cx="9032488" cy="4351338"/>
          </a:xfrm>
        </p:spPr>
        <p:txBody>
          <a:bodyPr>
            <a:normAutofit lnSpcReduction="10000"/>
          </a:bodyPr>
          <a:lstStyle/>
          <a:p>
            <a:pPr marL="514350" indent="-514350">
              <a:buFont typeface="+mj-lt"/>
              <a:buAutoNum type="arabicPeriod"/>
            </a:pPr>
            <a:r>
              <a:rPr lang="en-AU"/>
              <a:t>Temperature (thermal time - mean </a:t>
            </a:r>
            <a:r>
              <a:rPr lang="en-AU" dirty="0"/>
              <a:t>temperature, °Cd) </a:t>
            </a:r>
            <a:r>
              <a:rPr lang="en-AU" sz="3600" dirty="0">
                <a:solidFill>
                  <a:srgbClr val="FF0000"/>
                </a:solidFill>
              </a:rPr>
              <a:t>🔥</a:t>
            </a:r>
          </a:p>
          <a:p>
            <a:pPr marL="514350" indent="-514350">
              <a:buFont typeface="+mj-lt"/>
              <a:buAutoNum type="arabicPeriod"/>
            </a:pPr>
            <a:r>
              <a:rPr lang="en-AU" dirty="0"/>
              <a:t>Vernalisation (</a:t>
            </a:r>
            <a:r>
              <a:rPr lang="en-AU" dirty="0" err="1"/>
              <a:t>vrn</a:t>
            </a:r>
            <a:r>
              <a:rPr lang="en-AU" dirty="0"/>
              <a:t> - cold requirement) </a:t>
            </a:r>
            <a:r>
              <a:rPr lang="en-AU" sz="3600" dirty="0">
                <a:solidFill>
                  <a:srgbClr val="00B0F0"/>
                </a:solidFill>
              </a:rPr>
              <a:t>❄️</a:t>
            </a:r>
          </a:p>
          <a:p>
            <a:pPr marL="514350" indent="-514350">
              <a:buFont typeface="+mj-lt"/>
              <a:buAutoNum type="arabicPeriod"/>
            </a:pPr>
            <a:r>
              <a:rPr lang="en-AU" dirty="0"/>
              <a:t>Photoperiod (</a:t>
            </a:r>
            <a:r>
              <a:rPr lang="en-AU" dirty="0" err="1"/>
              <a:t>ppd</a:t>
            </a:r>
            <a:r>
              <a:rPr lang="en-AU" dirty="0"/>
              <a:t> – long day response) </a:t>
            </a:r>
            <a:r>
              <a:rPr lang="en-AU" sz="3600" dirty="0">
                <a:solidFill>
                  <a:srgbClr val="FFFF00"/>
                </a:solidFill>
              </a:rPr>
              <a:t>☀️</a:t>
            </a:r>
          </a:p>
          <a:p>
            <a:pPr marL="514350" indent="-514350">
              <a:buFont typeface="+mj-lt"/>
              <a:buAutoNum type="arabicPeriod"/>
            </a:pPr>
            <a:r>
              <a:rPr lang="en-AU" dirty="0"/>
              <a:t>Earliness per </a:t>
            </a:r>
            <a:r>
              <a:rPr lang="en-AU"/>
              <a:t>se  (inherent differences when ppd and vrn have been accounted for)</a:t>
            </a:r>
            <a:endParaRPr lang="en-AU" dirty="0"/>
          </a:p>
          <a:p>
            <a:pPr marL="0" indent="0">
              <a:buNone/>
            </a:pPr>
            <a:endParaRPr lang="en-AU" dirty="0"/>
          </a:p>
          <a:p>
            <a:pPr marL="0" indent="0">
              <a:buNone/>
            </a:pPr>
            <a:r>
              <a:rPr lang="en-AU" dirty="0"/>
              <a:t>They determine the period of time (number of days) between germination and flowering.</a:t>
            </a:r>
          </a:p>
          <a:p>
            <a:pPr marL="0" indent="0">
              <a:buNone/>
            </a:pPr>
            <a:endParaRPr lang="en-AU" dirty="0"/>
          </a:p>
        </p:txBody>
      </p:sp>
      <p:pic>
        <p:nvPicPr>
          <p:cNvPr id="7" name="Picture 6"/>
          <p:cNvPicPr>
            <a:picLocks noChangeAspect="1"/>
          </p:cNvPicPr>
          <p:nvPr/>
        </p:nvPicPr>
        <p:blipFill>
          <a:blip r:embed="rId3"/>
          <a:stretch>
            <a:fillRect/>
          </a:stretch>
        </p:blipFill>
        <p:spPr>
          <a:xfrm>
            <a:off x="6369670" y="4317825"/>
            <a:ext cx="666750" cy="638175"/>
          </a:xfrm>
          <a:prstGeom prst="rect">
            <a:avLst/>
          </a:prstGeom>
        </p:spPr>
      </p:pic>
    </p:spTree>
    <p:extLst>
      <p:ext uri="{BB962C8B-B14F-4D97-AF65-F5344CB8AC3E}">
        <p14:creationId xmlns:p14="http://schemas.microsoft.com/office/powerpoint/2010/main" val="2919129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8650" y="55876"/>
            <a:ext cx="7886700" cy="1325563"/>
          </a:xfrm>
        </p:spPr>
        <p:txBody>
          <a:bodyPr>
            <a:normAutofit/>
          </a:bodyPr>
          <a:lstStyle/>
          <a:p>
            <a:r>
              <a:rPr lang="en-AU" b="1" u="sng" dirty="0">
                <a:latin typeface="+mn-lt"/>
              </a:rPr>
              <a:t>M</a:t>
            </a:r>
            <a:r>
              <a:rPr lang="en-AU" b="1" dirty="0">
                <a:latin typeface="+mn-lt"/>
              </a:rPr>
              <a:t> = Management: </a:t>
            </a:r>
            <a:endParaRPr lang="en-AU" sz="3600" dirty="0">
              <a:latin typeface="+mn-lt"/>
            </a:endParaRPr>
          </a:p>
        </p:txBody>
      </p:sp>
      <p:sp>
        <p:nvSpPr>
          <p:cNvPr id="5" name="Content Placeholder 4"/>
          <p:cNvSpPr>
            <a:spLocks noGrp="1"/>
          </p:cNvSpPr>
          <p:nvPr>
            <p:ph idx="1"/>
          </p:nvPr>
        </p:nvSpPr>
        <p:spPr>
          <a:xfrm>
            <a:off x="628650" y="1235920"/>
            <a:ext cx="7886700" cy="4821980"/>
          </a:xfrm>
        </p:spPr>
        <p:txBody>
          <a:bodyPr>
            <a:normAutofit/>
          </a:bodyPr>
          <a:lstStyle/>
          <a:p>
            <a:r>
              <a:rPr lang="en-AU" dirty="0"/>
              <a:t>Best management of the crop to maximise yield and profits needs knowledge of:</a:t>
            </a:r>
          </a:p>
          <a:p>
            <a:pPr marL="0" indent="0">
              <a:buNone/>
            </a:pPr>
            <a:endParaRPr lang="en-AU" dirty="0"/>
          </a:p>
          <a:p>
            <a:pPr lvl="1"/>
            <a:r>
              <a:rPr lang="en-AU" sz="2800" dirty="0"/>
              <a:t>Crop development (</a:t>
            </a:r>
            <a:r>
              <a:rPr lang="en-AU" sz="2800" dirty="0" err="1"/>
              <a:t>Zadoks</a:t>
            </a:r>
            <a:r>
              <a:rPr lang="en-AU" sz="2800" dirty="0"/>
              <a:t> scale)</a:t>
            </a:r>
          </a:p>
          <a:p>
            <a:pPr lvl="1"/>
            <a:r>
              <a:rPr lang="en-AU" sz="2800" dirty="0"/>
              <a:t>Timing of inputs (N, fungicide, </a:t>
            </a:r>
            <a:r>
              <a:rPr lang="en-AU" sz="2800" dirty="0" err="1"/>
              <a:t>herbcides</a:t>
            </a:r>
            <a:r>
              <a:rPr lang="en-AU" sz="2800" dirty="0"/>
              <a:t>)</a:t>
            </a:r>
          </a:p>
          <a:p>
            <a:pPr lvl="1"/>
            <a:r>
              <a:rPr lang="en-AU" sz="2800" dirty="0"/>
              <a:t>Economic response</a:t>
            </a:r>
          </a:p>
          <a:p>
            <a:pPr lvl="1"/>
            <a:endParaRPr lang="en-AU" dirty="0"/>
          </a:p>
        </p:txBody>
      </p:sp>
    </p:spTree>
    <p:extLst>
      <p:ext uri="{BB962C8B-B14F-4D97-AF65-F5344CB8AC3E}">
        <p14:creationId xmlns:p14="http://schemas.microsoft.com/office/powerpoint/2010/main" val="355897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 y="82961"/>
            <a:ext cx="8759129" cy="1938992"/>
          </a:xfrm>
          <a:prstGeom prst="rect">
            <a:avLst/>
          </a:prstGeom>
          <a:noFill/>
        </p:spPr>
        <p:txBody>
          <a:bodyPr wrap="none" rtlCol="0">
            <a:spAutoFit/>
          </a:bodyPr>
          <a:lstStyle/>
          <a:p>
            <a:r>
              <a:rPr lang="en-AU" sz="4000" b="1" dirty="0"/>
              <a:t>Cereal growth stages:</a:t>
            </a:r>
          </a:p>
          <a:p>
            <a:r>
              <a:rPr lang="en-AU" sz="4000" b="1" dirty="0"/>
              <a:t>The Wheat Book: Principles and Practice</a:t>
            </a:r>
          </a:p>
          <a:p>
            <a:r>
              <a:rPr lang="en-AU" sz="4000" b="1" dirty="0"/>
              <a:t>(DAFWA/GRDC)</a:t>
            </a:r>
          </a:p>
        </p:txBody>
      </p:sp>
      <p:pic>
        <p:nvPicPr>
          <p:cNvPr id="2" name="Picture 1"/>
          <p:cNvPicPr>
            <a:picLocks noChangeAspect="1"/>
          </p:cNvPicPr>
          <p:nvPr/>
        </p:nvPicPr>
        <p:blipFill>
          <a:blip r:embed="rId2"/>
          <a:stretch>
            <a:fillRect/>
          </a:stretch>
        </p:blipFill>
        <p:spPr>
          <a:xfrm>
            <a:off x="282532" y="2021953"/>
            <a:ext cx="8754589" cy="4704463"/>
          </a:xfrm>
          <a:prstGeom prst="rect">
            <a:avLst/>
          </a:prstGeom>
        </p:spPr>
      </p:pic>
    </p:spTree>
    <p:extLst>
      <p:ext uri="{BB962C8B-B14F-4D97-AF65-F5344CB8AC3E}">
        <p14:creationId xmlns:p14="http://schemas.microsoft.com/office/powerpoint/2010/main" val="2485482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 y="82961"/>
            <a:ext cx="4786888" cy="707886"/>
          </a:xfrm>
          <a:prstGeom prst="rect">
            <a:avLst/>
          </a:prstGeom>
          <a:noFill/>
        </p:spPr>
        <p:txBody>
          <a:bodyPr wrap="none" rtlCol="0">
            <a:spAutoFit/>
          </a:bodyPr>
          <a:lstStyle/>
          <a:p>
            <a:r>
              <a:rPr lang="en-AU" sz="4000" b="1" dirty="0"/>
              <a:t>Cereal growth stages:</a:t>
            </a:r>
          </a:p>
        </p:txBody>
      </p:sp>
      <p:pic>
        <p:nvPicPr>
          <p:cNvPr id="5" name="Picture 4">
            <a:extLst>
              <a:ext uri="{FF2B5EF4-FFF2-40B4-BE49-F238E27FC236}">
                <a16:creationId xmlns:a16="http://schemas.microsoft.com/office/drawing/2014/main" id="{1492FB22-0763-4A3B-B181-3ECA997B976C}"/>
              </a:ext>
            </a:extLst>
          </p:cNvPr>
          <p:cNvPicPr>
            <a:picLocks noChangeAspect="1"/>
          </p:cNvPicPr>
          <p:nvPr/>
        </p:nvPicPr>
        <p:blipFill>
          <a:blip r:embed="rId2"/>
          <a:stretch>
            <a:fillRect/>
          </a:stretch>
        </p:blipFill>
        <p:spPr>
          <a:xfrm>
            <a:off x="-190156" y="2138810"/>
            <a:ext cx="7940733" cy="4802317"/>
          </a:xfrm>
          <a:prstGeom prst="rect">
            <a:avLst/>
          </a:prstGeom>
        </p:spPr>
      </p:pic>
      <p:sp>
        <p:nvSpPr>
          <p:cNvPr id="2" name="TextBox 1">
            <a:extLst>
              <a:ext uri="{FF2B5EF4-FFF2-40B4-BE49-F238E27FC236}">
                <a16:creationId xmlns:a16="http://schemas.microsoft.com/office/drawing/2014/main" id="{5C695EBB-292B-45A5-B2A6-38CB7881367B}"/>
              </a:ext>
            </a:extLst>
          </p:cNvPr>
          <p:cNvSpPr txBox="1"/>
          <p:nvPr/>
        </p:nvSpPr>
        <p:spPr>
          <a:xfrm>
            <a:off x="706583" y="1192432"/>
            <a:ext cx="3304308" cy="830997"/>
          </a:xfrm>
          <a:prstGeom prst="rect">
            <a:avLst/>
          </a:prstGeom>
          <a:noFill/>
        </p:spPr>
        <p:txBody>
          <a:bodyPr wrap="square" rtlCol="0">
            <a:spAutoFit/>
          </a:bodyPr>
          <a:lstStyle/>
          <a:p>
            <a:r>
              <a:rPr lang="en-AU" sz="2400" dirty="0"/>
              <a:t>GRDC Grow notes – Wheat Western</a:t>
            </a:r>
          </a:p>
        </p:txBody>
      </p:sp>
      <p:pic>
        <p:nvPicPr>
          <p:cNvPr id="7" name="Picture 6">
            <a:extLst>
              <a:ext uri="{FF2B5EF4-FFF2-40B4-BE49-F238E27FC236}">
                <a16:creationId xmlns:a16="http://schemas.microsoft.com/office/drawing/2014/main" id="{ADFC9261-B7BE-44E3-8C22-9EDF00B91394}"/>
              </a:ext>
            </a:extLst>
          </p:cNvPr>
          <p:cNvPicPr>
            <a:picLocks noChangeAspect="1"/>
          </p:cNvPicPr>
          <p:nvPr/>
        </p:nvPicPr>
        <p:blipFill>
          <a:blip r:embed="rId3"/>
          <a:stretch>
            <a:fillRect/>
          </a:stretch>
        </p:blipFill>
        <p:spPr>
          <a:xfrm>
            <a:off x="7555056" y="790847"/>
            <a:ext cx="1588944" cy="3513170"/>
          </a:xfrm>
          <a:prstGeom prst="rect">
            <a:avLst/>
          </a:prstGeom>
        </p:spPr>
      </p:pic>
      <p:pic>
        <p:nvPicPr>
          <p:cNvPr id="9" name="Picture 8">
            <a:extLst>
              <a:ext uri="{FF2B5EF4-FFF2-40B4-BE49-F238E27FC236}">
                <a16:creationId xmlns:a16="http://schemas.microsoft.com/office/drawing/2014/main" id="{6ECE4F5C-E29C-4C05-B324-9646B3083923}"/>
              </a:ext>
            </a:extLst>
          </p:cNvPr>
          <p:cNvPicPr>
            <a:picLocks noChangeAspect="1"/>
          </p:cNvPicPr>
          <p:nvPr/>
        </p:nvPicPr>
        <p:blipFill>
          <a:blip r:embed="rId4"/>
          <a:stretch>
            <a:fillRect/>
          </a:stretch>
        </p:blipFill>
        <p:spPr>
          <a:xfrm rot="16200000">
            <a:off x="5101891" y="1130515"/>
            <a:ext cx="3177675" cy="1728655"/>
          </a:xfrm>
          <a:prstGeom prst="rect">
            <a:avLst/>
          </a:prstGeom>
        </p:spPr>
      </p:pic>
    </p:spTree>
    <p:extLst>
      <p:ext uri="{BB962C8B-B14F-4D97-AF65-F5344CB8AC3E}">
        <p14:creationId xmlns:p14="http://schemas.microsoft.com/office/powerpoint/2010/main" val="3888250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2967" y="356339"/>
            <a:ext cx="4617931" cy="707886"/>
          </a:xfrm>
          <a:prstGeom prst="rect">
            <a:avLst/>
          </a:prstGeom>
          <a:noFill/>
        </p:spPr>
        <p:txBody>
          <a:bodyPr wrap="none" rtlCol="0">
            <a:spAutoFit/>
          </a:bodyPr>
          <a:lstStyle/>
          <a:p>
            <a:r>
              <a:rPr lang="en-AU" sz="4000" b="1" dirty="0"/>
              <a:t>Cereal growth stages</a:t>
            </a:r>
          </a:p>
        </p:txBody>
      </p:sp>
      <p:sp>
        <p:nvSpPr>
          <p:cNvPr id="2" name="TextBox 1"/>
          <p:cNvSpPr txBox="1"/>
          <p:nvPr/>
        </p:nvSpPr>
        <p:spPr>
          <a:xfrm>
            <a:off x="582967" y="1750335"/>
            <a:ext cx="7914488" cy="3785652"/>
          </a:xfrm>
          <a:prstGeom prst="rect">
            <a:avLst/>
          </a:prstGeom>
          <a:noFill/>
        </p:spPr>
        <p:txBody>
          <a:bodyPr wrap="square" rtlCol="0">
            <a:spAutoFit/>
          </a:bodyPr>
          <a:lstStyle/>
          <a:p>
            <a:r>
              <a:rPr lang="en-AU" sz="4000" b="1" dirty="0" err="1">
                <a:solidFill>
                  <a:srgbClr val="800000"/>
                </a:solidFill>
              </a:rPr>
              <a:t>Zadoks</a:t>
            </a:r>
            <a:r>
              <a:rPr lang="en-AU" sz="4000" b="1" dirty="0">
                <a:solidFill>
                  <a:srgbClr val="800000"/>
                </a:solidFill>
              </a:rPr>
              <a:t> Cereal Growth Stage Key is most commonly used:</a:t>
            </a:r>
          </a:p>
          <a:p>
            <a:pPr marL="571500" indent="-571500">
              <a:buFont typeface="Arial" panose="020B0604020202020204" pitchFamily="34" charset="0"/>
              <a:buChar char="•"/>
            </a:pPr>
            <a:r>
              <a:rPr lang="en-AU" sz="4000" b="1" dirty="0">
                <a:solidFill>
                  <a:srgbClr val="800000"/>
                </a:solidFill>
              </a:rPr>
              <a:t>Divides in 10 distinct stages</a:t>
            </a:r>
          </a:p>
          <a:p>
            <a:pPr marL="571500" indent="-571500">
              <a:buFont typeface="Arial" panose="020B0604020202020204" pitchFamily="34" charset="0"/>
              <a:buChar char="•"/>
            </a:pPr>
            <a:r>
              <a:rPr lang="en-AU" sz="4000" b="1" dirty="0">
                <a:solidFill>
                  <a:srgbClr val="800000"/>
                </a:solidFill>
              </a:rPr>
              <a:t>Each stage denoted by the prefix GS (i.e. growth stage) OR Z (</a:t>
            </a:r>
            <a:r>
              <a:rPr lang="en-AU" sz="4000" b="1" dirty="0" err="1">
                <a:solidFill>
                  <a:srgbClr val="800000"/>
                </a:solidFill>
              </a:rPr>
              <a:t>Zadoks</a:t>
            </a:r>
            <a:r>
              <a:rPr lang="en-AU" sz="4000" b="1" dirty="0">
                <a:solidFill>
                  <a:srgbClr val="800000"/>
                </a:solidFill>
              </a:rPr>
              <a:t>) GS39 or Z39</a:t>
            </a:r>
          </a:p>
        </p:txBody>
      </p:sp>
    </p:spTree>
    <p:extLst>
      <p:ext uri="{BB962C8B-B14F-4D97-AF65-F5344CB8AC3E}">
        <p14:creationId xmlns:p14="http://schemas.microsoft.com/office/powerpoint/2010/main" val="1370529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2967" y="356339"/>
            <a:ext cx="4617931" cy="707886"/>
          </a:xfrm>
          <a:prstGeom prst="rect">
            <a:avLst/>
          </a:prstGeom>
          <a:noFill/>
        </p:spPr>
        <p:txBody>
          <a:bodyPr wrap="none" rtlCol="0">
            <a:spAutoFit/>
          </a:bodyPr>
          <a:lstStyle/>
          <a:p>
            <a:r>
              <a:rPr lang="en-AU" sz="4000" b="1" dirty="0"/>
              <a:t>Cereal growth stages</a:t>
            </a:r>
          </a:p>
        </p:txBody>
      </p:sp>
      <p:pic>
        <p:nvPicPr>
          <p:cNvPr id="5" name="Picture 4">
            <a:extLst>
              <a:ext uri="{FF2B5EF4-FFF2-40B4-BE49-F238E27FC236}">
                <a16:creationId xmlns:a16="http://schemas.microsoft.com/office/drawing/2014/main" id="{FBAFA7F7-A6CD-C5D1-4E85-2C21A77982EC}"/>
              </a:ext>
            </a:extLst>
          </p:cNvPr>
          <p:cNvPicPr>
            <a:picLocks noChangeAspect="1"/>
          </p:cNvPicPr>
          <p:nvPr/>
        </p:nvPicPr>
        <p:blipFill>
          <a:blip r:embed="rId2"/>
          <a:stretch>
            <a:fillRect/>
          </a:stretch>
        </p:blipFill>
        <p:spPr>
          <a:xfrm>
            <a:off x="929827" y="1560625"/>
            <a:ext cx="7284346" cy="4941036"/>
          </a:xfrm>
          <a:prstGeom prst="rect">
            <a:avLst/>
          </a:prstGeom>
        </p:spPr>
      </p:pic>
    </p:spTree>
    <p:extLst>
      <p:ext uri="{BB962C8B-B14F-4D97-AF65-F5344CB8AC3E}">
        <p14:creationId xmlns:p14="http://schemas.microsoft.com/office/powerpoint/2010/main" val="696488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54446E-1B61-4A53-BBCB-8E8790F79D59}"/>
              </a:ext>
            </a:extLst>
          </p:cNvPr>
          <p:cNvPicPr>
            <a:picLocks noChangeAspect="1"/>
          </p:cNvPicPr>
          <p:nvPr/>
        </p:nvPicPr>
        <p:blipFill>
          <a:blip r:embed="rId2"/>
          <a:stretch>
            <a:fillRect/>
          </a:stretch>
        </p:blipFill>
        <p:spPr>
          <a:xfrm>
            <a:off x="8452043" y="91184"/>
            <a:ext cx="581025" cy="676275"/>
          </a:xfrm>
          <a:prstGeom prst="rect">
            <a:avLst/>
          </a:prstGeom>
        </p:spPr>
      </p:pic>
      <p:grpSp>
        <p:nvGrpSpPr>
          <p:cNvPr id="7" name="Group 6">
            <a:extLst>
              <a:ext uri="{FF2B5EF4-FFF2-40B4-BE49-F238E27FC236}">
                <a16:creationId xmlns:a16="http://schemas.microsoft.com/office/drawing/2014/main" id="{F03927A0-829B-A84C-7A13-68DC77EC7DA4}"/>
              </a:ext>
            </a:extLst>
          </p:cNvPr>
          <p:cNvGrpSpPr/>
          <p:nvPr/>
        </p:nvGrpSpPr>
        <p:grpSpPr>
          <a:xfrm>
            <a:off x="0" y="579863"/>
            <a:ext cx="9144000" cy="6278137"/>
            <a:chOff x="0" y="579863"/>
            <a:chExt cx="9144000" cy="6278137"/>
          </a:xfrm>
        </p:grpSpPr>
        <p:pic>
          <p:nvPicPr>
            <p:cNvPr id="3" name="Picture 2">
              <a:extLst>
                <a:ext uri="{FF2B5EF4-FFF2-40B4-BE49-F238E27FC236}">
                  <a16:creationId xmlns:a16="http://schemas.microsoft.com/office/drawing/2014/main" id="{C940F934-76C4-4D5D-9EEF-181C74D40579}"/>
                </a:ext>
              </a:extLst>
            </p:cNvPr>
            <p:cNvPicPr>
              <a:picLocks noChangeAspect="1"/>
            </p:cNvPicPr>
            <p:nvPr/>
          </p:nvPicPr>
          <p:blipFill>
            <a:blip r:embed="rId3"/>
            <a:stretch>
              <a:fillRect/>
            </a:stretch>
          </p:blipFill>
          <p:spPr>
            <a:xfrm>
              <a:off x="0" y="579863"/>
              <a:ext cx="9144000" cy="6278137"/>
            </a:xfrm>
            <a:prstGeom prst="rect">
              <a:avLst/>
            </a:prstGeom>
          </p:spPr>
        </p:pic>
        <p:sp>
          <p:nvSpPr>
            <p:cNvPr id="2" name="Rectangle 1">
              <a:extLst>
                <a:ext uri="{FF2B5EF4-FFF2-40B4-BE49-F238E27FC236}">
                  <a16:creationId xmlns:a16="http://schemas.microsoft.com/office/drawing/2014/main" id="{3842C0D4-E2F9-B336-CA9C-C49F662FCE5F}"/>
                </a:ext>
              </a:extLst>
            </p:cNvPr>
            <p:cNvSpPr/>
            <p:nvPr/>
          </p:nvSpPr>
          <p:spPr>
            <a:xfrm>
              <a:off x="1050587" y="1332689"/>
              <a:ext cx="846307" cy="1556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angle 3">
              <a:extLst>
                <a:ext uri="{FF2B5EF4-FFF2-40B4-BE49-F238E27FC236}">
                  <a16:creationId xmlns:a16="http://schemas.microsoft.com/office/drawing/2014/main" id="{7594EF55-2300-994B-8AE4-F4D8B2B89AB5}"/>
                </a:ext>
              </a:extLst>
            </p:cNvPr>
            <p:cNvSpPr/>
            <p:nvPr/>
          </p:nvSpPr>
          <p:spPr>
            <a:xfrm>
              <a:off x="6439709" y="1355386"/>
              <a:ext cx="846307" cy="1556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EB1C5377-BB6D-2CBB-548D-D1E60FDBFD16}"/>
                </a:ext>
              </a:extLst>
            </p:cNvPr>
            <p:cNvSpPr/>
            <p:nvPr/>
          </p:nvSpPr>
          <p:spPr>
            <a:xfrm>
              <a:off x="4148846" y="1355387"/>
              <a:ext cx="846307" cy="1556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3080622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7512" y="6373368"/>
            <a:ext cx="4161267" cy="369332"/>
          </a:xfrm>
          <a:prstGeom prst="rect">
            <a:avLst/>
          </a:prstGeom>
          <a:noFill/>
        </p:spPr>
        <p:txBody>
          <a:bodyPr wrap="none" rtlCol="0">
            <a:spAutoFit/>
          </a:bodyPr>
          <a:lstStyle/>
          <a:p>
            <a:r>
              <a:rPr lang="en-AU" dirty="0"/>
              <a:t>The Wheat Book – Principles and Practices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162" y="1494282"/>
            <a:ext cx="4594860" cy="3832860"/>
          </a:xfrm>
          <a:prstGeom prst="rect">
            <a:avLst/>
          </a:prstGeom>
        </p:spPr>
      </p:pic>
    </p:spTree>
    <p:extLst>
      <p:ext uri="{BB962C8B-B14F-4D97-AF65-F5344CB8AC3E}">
        <p14:creationId xmlns:p14="http://schemas.microsoft.com/office/powerpoint/2010/main" val="3204827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7512" y="6373368"/>
            <a:ext cx="4161267" cy="369332"/>
          </a:xfrm>
          <a:prstGeom prst="rect">
            <a:avLst/>
          </a:prstGeom>
          <a:noFill/>
        </p:spPr>
        <p:txBody>
          <a:bodyPr wrap="none" rtlCol="0">
            <a:spAutoFit/>
          </a:bodyPr>
          <a:lstStyle/>
          <a:p>
            <a:r>
              <a:rPr lang="en-AU" dirty="0"/>
              <a:t>The Wheat Book – Principles and Practices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7698"/>
            <a:ext cx="9144000" cy="4102603"/>
          </a:xfrm>
          <a:prstGeom prst="rect">
            <a:avLst/>
          </a:prstGeom>
        </p:spPr>
      </p:pic>
    </p:spTree>
    <p:extLst>
      <p:ext uri="{BB962C8B-B14F-4D97-AF65-F5344CB8AC3E}">
        <p14:creationId xmlns:p14="http://schemas.microsoft.com/office/powerpoint/2010/main" val="2274272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3028" y="158376"/>
            <a:ext cx="3394229" cy="1938992"/>
          </a:xfrm>
          <a:prstGeom prst="rect">
            <a:avLst/>
          </a:prstGeom>
          <a:noFill/>
        </p:spPr>
        <p:txBody>
          <a:bodyPr wrap="square" rtlCol="0">
            <a:spAutoFit/>
          </a:bodyPr>
          <a:lstStyle/>
          <a:p>
            <a:r>
              <a:rPr lang="en-AU" sz="4000" b="1" dirty="0"/>
              <a:t>Cereal growth stages GS1</a:t>
            </a:r>
          </a:p>
          <a:p>
            <a:r>
              <a:rPr lang="en-AU" sz="4000" b="1" dirty="0"/>
              <a:t>(Seedling)</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5871" y="0"/>
            <a:ext cx="5061339" cy="237744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77440"/>
            <a:ext cx="3459480" cy="4480560"/>
          </a:xfrm>
          <a:prstGeom prst="rect">
            <a:avLst/>
          </a:prstGeom>
        </p:spPr>
      </p:pic>
      <p:sp>
        <p:nvSpPr>
          <p:cNvPr id="6" name="TextBox 5"/>
          <p:cNvSpPr txBox="1"/>
          <p:nvPr/>
        </p:nvSpPr>
        <p:spPr>
          <a:xfrm>
            <a:off x="3716287" y="3137580"/>
            <a:ext cx="1926168" cy="2677656"/>
          </a:xfrm>
          <a:prstGeom prst="rect">
            <a:avLst/>
          </a:prstGeom>
          <a:noFill/>
        </p:spPr>
        <p:txBody>
          <a:bodyPr wrap="square" rtlCol="0">
            <a:spAutoFit/>
          </a:bodyPr>
          <a:lstStyle/>
          <a:p>
            <a:r>
              <a:rPr lang="en-AU" sz="2800" b="1" dirty="0">
                <a:solidFill>
                  <a:srgbClr val="800000"/>
                </a:solidFill>
              </a:rPr>
              <a:t>Number of leaves on main stem may vary from 5 to 20</a:t>
            </a:r>
          </a:p>
        </p:txBody>
      </p:sp>
      <p:sp>
        <p:nvSpPr>
          <p:cNvPr id="7" name="Rectangle 6"/>
          <p:cNvSpPr/>
          <p:nvPr/>
        </p:nvSpPr>
        <p:spPr>
          <a:xfrm>
            <a:off x="0" y="6464808"/>
            <a:ext cx="3529584" cy="3931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4679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7512" y="6373368"/>
            <a:ext cx="4161267" cy="369332"/>
          </a:xfrm>
          <a:prstGeom prst="rect">
            <a:avLst/>
          </a:prstGeom>
          <a:noFill/>
        </p:spPr>
        <p:txBody>
          <a:bodyPr wrap="none" rtlCol="0">
            <a:spAutoFit/>
          </a:bodyPr>
          <a:lstStyle/>
          <a:p>
            <a:r>
              <a:rPr lang="en-AU" dirty="0"/>
              <a:t>The Wheat Book – Principles and Practices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512" y="1453896"/>
            <a:ext cx="4686300" cy="3474720"/>
          </a:xfrm>
          <a:prstGeom prst="rect">
            <a:avLst/>
          </a:prstGeom>
        </p:spPr>
      </p:pic>
    </p:spTree>
    <p:extLst>
      <p:ext uri="{BB962C8B-B14F-4D97-AF65-F5344CB8AC3E}">
        <p14:creationId xmlns:p14="http://schemas.microsoft.com/office/powerpoint/2010/main" val="3229872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7512" y="6373368"/>
            <a:ext cx="4161267" cy="369332"/>
          </a:xfrm>
          <a:prstGeom prst="rect">
            <a:avLst/>
          </a:prstGeom>
          <a:noFill/>
        </p:spPr>
        <p:txBody>
          <a:bodyPr wrap="none" rtlCol="0">
            <a:spAutoFit/>
          </a:bodyPr>
          <a:lstStyle/>
          <a:p>
            <a:r>
              <a:rPr lang="en-AU" dirty="0"/>
              <a:t>The Wheat Book – Principles and Practices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4376"/>
            <a:ext cx="9144000" cy="4109247"/>
          </a:xfrm>
          <a:prstGeom prst="rect">
            <a:avLst/>
          </a:prstGeom>
        </p:spPr>
      </p:pic>
    </p:spTree>
    <p:extLst>
      <p:ext uri="{BB962C8B-B14F-4D97-AF65-F5344CB8AC3E}">
        <p14:creationId xmlns:p14="http://schemas.microsoft.com/office/powerpoint/2010/main" val="2463051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8125" y="139523"/>
            <a:ext cx="7149073" cy="707886"/>
          </a:xfrm>
          <a:prstGeom prst="rect">
            <a:avLst/>
          </a:prstGeom>
          <a:noFill/>
        </p:spPr>
        <p:txBody>
          <a:bodyPr wrap="none" rtlCol="0">
            <a:spAutoFit/>
          </a:bodyPr>
          <a:lstStyle/>
          <a:p>
            <a:r>
              <a:rPr lang="en-AU" sz="4000" b="1" dirty="0"/>
              <a:t>Cereal growth stages 2 (Tillering)</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266" y="1492499"/>
            <a:ext cx="4299751" cy="5365501"/>
          </a:xfrm>
          <a:prstGeom prst="rect">
            <a:avLst/>
          </a:prstGeom>
        </p:spPr>
      </p:pic>
      <p:sp>
        <p:nvSpPr>
          <p:cNvPr id="6" name="TextBox 5"/>
          <p:cNvSpPr txBox="1"/>
          <p:nvPr/>
        </p:nvSpPr>
        <p:spPr>
          <a:xfrm>
            <a:off x="4589360" y="856357"/>
            <a:ext cx="4262410" cy="5016758"/>
          </a:xfrm>
          <a:prstGeom prst="rect">
            <a:avLst/>
          </a:prstGeom>
          <a:noFill/>
        </p:spPr>
        <p:txBody>
          <a:bodyPr wrap="square" rtlCol="0">
            <a:spAutoFit/>
          </a:bodyPr>
          <a:lstStyle/>
          <a:p>
            <a:r>
              <a:rPr lang="en-AU" sz="3200" b="1" u="sng" dirty="0"/>
              <a:t>Early nitrogen</a:t>
            </a:r>
          </a:p>
          <a:p>
            <a:r>
              <a:rPr lang="en-AU" sz="3200" b="1" dirty="0"/>
              <a:t>Low N = ⬇️ tillers</a:t>
            </a:r>
          </a:p>
          <a:p>
            <a:endParaRPr lang="en-AU" sz="3200" b="1" dirty="0"/>
          </a:p>
          <a:p>
            <a:r>
              <a:rPr lang="en-AU" sz="3200" b="1" dirty="0"/>
              <a:t>High N = ⬆️ tillers </a:t>
            </a:r>
          </a:p>
          <a:p>
            <a:r>
              <a:rPr lang="en-AU" sz="3200" b="1" dirty="0"/>
              <a:t>⬆️ crop canopy biomass</a:t>
            </a:r>
          </a:p>
          <a:p>
            <a:r>
              <a:rPr lang="en-AU" sz="3200" b="1" dirty="0"/>
              <a:t>⬆️ final ear number </a:t>
            </a:r>
          </a:p>
          <a:p>
            <a:r>
              <a:rPr lang="en-AU" sz="3200" b="1" dirty="0"/>
              <a:t>? more disease</a:t>
            </a:r>
          </a:p>
          <a:p>
            <a:r>
              <a:rPr lang="en-AU" sz="3200" b="1" dirty="0"/>
              <a:t>? enough </a:t>
            </a:r>
            <a:r>
              <a:rPr lang="en-AU" sz="3200" b="1" dirty="0">
                <a:solidFill>
                  <a:schemeClr val="accent1"/>
                </a:solidFill>
              </a:rPr>
              <a:t>💧 </a:t>
            </a:r>
            <a:r>
              <a:rPr lang="en-AU" sz="3200" b="1" dirty="0"/>
              <a:t>to finish the crop, will I make a profit</a:t>
            </a:r>
          </a:p>
        </p:txBody>
      </p:sp>
      <p:sp>
        <p:nvSpPr>
          <p:cNvPr id="2" name="Rectangle 1"/>
          <p:cNvSpPr/>
          <p:nvPr/>
        </p:nvSpPr>
        <p:spPr>
          <a:xfrm>
            <a:off x="122266" y="6318504"/>
            <a:ext cx="4299751" cy="5394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73820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8125" y="139523"/>
            <a:ext cx="7149073" cy="707886"/>
          </a:xfrm>
          <a:prstGeom prst="rect">
            <a:avLst/>
          </a:prstGeom>
          <a:noFill/>
        </p:spPr>
        <p:txBody>
          <a:bodyPr wrap="none" rtlCol="0">
            <a:spAutoFit/>
          </a:bodyPr>
          <a:lstStyle/>
          <a:p>
            <a:r>
              <a:rPr lang="en-AU" sz="4000" b="1" dirty="0"/>
              <a:t>Cereal growth stages 2 (Tillering)</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266" y="1492499"/>
            <a:ext cx="4299751" cy="5365501"/>
          </a:xfrm>
          <a:prstGeom prst="rect">
            <a:avLst/>
          </a:prstGeom>
        </p:spPr>
      </p:pic>
      <p:sp>
        <p:nvSpPr>
          <p:cNvPr id="6" name="TextBox 5"/>
          <p:cNvSpPr txBox="1"/>
          <p:nvPr/>
        </p:nvSpPr>
        <p:spPr>
          <a:xfrm>
            <a:off x="4589360" y="856357"/>
            <a:ext cx="4262410" cy="6001643"/>
          </a:xfrm>
          <a:prstGeom prst="rect">
            <a:avLst/>
          </a:prstGeom>
          <a:noFill/>
        </p:spPr>
        <p:txBody>
          <a:bodyPr wrap="square" rtlCol="0">
            <a:spAutoFit/>
          </a:bodyPr>
          <a:lstStyle/>
          <a:p>
            <a:r>
              <a:rPr lang="en-AU" sz="3200" b="1" u="sng" dirty="0">
                <a:solidFill>
                  <a:srgbClr val="800000"/>
                </a:solidFill>
              </a:rPr>
              <a:t>2,4-D amine herbicide</a:t>
            </a:r>
          </a:p>
          <a:p>
            <a:r>
              <a:rPr lang="en-AU" sz="3200" dirty="0"/>
              <a:t>In WA - Apply from the 5 leaf stage up to jointing stage (</a:t>
            </a:r>
            <a:r>
              <a:rPr lang="en-AU" sz="3200" dirty="0" err="1"/>
              <a:t>Zadoks</a:t>
            </a:r>
            <a:r>
              <a:rPr lang="en-AU" sz="3200" dirty="0"/>
              <a:t> 15-33).</a:t>
            </a:r>
          </a:p>
          <a:p>
            <a:r>
              <a:rPr lang="en-AU" sz="3200" dirty="0"/>
              <a:t>Apply after the 6 leaf stage (Z.16) for Cranbrook, </a:t>
            </a:r>
            <a:r>
              <a:rPr lang="en-AU" sz="3200" dirty="0" err="1"/>
              <a:t>Jacup</a:t>
            </a:r>
            <a:r>
              <a:rPr lang="en-AU" sz="3200" dirty="0"/>
              <a:t>, Aroona</a:t>
            </a:r>
          </a:p>
          <a:p>
            <a:r>
              <a:rPr lang="en-AU" sz="3200" dirty="0"/>
              <a:t>and Spear wheat and </a:t>
            </a:r>
            <a:r>
              <a:rPr lang="en-AU" sz="3200" dirty="0" err="1"/>
              <a:t>Mortlock</a:t>
            </a:r>
            <a:r>
              <a:rPr lang="en-AU" sz="3200" dirty="0"/>
              <a:t> oats to avoid possible damage.</a:t>
            </a:r>
            <a:endParaRPr lang="en-AU" sz="3200" b="1" dirty="0">
              <a:solidFill>
                <a:srgbClr val="800000"/>
              </a:solidFill>
            </a:endParaRPr>
          </a:p>
        </p:txBody>
      </p:sp>
    </p:spTree>
    <p:extLst>
      <p:ext uri="{BB962C8B-B14F-4D97-AF65-F5344CB8AC3E}">
        <p14:creationId xmlns:p14="http://schemas.microsoft.com/office/powerpoint/2010/main" val="3149076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8125" y="139523"/>
            <a:ext cx="7149073" cy="707886"/>
          </a:xfrm>
          <a:prstGeom prst="rect">
            <a:avLst/>
          </a:prstGeom>
          <a:noFill/>
        </p:spPr>
        <p:txBody>
          <a:bodyPr wrap="none" rtlCol="0">
            <a:spAutoFit/>
          </a:bodyPr>
          <a:lstStyle/>
          <a:p>
            <a:r>
              <a:rPr lang="en-AU" sz="4000" b="1" dirty="0"/>
              <a:t>Cereal growth stages 2 (Tillering)</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266" y="1492499"/>
            <a:ext cx="4299751" cy="5365501"/>
          </a:xfrm>
          <a:prstGeom prst="rect">
            <a:avLst/>
          </a:prstGeom>
        </p:spPr>
      </p:pic>
      <p:sp>
        <p:nvSpPr>
          <p:cNvPr id="6" name="TextBox 5"/>
          <p:cNvSpPr txBox="1"/>
          <p:nvPr/>
        </p:nvSpPr>
        <p:spPr>
          <a:xfrm>
            <a:off x="4589360" y="856357"/>
            <a:ext cx="4262410" cy="4031873"/>
          </a:xfrm>
          <a:prstGeom prst="rect">
            <a:avLst/>
          </a:prstGeom>
          <a:noFill/>
        </p:spPr>
        <p:txBody>
          <a:bodyPr wrap="square" rtlCol="0">
            <a:spAutoFit/>
          </a:bodyPr>
          <a:lstStyle/>
          <a:p>
            <a:r>
              <a:rPr lang="en-AU" sz="3200" b="1" u="sng">
                <a:solidFill>
                  <a:srgbClr val="800000"/>
                </a:solidFill>
              </a:rPr>
              <a:t>2,4-D </a:t>
            </a:r>
            <a:r>
              <a:rPr lang="en-AU" sz="3200" b="1" u="sng" dirty="0">
                <a:solidFill>
                  <a:srgbClr val="800000"/>
                </a:solidFill>
              </a:rPr>
              <a:t>amine herbicide</a:t>
            </a:r>
          </a:p>
          <a:p>
            <a:r>
              <a:rPr lang="en-AU" sz="3200" dirty="0"/>
              <a:t>Apply after the first node can be felt at the base of a tiller and</a:t>
            </a:r>
          </a:p>
          <a:p>
            <a:r>
              <a:rPr lang="en-AU" sz="3200" dirty="0"/>
              <a:t>before swelling of the head can be felt in a tiller (NSW, ACT, SA</a:t>
            </a:r>
          </a:p>
          <a:p>
            <a:r>
              <a:rPr lang="en-AU" sz="3200" dirty="0"/>
              <a:t>only).</a:t>
            </a:r>
            <a:endParaRPr lang="en-AU" sz="3200" b="1" u="sng" dirty="0">
              <a:solidFill>
                <a:srgbClr val="800000"/>
              </a:solidFill>
            </a:endParaRPr>
          </a:p>
        </p:txBody>
      </p:sp>
      <p:sp>
        <p:nvSpPr>
          <p:cNvPr id="2" name="Rectangle 1"/>
          <p:cNvSpPr/>
          <p:nvPr/>
        </p:nvSpPr>
        <p:spPr>
          <a:xfrm>
            <a:off x="4572000" y="5170609"/>
            <a:ext cx="4572000" cy="646331"/>
          </a:xfrm>
          <a:prstGeom prst="rect">
            <a:avLst/>
          </a:prstGeom>
        </p:spPr>
        <p:txBody>
          <a:bodyPr>
            <a:spAutoFit/>
          </a:bodyPr>
          <a:lstStyle/>
          <a:p>
            <a:pPr>
              <a:buFont typeface="Arial" panose="020B0604020202020204" pitchFamily="34" charset="0"/>
              <a:buChar char="•"/>
            </a:pPr>
            <a:r>
              <a:rPr lang="en-AU">
                <a:solidFill>
                  <a:srgbClr val="000000"/>
                </a:solidFill>
                <a:latin typeface="Roboto"/>
              </a:rPr>
              <a:t>Very early sprayed plants have a fused flag leaf that resembles an onion leaf.</a:t>
            </a:r>
            <a:endParaRPr lang="en-AU" b="0" i="0">
              <a:solidFill>
                <a:srgbClr val="000000"/>
              </a:solidFill>
              <a:effectLst/>
              <a:latin typeface="Roboto"/>
            </a:endParaRPr>
          </a:p>
        </p:txBody>
      </p:sp>
      <p:sp>
        <p:nvSpPr>
          <p:cNvPr id="3" name="Rectangle 2"/>
          <p:cNvSpPr/>
          <p:nvPr/>
        </p:nvSpPr>
        <p:spPr>
          <a:xfrm>
            <a:off x="4422017" y="6099319"/>
            <a:ext cx="4572000" cy="646331"/>
          </a:xfrm>
          <a:prstGeom prst="rect">
            <a:avLst/>
          </a:prstGeom>
        </p:spPr>
        <p:txBody>
          <a:bodyPr>
            <a:spAutoFit/>
          </a:bodyPr>
          <a:lstStyle/>
          <a:p>
            <a:r>
              <a:rPr lang="en-AU" dirty="0">
                <a:solidFill>
                  <a:srgbClr val="000000"/>
                </a:solidFill>
                <a:latin typeface="Roboto"/>
              </a:rPr>
              <a:t>Susceptible plants start to twist and appear distorted</a:t>
            </a:r>
            <a:endParaRPr lang="en-AU" dirty="0"/>
          </a:p>
        </p:txBody>
      </p:sp>
    </p:spTree>
    <p:extLst>
      <p:ext uri="{BB962C8B-B14F-4D97-AF65-F5344CB8AC3E}">
        <p14:creationId xmlns:p14="http://schemas.microsoft.com/office/powerpoint/2010/main" val="2932743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8125" y="139523"/>
            <a:ext cx="7149073" cy="707886"/>
          </a:xfrm>
          <a:prstGeom prst="rect">
            <a:avLst/>
          </a:prstGeom>
          <a:noFill/>
        </p:spPr>
        <p:txBody>
          <a:bodyPr wrap="none" rtlCol="0">
            <a:spAutoFit/>
          </a:bodyPr>
          <a:lstStyle/>
          <a:p>
            <a:r>
              <a:rPr lang="en-AU" sz="4000" b="1" dirty="0"/>
              <a:t>Cereal growth stages 2 (Tillering)</a:t>
            </a:r>
          </a:p>
        </p:txBody>
      </p:sp>
      <p:sp>
        <p:nvSpPr>
          <p:cNvPr id="6" name="TextBox 5"/>
          <p:cNvSpPr txBox="1"/>
          <p:nvPr/>
        </p:nvSpPr>
        <p:spPr>
          <a:xfrm>
            <a:off x="4589360" y="856357"/>
            <a:ext cx="4262410" cy="584775"/>
          </a:xfrm>
          <a:prstGeom prst="rect">
            <a:avLst/>
          </a:prstGeom>
          <a:noFill/>
        </p:spPr>
        <p:txBody>
          <a:bodyPr wrap="square" rtlCol="0">
            <a:spAutoFit/>
          </a:bodyPr>
          <a:lstStyle/>
          <a:p>
            <a:r>
              <a:rPr lang="en-AU" sz="3200" b="1" u="sng" dirty="0">
                <a:solidFill>
                  <a:srgbClr val="800000"/>
                </a:solidFill>
              </a:rPr>
              <a:t>2,4-D amine herbicide</a:t>
            </a:r>
          </a:p>
        </p:txBody>
      </p:sp>
      <p:sp>
        <p:nvSpPr>
          <p:cNvPr id="2" name="Rectangle 1"/>
          <p:cNvSpPr/>
          <p:nvPr/>
        </p:nvSpPr>
        <p:spPr>
          <a:xfrm>
            <a:off x="17360" y="3926007"/>
            <a:ext cx="4572000" cy="646331"/>
          </a:xfrm>
          <a:prstGeom prst="rect">
            <a:avLst/>
          </a:prstGeom>
        </p:spPr>
        <p:txBody>
          <a:bodyPr>
            <a:spAutoFit/>
          </a:bodyPr>
          <a:lstStyle/>
          <a:p>
            <a:r>
              <a:rPr lang="en-AU" dirty="0">
                <a:solidFill>
                  <a:srgbClr val="000000"/>
                </a:solidFill>
                <a:latin typeface="Roboto"/>
              </a:rPr>
              <a:t>-Very early sprayed plants have a fused flag leaf that resembles an onion leaf.</a:t>
            </a:r>
            <a:endParaRPr lang="en-AU" b="0" i="0" dirty="0">
              <a:solidFill>
                <a:srgbClr val="000000"/>
              </a:solidFill>
              <a:effectLst/>
              <a:latin typeface="Roboto"/>
            </a:endParaRPr>
          </a:p>
        </p:txBody>
      </p:sp>
      <p:sp>
        <p:nvSpPr>
          <p:cNvPr id="3" name="Rectangle 2"/>
          <p:cNvSpPr/>
          <p:nvPr/>
        </p:nvSpPr>
        <p:spPr>
          <a:xfrm>
            <a:off x="4731313" y="3924152"/>
            <a:ext cx="4572000" cy="646331"/>
          </a:xfrm>
          <a:prstGeom prst="rect">
            <a:avLst/>
          </a:prstGeom>
        </p:spPr>
        <p:txBody>
          <a:bodyPr>
            <a:spAutoFit/>
          </a:bodyPr>
          <a:lstStyle/>
          <a:p>
            <a:r>
              <a:rPr lang="en-AU" dirty="0">
                <a:solidFill>
                  <a:srgbClr val="000000"/>
                </a:solidFill>
                <a:latin typeface="Roboto"/>
              </a:rPr>
              <a:t>-Susceptible plants start to twist and appear distorted</a:t>
            </a:r>
            <a:endParaRPr lang="en-AU" dirty="0"/>
          </a:p>
        </p:txBody>
      </p:sp>
      <p:pic>
        <p:nvPicPr>
          <p:cNvPr id="7" name="Picture 6"/>
          <p:cNvPicPr>
            <a:picLocks noChangeAspect="1"/>
          </p:cNvPicPr>
          <p:nvPr/>
        </p:nvPicPr>
        <p:blipFill>
          <a:blip r:embed="rId2"/>
          <a:stretch>
            <a:fillRect/>
          </a:stretch>
        </p:blipFill>
        <p:spPr>
          <a:xfrm>
            <a:off x="85636" y="1450080"/>
            <a:ext cx="8972727" cy="2256042"/>
          </a:xfrm>
          <a:prstGeom prst="rect">
            <a:avLst/>
          </a:prstGeom>
        </p:spPr>
      </p:pic>
      <p:pic>
        <p:nvPicPr>
          <p:cNvPr id="8" name="Picture 7"/>
          <p:cNvPicPr>
            <a:picLocks noChangeAspect="1"/>
          </p:cNvPicPr>
          <p:nvPr/>
        </p:nvPicPr>
        <p:blipFill>
          <a:blip r:embed="rId3"/>
          <a:stretch>
            <a:fillRect/>
          </a:stretch>
        </p:blipFill>
        <p:spPr>
          <a:xfrm>
            <a:off x="6896100" y="4830587"/>
            <a:ext cx="2247900" cy="1962150"/>
          </a:xfrm>
          <a:prstGeom prst="rect">
            <a:avLst/>
          </a:prstGeom>
        </p:spPr>
      </p:pic>
      <p:pic>
        <p:nvPicPr>
          <p:cNvPr id="9" name="Picture 8"/>
          <p:cNvPicPr>
            <a:picLocks noChangeAspect="1"/>
          </p:cNvPicPr>
          <p:nvPr/>
        </p:nvPicPr>
        <p:blipFill>
          <a:blip r:embed="rId4"/>
          <a:stretch>
            <a:fillRect/>
          </a:stretch>
        </p:blipFill>
        <p:spPr>
          <a:xfrm>
            <a:off x="2873938" y="4956710"/>
            <a:ext cx="4143375" cy="1724025"/>
          </a:xfrm>
          <a:prstGeom prst="rect">
            <a:avLst/>
          </a:prstGeom>
        </p:spPr>
      </p:pic>
    </p:spTree>
    <p:extLst>
      <p:ext uri="{BB962C8B-B14F-4D97-AF65-F5344CB8AC3E}">
        <p14:creationId xmlns:p14="http://schemas.microsoft.com/office/powerpoint/2010/main" val="3482595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7084" y="1179871"/>
            <a:ext cx="7423355" cy="4231928"/>
          </a:xfrm>
          <a:prstGeom prst="rect">
            <a:avLst/>
          </a:prstGeom>
        </p:spPr>
        <p:txBody>
          <a:bodyPr wrap="square">
            <a:spAutoFit/>
          </a:bodyPr>
          <a:lstStyle/>
          <a:p>
            <a:pPr>
              <a:spcAft>
                <a:spcPts val="1800"/>
              </a:spcAft>
            </a:pPr>
            <a:r>
              <a:rPr lang="en-AU" sz="2800" dirty="0"/>
              <a:t>In many cereal crops:</a:t>
            </a:r>
          </a:p>
          <a:p>
            <a:pPr marL="285750" indent="-285750">
              <a:spcAft>
                <a:spcPts val="1800"/>
              </a:spcAft>
              <a:buFont typeface="Arial" panose="020B0604020202020204" pitchFamily="34" charset="0"/>
              <a:buChar char="•"/>
            </a:pPr>
            <a:r>
              <a:rPr lang="en-AU" sz="2800" dirty="0"/>
              <a:t>3 leaf (on main stem) stage is before tillering.</a:t>
            </a:r>
          </a:p>
          <a:p>
            <a:pPr marL="285750" indent="-285750">
              <a:spcAft>
                <a:spcPts val="1800"/>
              </a:spcAft>
              <a:buFont typeface="Arial" panose="020B0604020202020204" pitchFamily="34" charset="0"/>
              <a:buChar char="•"/>
            </a:pPr>
            <a:r>
              <a:rPr lang="en-AU" sz="2800" dirty="0"/>
              <a:t>5 leaf (on main stem) stage coincides with early tillering. 6–7 leaf (on main stem) stage coincides with mid to fully tillered stage. </a:t>
            </a:r>
          </a:p>
          <a:p>
            <a:pPr marL="285750" indent="-285750">
              <a:spcAft>
                <a:spcPts val="1800"/>
              </a:spcAft>
              <a:buFont typeface="Arial" panose="020B0604020202020204" pitchFamily="34" charset="0"/>
              <a:buChar char="•"/>
            </a:pPr>
            <a:r>
              <a:rPr lang="en-AU" sz="2800" dirty="0"/>
              <a:t>Jointing or node formation indicates the start of the reproductive phase in the crop, and tillering can be said to be complete, i.e. fully tillered.</a:t>
            </a:r>
          </a:p>
        </p:txBody>
      </p:sp>
    </p:spTree>
    <p:extLst>
      <p:ext uri="{BB962C8B-B14F-4D97-AF65-F5344CB8AC3E}">
        <p14:creationId xmlns:p14="http://schemas.microsoft.com/office/powerpoint/2010/main" val="1453747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 y="82961"/>
            <a:ext cx="8759129" cy="1938992"/>
          </a:xfrm>
          <a:prstGeom prst="rect">
            <a:avLst/>
          </a:prstGeom>
          <a:noFill/>
        </p:spPr>
        <p:txBody>
          <a:bodyPr wrap="none" rtlCol="0">
            <a:spAutoFit/>
          </a:bodyPr>
          <a:lstStyle/>
          <a:p>
            <a:r>
              <a:rPr lang="en-AU" sz="4000" b="1" dirty="0"/>
              <a:t>Cereal growth stages:</a:t>
            </a:r>
          </a:p>
          <a:p>
            <a:r>
              <a:rPr lang="en-AU" sz="4000" b="1" dirty="0"/>
              <a:t>The Wheat Book: Principles and Practice</a:t>
            </a:r>
          </a:p>
          <a:p>
            <a:r>
              <a:rPr lang="en-AU" sz="4000" b="1" dirty="0"/>
              <a:t>(DAFWA/GRDC)</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21953"/>
            <a:ext cx="9144000" cy="4991007"/>
          </a:xfrm>
          <a:prstGeom prst="rect">
            <a:avLst/>
          </a:prstGeom>
        </p:spPr>
      </p:pic>
    </p:spTree>
    <p:extLst>
      <p:ext uri="{BB962C8B-B14F-4D97-AF65-F5344CB8AC3E}">
        <p14:creationId xmlns:p14="http://schemas.microsoft.com/office/powerpoint/2010/main" val="3855079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7512" y="6373368"/>
            <a:ext cx="4161267" cy="369332"/>
          </a:xfrm>
          <a:prstGeom prst="rect">
            <a:avLst/>
          </a:prstGeom>
          <a:noFill/>
        </p:spPr>
        <p:txBody>
          <a:bodyPr wrap="none" rtlCol="0">
            <a:spAutoFit/>
          </a:bodyPr>
          <a:lstStyle/>
          <a:p>
            <a:r>
              <a:rPr lang="en-AU" dirty="0"/>
              <a:t>The Wheat Book – Principles and Practices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 y="1458694"/>
            <a:ext cx="5619750" cy="4001798"/>
          </a:xfrm>
          <a:prstGeom prst="rect">
            <a:avLst/>
          </a:prstGeom>
        </p:spPr>
      </p:pic>
    </p:spTree>
    <p:extLst>
      <p:ext uri="{BB962C8B-B14F-4D97-AF65-F5344CB8AC3E}">
        <p14:creationId xmlns:p14="http://schemas.microsoft.com/office/powerpoint/2010/main" val="153148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8569" y="2434590"/>
            <a:ext cx="3035431" cy="4442460"/>
          </a:xfrm>
          <a:prstGeom prst="rect">
            <a:avLst/>
          </a:prstGeom>
        </p:spPr>
      </p:pic>
      <p:sp>
        <p:nvSpPr>
          <p:cNvPr id="4" name="TextBox 3"/>
          <p:cNvSpPr txBox="1"/>
          <p:nvPr/>
        </p:nvSpPr>
        <p:spPr>
          <a:xfrm>
            <a:off x="235407" y="163742"/>
            <a:ext cx="8908593" cy="707886"/>
          </a:xfrm>
          <a:prstGeom prst="rect">
            <a:avLst/>
          </a:prstGeom>
          <a:noFill/>
        </p:spPr>
        <p:txBody>
          <a:bodyPr wrap="none" rtlCol="0">
            <a:spAutoFit/>
          </a:bodyPr>
          <a:lstStyle/>
          <a:p>
            <a:r>
              <a:rPr lang="en-AU" sz="4000" b="1" dirty="0"/>
              <a:t>Cereal growth stages 3 (Stem elongation)</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453640"/>
            <a:ext cx="2960016" cy="440436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4990" y="2453640"/>
            <a:ext cx="3058605" cy="4423410"/>
          </a:xfrm>
          <a:prstGeom prst="rect">
            <a:avLst/>
          </a:prstGeom>
        </p:spPr>
      </p:pic>
      <p:sp>
        <p:nvSpPr>
          <p:cNvPr id="8" name="TextBox 7"/>
          <p:cNvSpPr txBox="1"/>
          <p:nvPr/>
        </p:nvSpPr>
        <p:spPr>
          <a:xfrm>
            <a:off x="0" y="868279"/>
            <a:ext cx="9144000" cy="1569660"/>
          </a:xfrm>
          <a:prstGeom prst="rect">
            <a:avLst/>
          </a:prstGeom>
          <a:noFill/>
        </p:spPr>
        <p:txBody>
          <a:bodyPr wrap="square" rtlCol="0">
            <a:spAutoFit/>
          </a:bodyPr>
          <a:lstStyle/>
          <a:p>
            <a:r>
              <a:rPr lang="en-AU" sz="3200" b="1" dirty="0">
                <a:solidFill>
                  <a:srgbClr val="800000"/>
                </a:solidFill>
              </a:rPr>
              <a:t>Low nitrogen (during stem elongation) = reduced tillers and canopy size but may not reduce yield. Late N may increase grain size (more time for decisions)</a:t>
            </a:r>
          </a:p>
        </p:txBody>
      </p:sp>
      <p:sp>
        <p:nvSpPr>
          <p:cNvPr id="5" name="Rectangle 4"/>
          <p:cNvSpPr/>
          <p:nvPr/>
        </p:nvSpPr>
        <p:spPr>
          <a:xfrm>
            <a:off x="0" y="6473952"/>
            <a:ext cx="9144000" cy="384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475169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1708" y="1808226"/>
            <a:ext cx="4526280" cy="5143500"/>
          </a:xfrm>
          <a:prstGeom prst="rect">
            <a:avLst/>
          </a:prstGeom>
        </p:spPr>
      </p:pic>
      <p:sp>
        <p:nvSpPr>
          <p:cNvPr id="6" name="TextBox 5"/>
          <p:cNvSpPr txBox="1"/>
          <p:nvPr/>
        </p:nvSpPr>
        <p:spPr>
          <a:xfrm>
            <a:off x="156956" y="170557"/>
            <a:ext cx="8729504" cy="1569660"/>
          </a:xfrm>
          <a:prstGeom prst="rect">
            <a:avLst/>
          </a:prstGeom>
          <a:noFill/>
        </p:spPr>
        <p:txBody>
          <a:bodyPr wrap="square" rtlCol="0">
            <a:spAutoFit/>
          </a:bodyPr>
          <a:lstStyle/>
          <a:p>
            <a:r>
              <a:rPr lang="en-AU" sz="3200" b="1" dirty="0">
                <a:solidFill>
                  <a:srgbClr val="800000"/>
                </a:solidFill>
              </a:rPr>
              <a:t>Floral initiation:</a:t>
            </a:r>
          </a:p>
          <a:p>
            <a:r>
              <a:rPr lang="en-AU" sz="3200" b="1" dirty="0">
                <a:solidFill>
                  <a:srgbClr val="800000"/>
                </a:solidFill>
              </a:rPr>
              <a:t>Double ridge stage identified by dissection. Occurs just before stem elongation (about Z29/Z30)</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16480"/>
            <a:ext cx="2960016" cy="4404360"/>
          </a:xfrm>
          <a:prstGeom prst="rect">
            <a:avLst/>
          </a:prstGeom>
        </p:spPr>
      </p:pic>
    </p:spTree>
    <p:extLst>
      <p:ext uri="{BB962C8B-B14F-4D97-AF65-F5344CB8AC3E}">
        <p14:creationId xmlns:p14="http://schemas.microsoft.com/office/powerpoint/2010/main" val="2472713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6021" y="871628"/>
            <a:ext cx="3035431" cy="4442460"/>
          </a:xfrm>
          <a:prstGeom prst="rect">
            <a:avLst/>
          </a:prstGeom>
        </p:spPr>
      </p:pic>
      <p:sp>
        <p:nvSpPr>
          <p:cNvPr id="4" name="TextBox 3"/>
          <p:cNvSpPr txBox="1"/>
          <p:nvPr/>
        </p:nvSpPr>
        <p:spPr>
          <a:xfrm>
            <a:off x="235407" y="163742"/>
            <a:ext cx="8908593" cy="707886"/>
          </a:xfrm>
          <a:prstGeom prst="rect">
            <a:avLst/>
          </a:prstGeom>
          <a:noFill/>
        </p:spPr>
        <p:txBody>
          <a:bodyPr wrap="none" rtlCol="0">
            <a:spAutoFit/>
          </a:bodyPr>
          <a:lstStyle/>
          <a:p>
            <a:r>
              <a:rPr lang="en-AU" sz="4000" b="1" dirty="0"/>
              <a:t>Cereal growth stages 3 (Stem elongation)</a:t>
            </a:r>
          </a:p>
        </p:txBody>
      </p:sp>
      <p:sp>
        <p:nvSpPr>
          <p:cNvPr id="7" name="TextBox 6"/>
          <p:cNvSpPr txBox="1"/>
          <p:nvPr/>
        </p:nvSpPr>
        <p:spPr>
          <a:xfrm>
            <a:off x="0" y="953120"/>
            <a:ext cx="5816338" cy="3108543"/>
          </a:xfrm>
          <a:prstGeom prst="rect">
            <a:avLst/>
          </a:prstGeom>
          <a:noFill/>
        </p:spPr>
        <p:txBody>
          <a:bodyPr wrap="square" rtlCol="0">
            <a:spAutoFit/>
          </a:bodyPr>
          <a:lstStyle/>
          <a:p>
            <a:r>
              <a:rPr lang="en-AU" sz="2800" b="1" dirty="0">
                <a:solidFill>
                  <a:srgbClr val="800000"/>
                </a:solidFill>
              </a:rPr>
              <a:t>If disease (rust </a:t>
            </a:r>
            <a:r>
              <a:rPr lang="en-AU" sz="2800" b="1" dirty="0" err="1">
                <a:solidFill>
                  <a:srgbClr val="800000"/>
                </a:solidFill>
              </a:rPr>
              <a:t>etc</a:t>
            </a:r>
            <a:r>
              <a:rPr lang="en-AU" sz="2800" b="1" dirty="0">
                <a:solidFill>
                  <a:srgbClr val="800000"/>
                </a:solidFill>
              </a:rPr>
              <a:t>) is present, it is important to protect the flag leaf on the main stem in wheat – so spray at flag leaf emergence (GS39). In barley it is the Flag – 1 (leaf below the flag is the largest) and must be protected if disease is a major risk</a:t>
            </a:r>
          </a:p>
        </p:txBody>
      </p:sp>
    </p:spTree>
    <p:extLst>
      <p:ext uri="{BB962C8B-B14F-4D97-AF65-F5344CB8AC3E}">
        <p14:creationId xmlns:p14="http://schemas.microsoft.com/office/powerpoint/2010/main" val="40193977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5407" y="163742"/>
            <a:ext cx="8908593" cy="707886"/>
          </a:xfrm>
          <a:prstGeom prst="rect">
            <a:avLst/>
          </a:prstGeom>
          <a:noFill/>
        </p:spPr>
        <p:txBody>
          <a:bodyPr wrap="none" rtlCol="0">
            <a:spAutoFit/>
          </a:bodyPr>
          <a:lstStyle/>
          <a:p>
            <a:r>
              <a:rPr lang="en-AU" sz="4000" b="1" dirty="0"/>
              <a:t>Cereal growth stages 3 (Stem elongation)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71628"/>
            <a:ext cx="7879114" cy="4499021"/>
          </a:xfrm>
          <a:prstGeom prst="rect">
            <a:avLst/>
          </a:prstGeom>
        </p:spPr>
      </p:pic>
    </p:spTree>
    <p:extLst>
      <p:ext uri="{BB962C8B-B14F-4D97-AF65-F5344CB8AC3E}">
        <p14:creationId xmlns:p14="http://schemas.microsoft.com/office/powerpoint/2010/main" val="2731582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7512" y="6373368"/>
            <a:ext cx="4161267" cy="369332"/>
          </a:xfrm>
          <a:prstGeom prst="rect">
            <a:avLst/>
          </a:prstGeom>
          <a:noFill/>
        </p:spPr>
        <p:txBody>
          <a:bodyPr wrap="none" rtlCol="0">
            <a:spAutoFit/>
          </a:bodyPr>
          <a:lstStyle/>
          <a:p>
            <a:r>
              <a:rPr lang="en-AU" dirty="0"/>
              <a:t>The Wheat Book – Principles and Practices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791" y="1581912"/>
            <a:ext cx="6477299" cy="2826258"/>
          </a:xfrm>
          <a:prstGeom prst="rect">
            <a:avLst/>
          </a:prstGeom>
        </p:spPr>
      </p:pic>
    </p:spTree>
    <p:extLst>
      <p:ext uri="{BB962C8B-B14F-4D97-AF65-F5344CB8AC3E}">
        <p14:creationId xmlns:p14="http://schemas.microsoft.com/office/powerpoint/2010/main" val="452433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5407" y="323997"/>
            <a:ext cx="7091365" cy="707886"/>
          </a:xfrm>
          <a:prstGeom prst="rect">
            <a:avLst/>
          </a:prstGeom>
          <a:noFill/>
        </p:spPr>
        <p:txBody>
          <a:bodyPr wrap="none" rtlCol="0">
            <a:spAutoFit/>
          </a:bodyPr>
          <a:lstStyle/>
          <a:p>
            <a:r>
              <a:rPr lang="en-AU" sz="4000" b="1" dirty="0"/>
              <a:t>Cereal growth stages 4 (Booting)</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5070" y="1406678"/>
            <a:ext cx="3931920" cy="5330776"/>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351" y="3442657"/>
            <a:ext cx="2074132" cy="2514099"/>
          </a:xfrm>
          <a:prstGeom prst="rect">
            <a:avLst/>
          </a:prstGeom>
        </p:spPr>
      </p:pic>
      <p:sp>
        <p:nvSpPr>
          <p:cNvPr id="9" name="TextBox 8"/>
          <p:cNvSpPr txBox="1"/>
          <p:nvPr/>
        </p:nvSpPr>
        <p:spPr>
          <a:xfrm>
            <a:off x="2130459" y="1683272"/>
            <a:ext cx="963982" cy="369332"/>
          </a:xfrm>
          <a:prstGeom prst="rect">
            <a:avLst/>
          </a:prstGeom>
          <a:noFill/>
        </p:spPr>
        <p:txBody>
          <a:bodyPr wrap="none" rtlCol="0">
            <a:spAutoFit/>
          </a:bodyPr>
          <a:lstStyle/>
          <a:p>
            <a:r>
              <a:rPr lang="en-AU" dirty="0"/>
              <a:t>Flag leaf</a:t>
            </a:r>
          </a:p>
        </p:txBody>
      </p:sp>
      <p:cxnSp>
        <p:nvCxnSpPr>
          <p:cNvPr id="11" name="Straight Arrow Connector 10"/>
          <p:cNvCxnSpPr/>
          <p:nvPr/>
        </p:nvCxnSpPr>
        <p:spPr>
          <a:xfrm>
            <a:off x="3094441" y="1979629"/>
            <a:ext cx="2966994" cy="282804"/>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1385740" y="2121031"/>
            <a:ext cx="1046376" cy="1527142"/>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60844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7512" y="6373368"/>
            <a:ext cx="4161267" cy="369332"/>
          </a:xfrm>
          <a:prstGeom prst="rect">
            <a:avLst/>
          </a:prstGeom>
          <a:noFill/>
        </p:spPr>
        <p:txBody>
          <a:bodyPr wrap="none" rtlCol="0">
            <a:spAutoFit/>
          </a:bodyPr>
          <a:lstStyle/>
          <a:p>
            <a:r>
              <a:rPr lang="en-AU" dirty="0"/>
              <a:t>The Wheat Book – Principles and Practices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415" y="310896"/>
            <a:ext cx="6451867" cy="248564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415" y="2796540"/>
            <a:ext cx="7069282" cy="3110484"/>
          </a:xfrm>
          <a:prstGeom prst="rect">
            <a:avLst/>
          </a:prstGeom>
        </p:spPr>
      </p:pic>
      <p:pic>
        <p:nvPicPr>
          <p:cNvPr id="2" name="Picture 1"/>
          <p:cNvPicPr>
            <a:picLocks noChangeAspect="1"/>
          </p:cNvPicPr>
          <p:nvPr/>
        </p:nvPicPr>
        <p:blipFill>
          <a:blip r:embed="rId4"/>
          <a:stretch>
            <a:fillRect/>
          </a:stretch>
        </p:blipFill>
        <p:spPr>
          <a:xfrm>
            <a:off x="6984590" y="1553718"/>
            <a:ext cx="2057400" cy="4981575"/>
          </a:xfrm>
          <a:prstGeom prst="rect">
            <a:avLst/>
          </a:prstGeom>
        </p:spPr>
      </p:pic>
    </p:spTree>
    <p:extLst>
      <p:ext uri="{BB962C8B-B14F-4D97-AF65-F5344CB8AC3E}">
        <p14:creationId xmlns:p14="http://schemas.microsoft.com/office/powerpoint/2010/main" val="1506365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965466" y="4690872"/>
            <a:ext cx="2723878" cy="646331"/>
          </a:xfrm>
          <a:prstGeom prst="rect">
            <a:avLst/>
          </a:prstGeom>
          <a:noFill/>
        </p:spPr>
        <p:txBody>
          <a:bodyPr wrap="square" rtlCol="0">
            <a:spAutoFit/>
          </a:bodyPr>
          <a:lstStyle/>
          <a:p>
            <a:r>
              <a:rPr lang="en-AU" dirty="0"/>
              <a:t>The Wheat Book – Principles and Practices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425" y="218694"/>
            <a:ext cx="5106551" cy="194416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425" y="2058924"/>
            <a:ext cx="6192286" cy="2074164"/>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511" y="3782568"/>
            <a:ext cx="5400096" cy="3075432"/>
          </a:xfrm>
          <a:prstGeom prst="rect">
            <a:avLst/>
          </a:prstGeom>
        </p:spPr>
      </p:pic>
      <p:pic>
        <p:nvPicPr>
          <p:cNvPr id="3" name="Picture 2"/>
          <p:cNvPicPr>
            <a:picLocks noChangeAspect="1"/>
          </p:cNvPicPr>
          <p:nvPr/>
        </p:nvPicPr>
        <p:blipFill>
          <a:blip r:embed="rId5"/>
          <a:stretch>
            <a:fillRect/>
          </a:stretch>
        </p:blipFill>
        <p:spPr>
          <a:xfrm>
            <a:off x="6608711" y="2162855"/>
            <a:ext cx="1924050" cy="1323975"/>
          </a:xfrm>
          <a:prstGeom prst="rect">
            <a:avLst/>
          </a:prstGeom>
        </p:spPr>
      </p:pic>
    </p:spTree>
    <p:extLst>
      <p:ext uri="{BB962C8B-B14F-4D97-AF65-F5344CB8AC3E}">
        <p14:creationId xmlns:p14="http://schemas.microsoft.com/office/powerpoint/2010/main" val="41094511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965466" y="4690872"/>
            <a:ext cx="2723878" cy="646331"/>
          </a:xfrm>
          <a:prstGeom prst="rect">
            <a:avLst/>
          </a:prstGeom>
          <a:noFill/>
        </p:spPr>
        <p:txBody>
          <a:bodyPr wrap="square" rtlCol="0">
            <a:spAutoFit/>
          </a:bodyPr>
          <a:lstStyle/>
          <a:p>
            <a:r>
              <a:rPr lang="en-AU" dirty="0"/>
              <a:t>The Wheat Book – Principles and Practices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1956"/>
            <a:ext cx="9144000" cy="5714088"/>
          </a:xfrm>
          <a:prstGeom prst="rect">
            <a:avLst/>
          </a:prstGeom>
        </p:spPr>
      </p:pic>
    </p:spTree>
    <p:extLst>
      <p:ext uri="{BB962C8B-B14F-4D97-AF65-F5344CB8AC3E}">
        <p14:creationId xmlns:p14="http://schemas.microsoft.com/office/powerpoint/2010/main" val="30157009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5407" y="323996"/>
            <a:ext cx="8908593" cy="1323439"/>
          </a:xfrm>
          <a:prstGeom prst="rect">
            <a:avLst/>
          </a:prstGeom>
          <a:noFill/>
        </p:spPr>
        <p:txBody>
          <a:bodyPr wrap="square" rtlCol="0">
            <a:spAutoFit/>
          </a:bodyPr>
          <a:lstStyle/>
          <a:p>
            <a:r>
              <a:rPr lang="en-AU" sz="4000" b="1" dirty="0"/>
              <a:t>Cereal growth stages 5-9 (Ear emergence through to Ripening)</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120" y="2352614"/>
            <a:ext cx="2849880" cy="450342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9941" y="2350648"/>
            <a:ext cx="3171217" cy="4505386"/>
          </a:xfrm>
          <a:prstGeom prst="rect">
            <a:avLst/>
          </a:prstGeom>
        </p:spPr>
      </p:pic>
    </p:spTree>
    <p:extLst>
      <p:ext uri="{BB962C8B-B14F-4D97-AF65-F5344CB8AC3E}">
        <p14:creationId xmlns:p14="http://schemas.microsoft.com/office/powerpoint/2010/main" val="1367694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AU" dirty="0"/>
              <a:t>The </a:t>
            </a:r>
            <a:r>
              <a:rPr lang="en-AU" dirty="0" err="1"/>
              <a:t>Zadoks</a:t>
            </a:r>
            <a:r>
              <a:rPr lang="en-AU" dirty="0"/>
              <a:t> growth stage key does </a:t>
            </a:r>
            <a:r>
              <a:rPr lang="en-AU"/>
              <a:t>not occur </a:t>
            </a:r>
            <a:r>
              <a:rPr lang="en-AU" dirty="0"/>
              <a:t>in chronological order</a:t>
            </a:r>
          </a:p>
          <a:p>
            <a:pPr lvl="1"/>
            <a:r>
              <a:rPr lang="en-AU" dirty="0"/>
              <a:t>Eg. a plant with 3 fully formed leaves begins to tiller (Z 20/GS 20) before leaves 4-6 have fully formed</a:t>
            </a:r>
          </a:p>
          <a:p>
            <a:r>
              <a:rPr lang="en-AU" dirty="0"/>
              <a:t>Once the plant starts developing tillers it is easier to determine the development stage by tiller number than leaf number – due to senescence </a:t>
            </a:r>
          </a:p>
          <a:p>
            <a:r>
              <a:rPr lang="en-AU" dirty="0"/>
              <a:t>It is possible to have different parts of the plant at different stages. However it is scored by the most advanced part</a:t>
            </a:r>
          </a:p>
          <a:p>
            <a:pPr lvl="1"/>
            <a:r>
              <a:rPr lang="en-AU" dirty="0"/>
              <a:t>Eg. a plant with 2 nodes (Z 32), 3 tillers (Z 23), and 7 leaves (Z 17). This would be scored Z 32</a:t>
            </a:r>
          </a:p>
        </p:txBody>
      </p:sp>
      <p:sp>
        <p:nvSpPr>
          <p:cNvPr id="2" name="Title 1"/>
          <p:cNvSpPr>
            <a:spLocks noGrp="1"/>
          </p:cNvSpPr>
          <p:nvPr>
            <p:ph type="title"/>
          </p:nvPr>
        </p:nvSpPr>
        <p:spPr/>
        <p:txBody>
          <a:bodyPr>
            <a:normAutofit/>
          </a:bodyPr>
          <a:lstStyle/>
          <a:p>
            <a:r>
              <a:rPr lang="en-AU" sz="4000" b="1" dirty="0">
                <a:latin typeface="+mn-lt"/>
              </a:rPr>
              <a:t>Key points:</a:t>
            </a:r>
          </a:p>
        </p:txBody>
      </p:sp>
    </p:spTree>
    <p:extLst>
      <p:ext uri="{BB962C8B-B14F-4D97-AF65-F5344CB8AC3E}">
        <p14:creationId xmlns:p14="http://schemas.microsoft.com/office/powerpoint/2010/main" val="114503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AU"/>
              <a:t>From </a:t>
            </a:r>
            <a:r>
              <a:rPr lang="en-AU" dirty="0"/>
              <a:t>Z 30 the development stage describes the main stem and not an average of the tillers</a:t>
            </a:r>
          </a:p>
        </p:txBody>
      </p:sp>
      <p:sp>
        <p:nvSpPr>
          <p:cNvPr id="2" name="Title 1"/>
          <p:cNvSpPr>
            <a:spLocks noGrp="1"/>
          </p:cNvSpPr>
          <p:nvPr>
            <p:ph type="title"/>
          </p:nvPr>
        </p:nvSpPr>
        <p:spPr/>
        <p:txBody>
          <a:bodyPr>
            <a:normAutofit/>
          </a:bodyPr>
          <a:lstStyle/>
          <a:p>
            <a:r>
              <a:rPr lang="en-AU" sz="4000" b="1" dirty="0">
                <a:latin typeface="+mn-lt"/>
              </a:rPr>
              <a:t>Key points:</a:t>
            </a:r>
          </a:p>
        </p:txBody>
      </p:sp>
    </p:spTree>
    <p:extLst>
      <p:ext uri="{BB962C8B-B14F-4D97-AF65-F5344CB8AC3E}">
        <p14:creationId xmlns:p14="http://schemas.microsoft.com/office/powerpoint/2010/main" val="4223528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2967" y="356339"/>
            <a:ext cx="4617931" cy="707886"/>
          </a:xfrm>
          <a:prstGeom prst="rect">
            <a:avLst/>
          </a:prstGeom>
          <a:noFill/>
        </p:spPr>
        <p:txBody>
          <a:bodyPr wrap="none" rtlCol="0">
            <a:spAutoFit/>
          </a:bodyPr>
          <a:lstStyle/>
          <a:p>
            <a:r>
              <a:rPr lang="en-AU" sz="4000" b="1" dirty="0"/>
              <a:t>Cereal growth stages</a:t>
            </a:r>
          </a:p>
        </p:txBody>
      </p:sp>
      <p:sp>
        <p:nvSpPr>
          <p:cNvPr id="2" name="TextBox 1"/>
          <p:cNvSpPr txBox="1"/>
          <p:nvPr/>
        </p:nvSpPr>
        <p:spPr>
          <a:xfrm>
            <a:off x="582967" y="1750335"/>
            <a:ext cx="7914488" cy="3046988"/>
          </a:xfrm>
          <a:prstGeom prst="rect">
            <a:avLst/>
          </a:prstGeom>
          <a:noFill/>
        </p:spPr>
        <p:txBody>
          <a:bodyPr wrap="square" rtlCol="0">
            <a:spAutoFit/>
          </a:bodyPr>
          <a:lstStyle/>
          <a:p>
            <a:r>
              <a:rPr lang="en-AU" sz="3200" dirty="0"/>
              <a:t>Growth stages in relation to canopy management:</a:t>
            </a:r>
          </a:p>
          <a:p>
            <a:pPr marL="571500" indent="-571500">
              <a:buFont typeface="Arial" panose="020B0604020202020204" pitchFamily="34" charset="0"/>
              <a:buChar char="•"/>
            </a:pPr>
            <a:r>
              <a:rPr lang="en-AU" sz="3200" dirty="0"/>
              <a:t>Disease and late nitrogen management mainly from start of stem elongation to early flowering (Z30 – Z61)</a:t>
            </a:r>
          </a:p>
          <a:p>
            <a:pPr marL="571500" indent="-571500">
              <a:buFont typeface="Arial" panose="020B0604020202020204" pitchFamily="34" charset="0"/>
              <a:buChar char="•"/>
            </a:pPr>
            <a:r>
              <a:rPr lang="en-AU" sz="3200" dirty="0"/>
              <a:t>Late N applications can boost grain protein</a:t>
            </a:r>
          </a:p>
        </p:txBody>
      </p:sp>
    </p:spTree>
    <p:extLst>
      <p:ext uri="{BB962C8B-B14F-4D97-AF65-F5344CB8AC3E}">
        <p14:creationId xmlns:p14="http://schemas.microsoft.com/office/powerpoint/2010/main" val="36747273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2967" y="356339"/>
            <a:ext cx="4617931" cy="707886"/>
          </a:xfrm>
          <a:prstGeom prst="rect">
            <a:avLst/>
          </a:prstGeom>
          <a:noFill/>
        </p:spPr>
        <p:txBody>
          <a:bodyPr wrap="none" rtlCol="0">
            <a:spAutoFit/>
          </a:bodyPr>
          <a:lstStyle/>
          <a:p>
            <a:r>
              <a:rPr lang="en-AU" sz="4000" b="1" dirty="0"/>
              <a:t>Cereal growth stages</a:t>
            </a:r>
          </a:p>
        </p:txBody>
      </p:sp>
      <p:sp>
        <p:nvSpPr>
          <p:cNvPr id="2" name="TextBox 1"/>
          <p:cNvSpPr txBox="1"/>
          <p:nvPr/>
        </p:nvSpPr>
        <p:spPr>
          <a:xfrm>
            <a:off x="485313" y="1137775"/>
            <a:ext cx="7914488" cy="4216539"/>
          </a:xfrm>
          <a:prstGeom prst="rect">
            <a:avLst/>
          </a:prstGeom>
          <a:noFill/>
        </p:spPr>
        <p:txBody>
          <a:bodyPr wrap="square" rtlCol="0">
            <a:spAutoFit/>
          </a:bodyPr>
          <a:lstStyle/>
          <a:p>
            <a:endParaRPr lang="en-AU" sz="3200" dirty="0"/>
          </a:p>
          <a:p>
            <a:endParaRPr lang="en-AU" sz="3200" dirty="0"/>
          </a:p>
          <a:p>
            <a:r>
              <a:rPr lang="en-AU" sz="3600" dirty="0"/>
              <a:t>Stem elongation Z30-33</a:t>
            </a:r>
          </a:p>
          <a:p>
            <a:pPr marL="571500" indent="-571500">
              <a:buFont typeface="Arial" panose="020B0604020202020204" pitchFamily="34" charset="0"/>
              <a:buChar char="•"/>
            </a:pPr>
            <a:r>
              <a:rPr lang="en-AU" sz="2800" dirty="0"/>
              <a:t>Important for both nitrogen timing and protection (fungicide) of key leaves. To ensure correct identification of the GS, plant stems are cut longitudinally, so that the internal movement of the nodes and internodes (hollows) can be measured</a:t>
            </a:r>
          </a:p>
        </p:txBody>
      </p:sp>
    </p:spTree>
    <p:extLst>
      <p:ext uri="{BB962C8B-B14F-4D97-AF65-F5344CB8AC3E}">
        <p14:creationId xmlns:p14="http://schemas.microsoft.com/office/powerpoint/2010/main" val="3366036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DD96F7-CA47-4F93-B086-656D6ADBD2F4}"/>
              </a:ext>
            </a:extLst>
          </p:cNvPr>
          <p:cNvSpPr txBox="1"/>
          <p:nvPr/>
        </p:nvSpPr>
        <p:spPr>
          <a:xfrm>
            <a:off x="524565" y="616612"/>
            <a:ext cx="6565837" cy="1323439"/>
          </a:xfrm>
          <a:prstGeom prst="rect">
            <a:avLst/>
          </a:prstGeom>
          <a:noFill/>
        </p:spPr>
        <p:txBody>
          <a:bodyPr wrap="square" rtlCol="0">
            <a:spAutoFit/>
          </a:bodyPr>
          <a:lstStyle/>
          <a:p>
            <a:r>
              <a:rPr lang="en-AU" sz="4000" b="1" dirty="0"/>
              <a:t>Cereal growth stages:</a:t>
            </a:r>
          </a:p>
          <a:p>
            <a:r>
              <a:rPr lang="en-AU" sz="2000" b="1" dirty="0"/>
              <a:t>The Wheat Book: Principles and Practice</a:t>
            </a:r>
          </a:p>
          <a:p>
            <a:r>
              <a:rPr lang="en-AU" sz="2000" b="1" dirty="0"/>
              <a:t>(DAFWA/GRDC)</a:t>
            </a:r>
          </a:p>
        </p:txBody>
      </p:sp>
    </p:spTree>
    <p:extLst>
      <p:ext uri="{BB962C8B-B14F-4D97-AF65-F5344CB8AC3E}">
        <p14:creationId xmlns:p14="http://schemas.microsoft.com/office/powerpoint/2010/main" val="28168195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 y="2294522"/>
            <a:ext cx="8961120" cy="4436215"/>
          </a:xfrm>
          <a:prstGeom prst="rect">
            <a:avLst/>
          </a:prstGeom>
        </p:spPr>
      </p:pic>
      <p:sp>
        <p:nvSpPr>
          <p:cNvPr id="5" name="TextBox 4"/>
          <p:cNvSpPr txBox="1"/>
          <p:nvPr/>
        </p:nvSpPr>
        <p:spPr>
          <a:xfrm>
            <a:off x="467135" y="1831917"/>
            <a:ext cx="1376314" cy="646331"/>
          </a:xfrm>
          <a:prstGeom prst="rect">
            <a:avLst/>
          </a:prstGeom>
          <a:solidFill>
            <a:schemeClr val="bg1"/>
          </a:solidFill>
        </p:spPr>
        <p:txBody>
          <a:bodyPr wrap="square" rtlCol="0">
            <a:spAutoFit/>
          </a:bodyPr>
          <a:lstStyle/>
          <a:p>
            <a:r>
              <a:rPr lang="en-AU" dirty="0">
                <a:solidFill>
                  <a:srgbClr val="800000"/>
                </a:solidFill>
              </a:rPr>
              <a:t>Set number of ears</a:t>
            </a:r>
          </a:p>
        </p:txBody>
      </p:sp>
      <p:sp>
        <p:nvSpPr>
          <p:cNvPr id="6" name="TextBox 5"/>
          <p:cNvSpPr txBox="1"/>
          <p:nvPr/>
        </p:nvSpPr>
        <p:spPr>
          <a:xfrm>
            <a:off x="2823159" y="1718508"/>
            <a:ext cx="1520742" cy="1200329"/>
          </a:xfrm>
          <a:prstGeom prst="rect">
            <a:avLst/>
          </a:prstGeom>
          <a:solidFill>
            <a:schemeClr val="bg1"/>
          </a:solidFill>
        </p:spPr>
        <p:txBody>
          <a:bodyPr wrap="square" rtlCol="0">
            <a:spAutoFit/>
          </a:bodyPr>
          <a:lstStyle/>
          <a:p>
            <a:r>
              <a:rPr lang="en-AU" dirty="0">
                <a:solidFill>
                  <a:srgbClr val="800000"/>
                </a:solidFill>
              </a:rPr>
              <a:t>Set number of spikelets</a:t>
            </a:r>
          </a:p>
          <a:p>
            <a:r>
              <a:rPr lang="en-AU" dirty="0">
                <a:solidFill>
                  <a:srgbClr val="800000"/>
                </a:solidFill>
              </a:rPr>
              <a:t>(3-5 leaves on main stem)</a:t>
            </a:r>
          </a:p>
        </p:txBody>
      </p:sp>
      <p:cxnSp>
        <p:nvCxnSpPr>
          <p:cNvPr id="9" name="Straight Arrow Connector 8"/>
          <p:cNvCxnSpPr>
            <a:stCxn id="5" idx="2"/>
          </p:cNvCxnSpPr>
          <p:nvPr/>
        </p:nvCxnSpPr>
        <p:spPr>
          <a:xfrm>
            <a:off x="1155292" y="2478248"/>
            <a:ext cx="4288203" cy="2354548"/>
          </a:xfrm>
          <a:prstGeom prst="straightConnector1">
            <a:avLst/>
          </a:prstGeom>
          <a:ln w="15875">
            <a:solidFill>
              <a:srgbClr val="8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874034" y="2966230"/>
            <a:ext cx="9809" cy="183399"/>
          </a:xfrm>
          <a:prstGeom prst="straightConnector1">
            <a:avLst/>
          </a:prstGeom>
          <a:ln w="15875">
            <a:solidFill>
              <a:srgbClr val="80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A44C503-7925-4611-AF41-737B939A2A7B}"/>
              </a:ext>
            </a:extLst>
          </p:cNvPr>
          <p:cNvPicPr>
            <a:picLocks noChangeAspect="1"/>
          </p:cNvPicPr>
          <p:nvPr/>
        </p:nvPicPr>
        <p:blipFill>
          <a:blip r:embed="rId3"/>
          <a:stretch>
            <a:fillRect/>
          </a:stretch>
        </p:blipFill>
        <p:spPr>
          <a:xfrm flipH="1">
            <a:off x="467135" y="-3266"/>
            <a:ext cx="467496" cy="1908150"/>
          </a:xfrm>
          <a:prstGeom prst="rect">
            <a:avLst/>
          </a:prstGeom>
        </p:spPr>
      </p:pic>
      <p:pic>
        <p:nvPicPr>
          <p:cNvPr id="17" name="Picture 16">
            <a:extLst>
              <a:ext uri="{FF2B5EF4-FFF2-40B4-BE49-F238E27FC236}">
                <a16:creationId xmlns:a16="http://schemas.microsoft.com/office/drawing/2014/main" id="{2307CA17-CBA2-44E0-93F4-8938A708F04A}"/>
              </a:ext>
            </a:extLst>
          </p:cNvPr>
          <p:cNvPicPr>
            <a:picLocks noChangeAspect="1"/>
          </p:cNvPicPr>
          <p:nvPr/>
        </p:nvPicPr>
        <p:blipFill>
          <a:blip r:embed="rId4"/>
          <a:stretch>
            <a:fillRect/>
          </a:stretch>
        </p:blipFill>
        <p:spPr>
          <a:xfrm>
            <a:off x="3066249" y="193087"/>
            <a:ext cx="756309" cy="1563039"/>
          </a:xfrm>
          <a:prstGeom prst="rect">
            <a:avLst/>
          </a:prstGeom>
        </p:spPr>
      </p:pic>
    </p:spTree>
    <p:extLst>
      <p:ext uri="{BB962C8B-B14F-4D97-AF65-F5344CB8AC3E}">
        <p14:creationId xmlns:p14="http://schemas.microsoft.com/office/powerpoint/2010/main" val="1744552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2F9853-3A14-4E99-8BB3-317383538DC1}"/>
              </a:ext>
            </a:extLst>
          </p:cNvPr>
          <p:cNvSpPr txBox="1"/>
          <p:nvPr/>
        </p:nvSpPr>
        <p:spPr>
          <a:xfrm>
            <a:off x="211873" y="5663027"/>
            <a:ext cx="9065941" cy="923330"/>
          </a:xfrm>
          <a:prstGeom prst="rect">
            <a:avLst/>
          </a:prstGeom>
          <a:noFill/>
        </p:spPr>
        <p:txBody>
          <a:bodyPr wrap="square">
            <a:spAutoFit/>
          </a:bodyPr>
          <a:lstStyle/>
          <a:p>
            <a:r>
              <a:rPr lang="en-AU" b="0" i="0" dirty="0">
                <a:solidFill>
                  <a:srgbClr val="333333"/>
                </a:solidFill>
                <a:effectLst/>
                <a:latin typeface="-apple-system"/>
              </a:rPr>
              <a:t>Zhou, H., Riche, A.B., </a:t>
            </a:r>
            <a:r>
              <a:rPr lang="en-AU" b="0" i="0" dirty="0" err="1">
                <a:solidFill>
                  <a:srgbClr val="333333"/>
                </a:solidFill>
                <a:effectLst/>
                <a:latin typeface="-apple-system"/>
              </a:rPr>
              <a:t>Hawkesford</a:t>
            </a:r>
            <a:r>
              <a:rPr lang="en-AU" b="0" i="0" dirty="0">
                <a:solidFill>
                  <a:srgbClr val="333333"/>
                </a:solidFill>
                <a:effectLst/>
                <a:latin typeface="-apple-system"/>
              </a:rPr>
              <a:t>, M.J. </a:t>
            </a:r>
            <a:r>
              <a:rPr lang="en-AU" b="0" i="1" dirty="0">
                <a:solidFill>
                  <a:srgbClr val="333333"/>
                </a:solidFill>
                <a:effectLst/>
                <a:latin typeface="-apple-system"/>
              </a:rPr>
              <a:t>et al.</a:t>
            </a:r>
            <a:r>
              <a:rPr lang="en-AU" b="0" i="0" dirty="0">
                <a:solidFill>
                  <a:srgbClr val="333333"/>
                </a:solidFill>
                <a:effectLst/>
                <a:latin typeface="-apple-system"/>
              </a:rPr>
              <a:t> Determination of wheat spike and spikelet architecture and grain traits using X-ray Computed Tomography imaging. </a:t>
            </a:r>
            <a:r>
              <a:rPr lang="en-AU" b="0" i="1" dirty="0">
                <a:solidFill>
                  <a:srgbClr val="333333"/>
                </a:solidFill>
                <a:effectLst/>
                <a:latin typeface="-apple-system"/>
              </a:rPr>
              <a:t>Plant Methods</a:t>
            </a:r>
            <a:r>
              <a:rPr lang="en-AU" b="0" i="0" dirty="0">
                <a:solidFill>
                  <a:srgbClr val="333333"/>
                </a:solidFill>
                <a:effectLst/>
                <a:latin typeface="-apple-system"/>
              </a:rPr>
              <a:t> </a:t>
            </a:r>
            <a:r>
              <a:rPr lang="en-AU" b="1" i="0" dirty="0">
                <a:solidFill>
                  <a:srgbClr val="333333"/>
                </a:solidFill>
                <a:effectLst/>
                <a:latin typeface="-apple-system"/>
              </a:rPr>
              <a:t>17, </a:t>
            </a:r>
            <a:r>
              <a:rPr lang="en-AU" b="0" i="0" dirty="0">
                <a:solidFill>
                  <a:srgbClr val="333333"/>
                </a:solidFill>
                <a:effectLst/>
                <a:latin typeface="-apple-system"/>
              </a:rPr>
              <a:t>26 (2021). https://doi.org/10.1186/s13007-021-00726-5</a:t>
            </a:r>
            <a:endParaRPr lang="en-AU" dirty="0"/>
          </a:p>
        </p:txBody>
      </p:sp>
      <p:pic>
        <p:nvPicPr>
          <p:cNvPr id="4" name="Picture 3">
            <a:extLst>
              <a:ext uri="{FF2B5EF4-FFF2-40B4-BE49-F238E27FC236}">
                <a16:creationId xmlns:a16="http://schemas.microsoft.com/office/drawing/2014/main" id="{089A4DA3-DF64-4E6D-B2D9-250BE92F94EE}"/>
              </a:ext>
            </a:extLst>
          </p:cNvPr>
          <p:cNvPicPr>
            <a:picLocks noChangeAspect="1"/>
          </p:cNvPicPr>
          <p:nvPr/>
        </p:nvPicPr>
        <p:blipFill>
          <a:blip r:embed="rId2"/>
          <a:stretch>
            <a:fillRect/>
          </a:stretch>
        </p:blipFill>
        <p:spPr>
          <a:xfrm>
            <a:off x="3356517" y="92050"/>
            <a:ext cx="1907264" cy="5424555"/>
          </a:xfrm>
          <a:prstGeom prst="rect">
            <a:avLst/>
          </a:prstGeom>
        </p:spPr>
      </p:pic>
    </p:spTree>
    <p:extLst>
      <p:ext uri="{BB962C8B-B14F-4D97-AF65-F5344CB8AC3E}">
        <p14:creationId xmlns:p14="http://schemas.microsoft.com/office/powerpoint/2010/main" val="17802875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 y="2294522"/>
            <a:ext cx="8961120" cy="4436215"/>
          </a:xfrm>
          <a:prstGeom prst="rect">
            <a:avLst/>
          </a:prstGeom>
        </p:spPr>
      </p:pic>
      <p:sp>
        <p:nvSpPr>
          <p:cNvPr id="5" name="TextBox 4"/>
          <p:cNvSpPr txBox="1"/>
          <p:nvPr/>
        </p:nvSpPr>
        <p:spPr>
          <a:xfrm>
            <a:off x="467135" y="1831917"/>
            <a:ext cx="1376314" cy="646331"/>
          </a:xfrm>
          <a:prstGeom prst="rect">
            <a:avLst/>
          </a:prstGeom>
          <a:solidFill>
            <a:schemeClr val="bg1"/>
          </a:solidFill>
        </p:spPr>
        <p:txBody>
          <a:bodyPr wrap="square" rtlCol="0">
            <a:spAutoFit/>
          </a:bodyPr>
          <a:lstStyle/>
          <a:p>
            <a:r>
              <a:rPr lang="en-AU" dirty="0">
                <a:solidFill>
                  <a:srgbClr val="800000"/>
                </a:solidFill>
              </a:rPr>
              <a:t>Set number of ears</a:t>
            </a:r>
          </a:p>
        </p:txBody>
      </p:sp>
      <p:sp>
        <p:nvSpPr>
          <p:cNvPr id="6" name="TextBox 5"/>
          <p:cNvSpPr txBox="1"/>
          <p:nvPr/>
        </p:nvSpPr>
        <p:spPr>
          <a:xfrm>
            <a:off x="2823159" y="1718508"/>
            <a:ext cx="1520742" cy="1200329"/>
          </a:xfrm>
          <a:prstGeom prst="rect">
            <a:avLst/>
          </a:prstGeom>
          <a:solidFill>
            <a:schemeClr val="bg1"/>
          </a:solidFill>
        </p:spPr>
        <p:txBody>
          <a:bodyPr wrap="square" rtlCol="0">
            <a:spAutoFit/>
          </a:bodyPr>
          <a:lstStyle/>
          <a:p>
            <a:r>
              <a:rPr lang="en-AU" dirty="0">
                <a:solidFill>
                  <a:srgbClr val="800000"/>
                </a:solidFill>
              </a:rPr>
              <a:t>Set number of spikelets</a:t>
            </a:r>
          </a:p>
          <a:p>
            <a:r>
              <a:rPr lang="en-AU" dirty="0">
                <a:solidFill>
                  <a:srgbClr val="800000"/>
                </a:solidFill>
              </a:rPr>
              <a:t>(3-5 leaves on main stem)</a:t>
            </a:r>
          </a:p>
        </p:txBody>
      </p:sp>
      <p:sp>
        <p:nvSpPr>
          <p:cNvPr id="7" name="TextBox 6"/>
          <p:cNvSpPr txBox="1"/>
          <p:nvPr/>
        </p:nvSpPr>
        <p:spPr>
          <a:xfrm>
            <a:off x="5555404" y="1835072"/>
            <a:ext cx="1814974" cy="923330"/>
          </a:xfrm>
          <a:prstGeom prst="rect">
            <a:avLst/>
          </a:prstGeom>
          <a:solidFill>
            <a:schemeClr val="bg1"/>
          </a:solidFill>
        </p:spPr>
        <p:txBody>
          <a:bodyPr wrap="square" rtlCol="0">
            <a:spAutoFit/>
          </a:bodyPr>
          <a:lstStyle/>
          <a:p>
            <a:r>
              <a:rPr lang="en-AU" dirty="0">
                <a:solidFill>
                  <a:srgbClr val="800000"/>
                </a:solidFill>
              </a:rPr>
              <a:t>Set number of grains/spikelet</a:t>
            </a:r>
          </a:p>
          <a:p>
            <a:r>
              <a:rPr lang="en-AU" dirty="0">
                <a:solidFill>
                  <a:srgbClr val="800000"/>
                </a:solidFill>
              </a:rPr>
              <a:t>(Flowering)</a:t>
            </a:r>
          </a:p>
        </p:txBody>
      </p:sp>
      <p:cxnSp>
        <p:nvCxnSpPr>
          <p:cNvPr id="9" name="Straight Arrow Connector 8"/>
          <p:cNvCxnSpPr>
            <a:stCxn id="5" idx="2"/>
          </p:cNvCxnSpPr>
          <p:nvPr/>
        </p:nvCxnSpPr>
        <p:spPr>
          <a:xfrm>
            <a:off x="1155292" y="2478248"/>
            <a:ext cx="4288203" cy="2354548"/>
          </a:xfrm>
          <a:prstGeom prst="straightConnector1">
            <a:avLst/>
          </a:prstGeom>
          <a:ln w="15875">
            <a:solidFill>
              <a:srgbClr val="8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874034" y="2966230"/>
            <a:ext cx="9809" cy="183399"/>
          </a:xfrm>
          <a:prstGeom prst="straightConnector1">
            <a:avLst/>
          </a:prstGeom>
          <a:ln w="15875">
            <a:solidFill>
              <a:srgbClr val="8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45760" y="2758402"/>
            <a:ext cx="117131" cy="1752111"/>
          </a:xfrm>
          <a:prstGeom prst="straightConnector1">
            <a:avLst/>
          </a:prstGeom>
          <a:ln w="15875">
            <a:solidFill>
              <a:srgbClr val="80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643466" y="2064436"/>
            <a:ext cx="1814974" cy="369332"/>
          </a:xfrm>
          <a:prstGeom prst="rect">
            <a:avLst/>
          </a:prstGeom>
          <a:solidFill>
            <a:schemeClr val="bg1"/>
          </a:solidFill>
        </p:spPr>
        <p:txBody>
          <a:bodyPr wrap="square" rtlCol="0">
            <a:spAutoFit/>
          </a:bodyPr>
          <a:lstStyle/>
          <a:p>
            <a:r>
              <a:rPr lang="en-AU" dirty="0">
                <a:solidFill>
                  <a:srgbClr val="800000"/>
                </a:solidFill>
              </a:rPr>
              <a:t>Grain weight</a:t>
            </a:r>
          </a:p>
        </p:txBody>
      </p:sp>
      <p:cxnSp>
        <p:nvCxnSpPr>
          <p:cNvPr id="15" name="Straight Arrow Connector 14"/>
          <p:cNvCxnSpPr/>
          <p:nvPr/>
        </p:nvCxnSpPr>
        <p:spPr>
          <a:xfrm>
            <a:off x="8189643" y="2433768"/>
            <a:ext cx="79892" cy="715861"/>
          </a:xfrm>
          <a:prstGeom prst="straightConnector1">
            <a:avLst/>
          </a:prstGeom>
          <a:ln w="15875">
            <a:solidFill>
              <a:srgbClr val="80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A44C503-7925-4611-AF41-737B939A2A7B}"/>
              </a:ext>
            </a:extLst>
          </p:cNvPr>
          <p:cNvPicPr>
            <a:picLocks noChangeAspect="1"/>
          </p:cNvPicPr>
          <p:nvPr/>
        </p:nvPicPr>
        <p:blipFill>
          <a:blip r:embed="rId3"/>
          <a:stretch>
            <a:fillRect/>
          </a:stretch>
        </p:blipFill>
        <p:spPr>
          <a:xfrm flipH="1">
            <a:off x="467135" y="-3266"/>
            <a:ext cx="467496" cy="1908150"/>
          </a:xfrm>
          <a:prstGeom prst="rect">
            <a:avLst/>
          </a:prstGeom>
        </p:spPr>
      </p:pic>
      <p:pic>
        <p:nvPicPr>
          <p:cNvPr id="13" name="Picture 12">
            <a:extLst>
              <a:ext uri="{FF2B5EF4-FFF2-40B4-BE49-F238E27FC236}">
                <a16:creationId xmlns:a16="http://schemas.microsoft.com/office/drawing/2014/main" id="{9D823274-3348-4382-9E83-8D656FD91BCE}"/>
              </a:ext>
            </a:extLst>
          </p:cNvPr>
          <p:cNvPicPr>
            <a:picLocks noChangeAspect="1"/>
          </p:cNvPicPr>
          <p:nvPr/>
        </p:nvPicPr>
        <p:blipFill>
          <a:blip r:embed="rId4"/>
          <a:stretch>
            <a:fillRect/>
          </a:stretch>
        </p:blipFill>
        <p:spPr>
          <a:xfrm>
            <a:off x="5699597" y="162832"/>
            <a:ext cx="957355" cy="1575953"/>
          </a:xfrm>
          <a:prstGeom prst="rect">
            <a:avLst/>
          </a:prstGeom>
        </p:spPr>
      </p:pic>
      <p:pic>
        <p:nvPicPr>
          <p:cNvPr id="17" name="Picture 16">
            <a:extLst>
              <a:ext uri="{FF2B5EF4-FFF2-40B4-BE49-F238E27FC236}">
                <a16:creationId xmlns:a16="http://schemas.microsoft.com/office/drawing/2014/main" id="{2307CA17-CBA2-44E0-93F4-8938A708F04A}"/>
              </a:ext>
            </a:extLst>
          </p:cNvPr>
          <p:cNvPicPr>
            <a:picLocks noChangeAspect="1"/>
          </p:cNvPicPr>
          <p:nvPr/>
        </p:nvPicPr>
        <p:blipFill>
          <a:blip r:embed="rId5"/>
          <a:stretch>
            <a:fillRect/>
          </a:stretch>
        </p:blipFill>
        <p:spPr>
          <a:xfrm>
            <a:off x="3066249" y="193087"/>
            <a:ext cx="756309" cy="1563039"/>
          </a:xfrm>
          <a:prstGeom prst="rect">
            <a:avLst/>
          </a:prstGeom>
        </p:spPr>
      </p:pic>
      <p:pic>
        <p:nvPicPr>
          <p:cNvPr id="19" name="Picture 18">
            <a:extLst>
              <a:ext uri="{FF2B5EF4-FFF2-40B4-BE49-F238E27FC236}">
                <a16:creationId xmlns:a16="http://schemas.microsoft.com/office/drawing/2014/main" id="{9253821C-1509-4666-BBE2-9B88A2BF8CCB}"/>
              </a:ext>
            </a:extLst>
          </p:cNvPr>
          <p:cNvPicPr>
            <a:picLocks noChangeAspect="1"/>
          </p:cNvPicPr>
          <p:nvPr/>
        </p:nvPicPr>
        <p:blipFill>
          <a:blip r:embed="rId6"/>
          <a:stretch>
            <a:fillRect/>
          </a:stretch>
        </p:blipFill>
        <p:spPr>
          <a:xfrm>
            <a:off x="7270480" y="265008"/>
            <a:ext cx="1838325" cy="1371600"/>
          </a:xfrm>
          <a:prstGeom prst="rect">
            <a:avLst/>
          </a:prstGeom>
        </p:spPr>
      </p:pic>
    </p:spTree>
    <p:extLst>
      <p:ext uri="{BB962C8B-B14F-4D97-AF65-F5344CB8AC3E}">
        <p14:creationId xmlns:p14="http://schemas.microsoft.com/office/powerpoint/2010/main" val="12186114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1" y="82960"/>
            <a:ext cx="4032504" cy="3785652"/>
          </a:xfrm>
          <a:prstGeom prst="rect">
            <a:avLst/>
          </a:prstGeom>
          <a:noFill/>
        </p:spPr>
        <p:txBody>
          <a:bodyPr wrap="square" rtlCol="0">
            <a:spAutoFit/>
          </a:bodyPr>
          <a:lstStyle/>
          <a:p>
            <a:r>
              <a:rPr lang="en-AU" sz="4000" b="1" dirty="0"/>
              <a:t>Cereal growth stages:</a:t>
            </a:r>
          </a:p>
          <a:p>
            <a:r>
              <a:rPr lang="en-AU" sz="4000" b="1" dirty="0"/>
              <a:t>The Wheat Book: Principles and Practice</a:t>
            </a:r>
          </a:p>
          <a:p>
            <a:r>
              <a:rPr lang="en-AU" sz="4000" b="1" dirty="0"/>
              <a:t>(DAFWA/GRDC)</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8378" y="472440"/>
            <a:ext cx="4472940" cy="6278880"/>
          </a:xfrm>
          <a:prstGeom prst="rect">
            <a:avLst/>
          </a:prstGeom>
        </p:spPr>
      </p:pic>
      <p:sp>
        <p:nvSpPr>
          <p:cNvPr id="5" name="TextBox 4"/>
          <p:cNvSpPr txBox="1"/>
          <p:nvPr/>
        </p:nvSpPr>
        <p:spPr>
          <a:xfrm>
            <a:off x="371475" y="4171950"/>
            <a:ext cx="3981450" cy="646331"/>
          </a:xfrm>
          <a:prstGeom prst="rect">
            <a:avLst/>
          </a:prstGeom>
          <a:noFill/>
        </p:spPr>
        <p:txBody>
          <a:bodyPr wrap="square" rtlCol="0">
            <a:spAutoFit/>
          </a:bodyPr>
          <a:lstStyle/>
          <a:p>
            <a:r>
              <a:rPr lang="en-AU" dirty="0">
                <a:hlinkClick r:id="rId3"/>
              </a:rPr>
              <a:t>https://www.agric.wa.gov.au/wheat/wheat-book-principles-and-practice</a:t>
            </a:r>
            <a:r>
              <a:rPr lang="en-AU" dirty="0"/>
              <a:t> </a:t>
            </a:r>
          </a:p>
        </p:txBody>
      </p:sp>
    </p:spTree>
    <p:extLst>
      <p:ext uri="{BB962C8B-B14F-4D97-AF65-F5344CB8AC3E}">
        <p14:creationId xmlns:p14="http://schemas.microsoft.com/office/powerpoint/2010/main" val="42614259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ABC915A-90D3-45DE-A3EC-934BE08302A7}"/>
              </a:ext>
            </a:extLst>
          </p:cNvPr>
          <p:cNvPicPr>
            <a:picLocks noChangeAspect="1"/>
          </p:cNvPicPr>
          <p:nvPr/>
        </p:nvPicPr>
        <p:blipFill>
          <a:blip r:embed="rId2"/>
          <a:stretch>
            <a:fillRect/>
          </a:stretch>
        </p:blipFill>
        <p:spPr>
          <a:xfrm>
            <a:off x="883227" y="-60241"/>
            <a:ext cx="7122535" cy="6737266"/>
          </a:xfrm>
          <a:prstGeom prst="rect">
            <a:avLst/>
          </a:prstGeom>
        </p:spPr>
      </p:pic>
    </p:spTree>
    <p:extLst>
      <p:ext uri="{BB962C8B-B14F-4D97-AF65-F5344CB8AC3E}">
        <p14:creationId xmlns:p14="http://schemas.microsoft.com/office/powerpoint/2010/main" val="30298679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E4FE67-8D8E-4F3B-BBA4-66F079A3ACFB}"/>
              </a:ext>
            </a:extLst>
          </p:cNvPr>
          <p:cNvPicPr>
            <a:picLocks noChangeAspect="1"/>
          </p:cNvPicPr>
          <p:nvPr/>
        </p:nvPicPr>
        <p:blipFill>
          <a:blip r:embed="rId2"/>
          <a:stretch>
            <a:fillRect/>
          </a:stretch>
        </p:blipFill>
        <p:spPr>
          <a:xfrm>
            <a:off x="676275" y="790575"/>
            <a:ext cx="7791450" cy="5276850"/>
          </a:xfrm>
          <a:prstGeom prst="rect">
            <a:avLst/>
          </a:prstGeom>
        </p:spPr>
      </p:pic>
    </p:spTree>
    <p:extLst>
      <p:ext uri="{BB962C8B-B14F-4D97-AF65-F5344CB8AC3E}">
        <p14:creationId xmlns:p14="http://schemas.microsoft.com/office/powerpoint/2010/main" val="34421194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6882" y="571191"/>
            <a:ext cx="8450061" cy="1523494"/>
          </a:xfrm>
          <a:prstGeom prst="rect">
            <a:avLst/>
          </a:prstGeom>
          <a:noFill/>
        </p:spPr>
        <p:txBody>
          <a:bodyPr wrap="square" rtlCol="0">
            <a:spAutoFit/>
          </a:bodyPr>
          <a:lstStyle/>
          <a:p>
            <a:pPr>
              <a:spcAft>
                <a:spcPts val="600"/>
              </a:spcAft>
            </a:pPr>
            <a:r>
              <a:rPr lang="en-AU" sz="3200" b="1" dirty="0"/>
              <a:t>Canopy Management</a:t>
            </a:r>
          </a:p>
          <a:p>
            <a:pPr>
              <a:spcAft>
                <a:spcPts val="600"/>
              </a:spcAft>
            </a:pPr>
            <a:r>
              <a:rPr lang="en-AU" sz="2800" dirty="0"/>
              <a:t>Management of the green surface area of the crop canopy in order to optimise crop yield and inputs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882" y="2338162"/>
            <a:ext cx="7688580" cy="4236720"/>
          </a:xfrm>
          <a:prstGeom prst="rect">
            <a:avLst/>
          </a:prstGeom>
        </p:spPr>
      </p:pic>
    </p:spTree>
    <p:extLst>
      <p:ext uri="{BB962C8B-B14F-4D97-AF65-F5344CB8AC3E}">
        <p14:creationId xmlns:p14="http://schemas.microsoft.com/office/powerpoint/2010/main" val="14055457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6443" y="523220"/>
            <a:ext cx="7601041" cy="2904996"/>
          </a:xfrm>
          <a:prstGeom prst="rect">
            <a:avLst/>
          </a:prstGeom>
        </p:spPr>
      </p:pic>
      <p:sp>
        <p:nvSpPr>
          <p:cNvPr id="3" name="TextBox 2"/>
          <p:cNvSpPr txBox="1"/>
          <p:nvPr/>
        </p:nvSpPr>
        <p:spPr>
          <a:xfrm>
            <a:off x="0" y="0"/>
            <a:ext cx="3037242" cy="523220"/>
          </a:xfrm>
          <a:prstGeom prst="rect">
            <a:avLst/>
          </a:prstGeom>
          <a:noFill/>
        </p:spPr>
        <p:txBody>
          <a:bodyPr wrap="none" rtlCol="0">
            <a:spAutoFit/>
          </a:bodyPr>
          <a:lstStyle/>
          <a:p>
            <a:r>
              <a:rPr lang="en-AU" sz="2800" b="1" dirty="0"/>
              <a:t>N Uptake by wheat</a:t>
            </a:r>
          </a:p>
        </p:txBody>
      </p:sp>
      <p:pic>
        <p:nvPicPr>
          <p:cNvPr id="4" name="Picture 3"/>
          <p:cNvPicPr>
            <a:picLocks noChangeAspect="1"/>
          </p:cNvPicPr>
          <p:nvPr/>
        </p:nvPicPr>
        <p:blipFill>
          <a:blip r:embed="rId3"/>
          <a:stretch>
            <a:fillRect/>
          </a:stretch>
        </p:blipFill>
        <p:spPr>
          <a:xfrm>
            <a:off x="469796" y="3006835"/>
            <a:ext cx="8310409" cy="3851165"/>
          </a:xfrm>
          <a:prstGeom prst="rect">
            <a:avLst/>
          </a:prstGeom>
        </p:spPr>
      </p:pic>
      <p:pic>
        <p:nvPicPr>
          <p:cNvPr id="5" name="Picture 4"/>
          <p:cNvPicPr>
            <a:picLocks noChangeAspect="1"/>
          </p:cNvPicPr>
          <p:nvPr/>
        </p:nvPicPr>
        <p:blipFill>
          <a:blip r:embed="rId4"/>
          <a:stretch>
            <a:fillRect/>
          </a:stretch>
        </p:blipFill>
        <p:spPr>
          <a:xfrm>
            <a:off x="7428885" y="0"/>
            <a:ext cx="1715115" cy="1560947"/>
          </a:xfrm>
          <a:prstGeom prst="rect">
            <a:avLst/>
          </a:prstGeom>
        </p:spPr>
      </p:pic>
    </p:spTree>
    <p:extLst>
      <p:ext uri="{BB962C8B-B14F-4D97-AF65-F5344CB8AC3E}">
        <p14:creationId xmlns:p14="http://schemas.microsoft.com/office/powerpoint/2010/main" val="5315025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2967" y="356339"/>
            <a:ext cx="5590185" cy="1938992"/>
          </a:xfrm>
          <a:prstGeom prst="rect">
            <a:avLst/>
          </a:prstGeom>
          <a:noFill/>
        </p:spPr>
        <p:txBody>
          <a:bodyPr wrap="none" rtlCol="0">
            <a:spAutoFit/>
          </a:bodyPr>
          <a:lstStyle/>
          <a:p>
            <a:r>
              <a:rPr lang="en-AU" sz="4000" b="1" dirty="0"/>
              <a:t>Cereal growth stages</a:t>
            </a:r>
          </a:p>
          <a:p>
            <a:endParaRPr lang="en-AU" sz="4000" b="1" dirty="0"/>
          </a:p>
          <a:p>
            <a:r>
              <a:rPr lang="en-AU" sz="4000" b="1" dirty="0"/>
              <a:t>     Why is this important?</a:t>
            </a:r>
          </a:p>
        </p:txBody>
      </p:sp>
      <p:sp>
        <p:nvSpPr>
          <p:cNvPr id="2" name="TextBox 1"/>
          <p:cNvSpPr txBox="1"/>
          <p:nvPr/>
        </p:nvSpPr>
        <p:spPr>
          <a:xfrm>
            <a:off x="157317" y="2439882"/>
            <a:ext cx="8986683" cy="2554545"/>
          </a:xfrm>
          <a:prstGeom prst="rect">
            <a:avLst/>
          </a:prstGeom>
          <a:noFill/>
        </p:spPr>
        <p:txBody>
          <a:bodyPr wrap="square" rtlCol="0">
            <a:spAutoFit/>
          </a:bodyPr>
          <a:lstStyle/>
          <a:p>
            <a:pPr marL="571500" indent="-571500">
              <a:buFont typeface="Arial" panose="020B0604020202020204" pitchFamily="34" charset="0"/>
              <a:buChar char="•"/>
            </a:pPr>
            <a:r>
              <a:rPr lang="en-AU" sz="4000" dirty="0"/>
              <a:t>Management by growth stages is critical to optimise returns from inputs such as nitrogen fertiliser, herbicides (in some cases), fungicides, irrigation</a:t>
            </a:r>
          </a:p>
        </p:txBody>
      </p:sp>
    </p:spTree>
    <p:extLst>
      <p:ext uri="{BB962C8B-B14F-4D97-AF65-F5344CB8AC3E}">
        <p14:creationId xmlns:p14="http://schemas.microsoft.com/office/powerpoint/2010/main" val="2037639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4747</TotalTime>
  <Words>1494</Words>
  <Application>Microsoft Office PowerPoint</Application>
  <PresentationFormat>On-screen Show (4:3)</PresentationFormat>
  <Paragraphs>150</Paragraphs>
  <Slides>48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-apple-system</vt:lpstr>
      <vt:lpstr>Arial</vt:lpstr>
      <vt:lpstr>Calibri</vt:lpstr>
      <vt:lpstr>Calibri Light</vt:lpstr>
      <vt:lpstr>Roboto</vt:lpstr>
      <vt:lpstr>Office Theme</vt:lpstr>
      <vt:lpstr>PowerPoint Presentation</vt:lpstr>
      <vt:lpstr>PowerPoint Presentation</vt:lpstr>
      <vt:lpstr>PowerPoint Presentation</vt:lpstr>
      <vt:lpstr>G = genetics: 🌾 </vt:lpstr>
      <vt:lpstr>PowerPoint Presentation</vt:lpstr>
      <vt:lpstr>E = environment:  What are the drivers of crop development?</vt:lpstr>
      <vt:lpstr>M =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points:</vt:lpstr>
      <vt:lpstr>Key points: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Flower</dc:creator>
  <cp:lastModifiedBy>Ken Flower</cp:lastModifiedBy>
  <cp:revision>85</cp:revision>
  <dcterms:created xsi:type="dcterms:W3CDTF">2015-08-04T09:37:29Z</dcterms:created>
  <dcterms:modified xsi:type="dcterms:W3CDTF">2023-08-14T05:31:02Z</dcterms:modified>
</cp:coreProperties>
</file>