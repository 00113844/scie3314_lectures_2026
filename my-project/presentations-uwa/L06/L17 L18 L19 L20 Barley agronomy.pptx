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67"/>
  </p:notesMasterIdLst>
  <p:handoutMasterIdLst>
    <p:handoutMasterId r:id="rId68"/>
  </p:handoutMasterIdLst>
  <p:sldIdLst>
    <p:sldId id="264" r:id="rId2"/>
    <p:sldId id="386" r:id="rId3"/>
    <p:sldId id="332" r:id="rId4"/>
    <p:sldId id="392" r:id="rId5"/>
    <p:sldId id="367" r:id="rId6"/>
    <p:sldId id="383" r:id="rId7"/>
    <p:sldId id="378" r:id="rId8"/>
    <p:sldId id="379" r:id="rId9"/>
    <p:sldId id="390" r:id="rId10"/>
    <p:sldId id="380" r:id="rId11"/>
    <p:sldId id="381" r:id="rId12"/>
    <p:sldId id="388" r:id="rId13"/>
    <p:sldId id="256" r:id="rId14"/>
    <p:sldId id="382" r:id="rId15"/>
    <p:sldId id="349" r:id="rId16"/>
    <p:sldId id="331" r:id="rId17"/>
    <p:sldId id="368" r:id="rId18"/>
    <p:sldId id="360" r:id="rId19"/>
    <p:sldId id="356" r:id="rId20"/>
    <p:sldId id="362" r:id="rId21"/>
    <p:sldId id="391" r:id="rId22"/>
    <p:sldId id="394" r:id="rId23"/>
    <p:sldId id="330" r:id="rId24"/>
    <p:sldId id="374" r:id="rId25"/>
    <p:sldId id="329" r:id="rId26"/>
    <p:sldId id="285" r:id="rId27"/>
    <p:sldId id="286" r:id="rId28"/>
    <p:sldId id="393" r:id="rId29"/>
    <p:sldId id="262" r:id="rId30"/>
    <p:sldId id="263" r:id="rId31"/>
    <p:sldId id="260" r:id="rId32"/>
    <p:sldId id="384" r:id="rId33"/>
    <p:sldId id="385" r:id="rId34"/>
    <p:sldId id="272" r:id="rId35"/>
    <p:sldId id="273" r:id="rId36"/>
    <p:sldId id="335" r:id="rId37"/>
    <p:sldId id="274" r:id="rId38"/>
    <p:sldId id="257" r:id="rId39"/>
    <p:sldId id="259" r:id="rId40"/>
    <p:sldId id="336" r:id="rId41"/>
    <p:sldId id="345" r:id="rId42"/>
    <p:sldId id="338" r:id="rId43"/>
    <p:sldId id="298" r:id="rId44"/>
    <p:sldId id="346" r:id="rId45"/>
    <p:sldId id="395" r:id="rId46"/>
    <p:sldId id="275" r:id="rId47"/>
    <p:sldId id="276" r:id="rId48"/>
    <p:sldId id="277" r:id="rId49"/>
    <p:sldId id="288" r:id="rId50"/>
    <p:sldId id="290" r:id="rId51"/>
    <p:sldId id="295" r:id="rId52"/>
    <p:sldId id="296" r:id="rId53"/>
    <p:sldId id="320" r:id="rId54"/>
    <p:sldId id="292" r:id="rId55"/>
    <p:sldId id="289" r:id="rId56"/>
    <p:sldId id="278" r:id="rId57"/>
    <p:sldId id="279" r:id="rId58"/>
    <p:sldId id="280" r:id="rId59"/>
    <p:sldId id="281" r:id="rId60"/>
    <p:sldId id="308" r:id="rId61"/>
    <p:sldId id="309" r:id="rId62"/>
    <p:sldId id="303" r:id="rId63"/>
    <p:sldId id="313" r:id="rId64"/>
    <p:sldId id="312" r:id="rId65"/>
    <p:sldId id="300" r:id="rId6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6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336699"/>
    <a:srgbClr val="FFFF00"/>
    <a:srgbClr val="5D1D1D"/>
    <a:srgbClr val="CCFF66"/>
    <a:srgbClr val="CC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BC3FE3-AD26-4BC5-9D05-6F1948D260F6}" v="6" dt="2024-08-19T04:58:11.9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81556" autoAdjust="0"/>
  </p:normalViewPr>
  <p:slideViewPr>
    <p:cSldViewPr>
      <p:cViewPr>
        <p:scale>
          <a:sx n="125" d="100"/>
          <a:sy n="125" d="100"/>
        </p:scale>
        <p:origin x="1194" y="-1194"/>
      </p:cViewPr>
      <p:guideLst>
        <p:guide orient="horz" pos="2160"/>
        <p:guide pos="68"/>
      </p:guideLst>
    </p:cSldViewPr>
  </p:slideViewPr>
  <p:notesTextViewPr>
    <p:cViewPr>
      <p:scale>
        <a:sx n="3" d="2"/>
        <a:sy n="3" d="2"/>
      </p:scale>
      <p:origin x="0" y="0"/>
    </p:cViewPr>
  </p:notesTextViewPr>
  <p:sorterViewPr>
    <p:cViewPr varScale="1">
      <p:scale>
        <a:sx n="1" d="1"/>
        <a:sy n="1" d="1"/>
      </p:scale>
      <p:origin x="0" y="0"/>
    </p:cViewPr>
  </p:sorterViewPr>
  <p:notesViewPr>
    <p:cSldViewPr>
      <p:cViewPr varScale="1">
        <p:scale>
          <a:sx n="51" d="100"/>
          <a:sy n="51" d="100"/>
        </p:scale>
        <p:origin x="2624" y="40"/>
      </p:cViewPr>
      <p:guideLst/>
    </p:cSldViewPr>
  </p:notesViewPr>
  <p:gridSpacing cx="72010" cy="7201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stavo Alckmin" userId="6e211116-a022-4d6f-80f5-afd27f6c442f" providerId="ADAL" clId="{4ABC3FE3-AD26-4BC5-9D05-6F1948D260F6}"/>
    <pc:docChg chg="undo custSel addSld delSld modSld sldOrd">
      <pc:chgData name="Gustavo Alckmin" userId="6e211116-a022-4d6f-80f5-afd27f6c442f" providerId="ADAL" clId="{4ABC3FE3-AD26-4BC5-9D05-6F1948D260F6}" dt="2024-08-19T05:21:35.905" v="385" actId="1076"/>
      <pc:docMkLst>
        <pc:docMk/>
      </pc:docMkLst>
      <pc:sldChg chg="ord">
        <pc:chgData name="Gustavo Alckmin" userId="6e211116-a022-4d6f-80f5-afd27f6c442f" providerId="ADAL" clId="{4ABC3FE3-AD26-4BC5-9D05-6F1948D260F6}" dt="2024-08-19T05:03:09.752" v="380"/>
        <pc:sldMkLst>
          <pc:docMk/>
          <pc:sldMk cId="0" sldId="256"/>
        </pc:sldMkLst>
      </pc:sldChg>
      <pc:sldChg chg="addSp modSp mod">
        <pc:chgData name="Gustavo Alckmin" userId="6e211116-a022-4d6f-80f5-afd27f6c442f" providerId="ADAL" clId="{4ABC3FE3-AD26-4BC5-9D05-6F1948D260F6}" dt="2024-08-19T02:06:53.385" v="51" actId="14100"/>
        <pc:sldMkLst>
          <pc:docMk/>
          <pc:sldMk cId="0" sldId="257"/>
        </pc:sldMkLst>
        <pc:spChg chg="add mod">
          <ac:chgData name="Gustavo Alckmin" userId="6e211116-a022-4d6f-80f5-afd27f6c442f" providerId="ADAL" clId="{4ABC3FE3-AD26-4BC5-9D05-6F1948D260F6}" dt="2024-08-19T02:06:53.385" v="51" actId="14100"/>
          <ac:spMkLst>
            <pc:docMk/>
            <pc:sldMk cId="0" sldId="257"/>
            <ac:spMk id="5" creationId="{5F6E8D7D-30F2-553F-3CA9-C891651199F7}"/>
          </ac:spMkLst>
        </pc:spChg>
        <pc:picChg chg="mod">
          <ac:chgData name="Gustavo Alckmin" userId="6e211116-a022-4d6f-80f5-afd27f6c442f" providerId="ADAL" clId="{4ABC3FE3-AD26-4BC5-9D05-6F1948D260F6}" dt="2024-08-19T02:05:57.736" v="26" actId="1076"/>
          <ac:picMkLst>
            <pc:docMk/>
            <pc:sldMk cId="0" sldId="257"/>
            <ac:picMk id="5131" creationId="{00000000-0000-0000-0000-000000000000}"/>
          </ac:picMkLst>
        </pc:picChg>
      </pc:sldChg>
      <pc:sldChg chg="addSp delSp modSp mod">
        <pc:chgData name="Gustavo Alckmin" userId="6e211116-a022-4d6f-80f5-afd27f6c442f" providerId="ADAL" clId="{4ABC3FE3-AD26-4BC5-9D05-6F1948D260F6}" dt="2024-08-19T05:21:35.905" v="385" actId="1076"/>
        <pc:sldMkLst>
          <pc:docMk/>
          <pc:sldMk cId="0" sldId="290"/>
        </pc:sldMkLst>
        <pc:spChg chg="add mod">
          <ac:chgData name="Gustavo Alckmin" userId="6e211116-a022-4d6f-80f5-afd27f6c442f" providerId="ADAL" clId="{4ABC3FE3-AD26-4BC5-9D05-6F1948D260F6}" dt="2024-08-19T05:21:22.825" v="381" actId="478"/>
          <ac:spMkLst>
            <pc:docMk/>
            <pc:sldMk cId="0" sldId="290"/>
            <ac:spMk id="3" creationId="{5FA9C6B0-B9A9-5A98-620D-D10F5D6BA1E1}"/>
          </ac:spMkLst>
        </pc:spChg>
        <pc:picChg chg="add mod">
          <ac:chgData name="Gustavo Alckmin" userId="6e211116-a022-4d6f-80f5-afd27f6c442f" providerId="ADAL" clId="{4ABC3FE3-AD26-4BC5-9D05-6F1948D260F6}" dt="2024-08-19T05:21:35.905" v="385" actId="1076"/>
          <ac:picMkLst>
            <pc:docMk/>
            <pc:sldMk cId="0" sldId="290"/>
            <ac:picMk id="5" creationId="{E5099815-AF73-6619-1861-C7B52AA75AC8}"/>
          </ac:picMkLst>
        </pc:picChg>
        <pc:picChg chg="del">
          <ac:chgData name="Gustavo Alckmin" userId="6e211116-a022-4d6f-80f5-afd27f6c442f" providerId="ADAL" clId="{4ABC3FE3-AD26-4BC5-9D05-6F1948D260F6}" dt="2024-08-19T05:21:22.825" v="381" actId="478"/>
          <ac:picMkLst>
            <pc:docMk/>
            <pc:sldMk cId="0" sldId="290"/>
            <ac:picMk id="53270" creationId="{00000000-0000-0000-0000-000000000000}"/>
          </ac:picMkLst>
        </pc:picChg>
      </pc:sldChg>
      <pc:sldChg chg="modSp mod">
        <pc:chgData name="Gustavo Alckmin" userId="6e211116-a022-4d6f-80f5-afd27f6c442f" providerId="ADAL" clId="{4ABC3FE3-AD26-4BC5-9D05-6F1948D260F6}" dt="2024-08-19T02:33:09.902" v="52" actId="6549"/>
        <pc:sldMkLst>
          <pc:docMk/>
          <pc:sldMk cId="0" sldId="298"/>
        </pc:sldMkLst>
        <pc:spChg chg="mod">
          <ac:chgData name="Gustavo Alckmin" userId="6e211116-a022-4d6f-80f5-afd27f6c442f" providerId="ADAL" clId="{4ABC3FE3-AD26-4BC5-9D05-6F1948D260F6}" dt="2024-08-19T02:33:09.902" v="52" actId="6549"/>
          <ac:spMkLst>
            <pc:docMk/>
            <pc:sldMk cId="0" sldId="298"/>
            <ac:spMk id="66563" creationId="{00000000-0000-0000-0000-000000000000}"/>
          </ac:spMkLst>
        </pc:spChg>
      </pc:sldChg>
      <pc:sldChg chg="del">
        <pc:chgData name="Gustavo Alckmin" userId="6e211116-a022-4d6f-80f5-afd27f6c442f" providerId="ADAL" clId="{4ABC3FE3-AD26-4BC5-9D05-6F1948D260F6}" dt="2024-08-19T03:23:14.529" v="53" actId="2696"/>
        <pc:sldMkLst>
          <pc:docMk/>
          <pc:sldMk cId="0" sldId="300"/>
        </pc:sldMkLst>
      </pc:sldChg>
      <pc:sldChg chg="add">
        <pc:chgData name="Gustavo Alckmin" userId="6e211116-a022-4d6f-80f5-afd27f6c442f" providerId="ADAL" clId="{4ABC3FE3-AD26-4BC5-9D05-6F1948D260F6}" dt="2024-08-19T03:23:17.550" v="54"/>
        <pc:sldMkLst>
          <pc:docMk/>
          <pc:sldMk cId="416071692" sldId="300"/>
        </pc:sldMkLst>
      </pc:sldChg>
      <pc:sldChg chg="addSp delSp modSp mod modNotesTx">
        <pc:chgData name="Gustavo Alckmin" userId="6e211116-a022-4d6f-80f5-afd27f6c442f" providerId="ADAL" clId="{4ABC3FE3-AD26-4BC5-9D05-6F1948D260F6}" dt="2024-08-19T04:49:08.622" v="357" actId="1076"/>
        <pc:sldMkLst>
          <pc:docMk/>
          <pc:sldMk cId="4144350383" sldId="379"/>
        </pc:sldMkLst>
        <pc:spChg chg="add del mod">
          <ac:chgData name="Gustavo Alckmin" userId="6e211116-a022-4d6f-80f5-afd27f6c442f" providerId="ADAL" clId="{4ABC3FE3-AD26-4BC5-9D05-6F1948D260F6}" dt="2024-08-19T04:46:53.292" v="275" actId="21"/>
          <ac:spMkLst>
            <pc:docMk/>
            <pc:sldMk cId="4144350383" sldId="379"/>
            <ac:spMk id="4" creationId="{5D8A1309-41F6-0153-7914-945BF69D0D95}"/>
          </ac:spMkLst>
        </pc:spChg>
        <pc:picChg chg="mod">
          <ac:chgData name="Gustavo Alckmin" userId="6e211116-a022-4d6f-80f5-afd27f6c442f" providerId="ADAL" clId="{4ABC3FE3-AD26-4BC5-9D05-6F1948D260F6}" dt="2024-08-19T04:49:08.622" v="357" actId="1076"/>
          <ac:picMkLst>
            <pc:docMk/>
            <pc:sldMk cId="4144350383" sldId="379"/>
            <ac:picMk id="5" creationId="{98732818-B497-1CCE-4A10-3AF0E0F453FD}"/>
          </ac:picMkLst>
        </pc:picChg>
      </pc:sldChg>
      <pc:sldChg chg="addSp delSp modSp mod">
        <pc:chgData name="Gustavo Alckmin" userId="6e211116-a022-4d6f-80f5-afd27f6c442f" providerId="ADAL" clId="{4ABC3FE3-AD26-4BC5-9D05-6F1948D260F6}" dt="2024-08-19T04:44:13.731" v="266" actId="732"/>
        <pc:sldMkLst>
          <pc:docMk/>
          <pc:sldMk cId="2123222260" sldId="380"/>
        </pc:sldMkLst>
        <pc:spChg chg="mod">
          <ac:chgData name="Gustavo Alckmin" userId="6e211116-a022-4d6f-80f5-afd27f6c442f" providerId="ADAL" clId="{4ABC3FE3-AD26-4BC5-9D05-6F1948D260F6}" dt="2024-08-19T04:22:43.613" v="70" actId="404"/>
          <ac:spMkLst>
            <pc:docMk/>
            <pc:sldMk cId="2123222260" sldId="380"/>
            <ac:spMk id="134147" creationId="{00000000-0000-0000-0000-000000000000}"/>
          </ac:spMkLst>
        </pc:spChg>
        <pc:picChg chg="add del mod">
          <ac:chgData name="Gustavo Alckmin" userId="6e211116-a022-4d6f-80f5-afd27f6c442f" providerId="ADAL" clId="{4ABC3FE3-AD26-4BC5-9D05-6F1948D260F6}" dt="2024-08-19T04:43:32.492" v="263" actId="478"/>
          <ac:picMkLst>
            <pc:docMk/>
            <pc:sldMk cId="2123222260" sldId="380"/>
            <ac:picMk id="3" creationId="{A260D0F6-7ACE-3A2A-E957-FF2E5C7C3148}"/>
          </ac:picMkLst>
        </pc:picChg>
        <pc:picChg chg="add mod modCrop">
          <ac:chgData name="Gustavo Alckmin" userId="6e211116-a022-4d6f-80f5-afd27f6c442f" providerId="ADAL" clId="{4ABC3FE3-AD26-4BC5-9D05-6F1948D260F6}" dt="2024-08-19T04:44:13.731" v="266" actId="732"/>
          <ac:picMkLst>
            <pc:docMk/>
            <pc:sldMk cId="2123222260" sldId="380"/>
            <ac:picMk id="5" creationId="{F32591C6-BCED-CCDC-CB64-DB0939089C6A}"/>
          </ac:picMkLst>
        </pc:picChg>
      </pc:sldChg>
      <pc:sldChg chg="modSp mod">
        <pc:chgData name="Gustavo Alckmin" userId="6e211116-a022-4d6f-80f5-afd27f6c442f" providerId="ADAL" clId="{4ABC3FE3-AD26-4BC5-9D05-6F1948D260F6}" dt="2024-08-19T01:04:04.260" v="24" actId="207"/>
        <pc:sldMkLst>
          <pc:docMk/>
          <pc:sldMk cId="22968023" sldId="381"/>
        </pc:sldMkLst>
        <pc:spChg chg="mod">
          <ac:chgData name="Gustavo Alckmin" userId="6e211116-a022-4d6f-80f5-afd27f6c442f" providerId="ADAL" clId="{4ABC3FE3-AD26-4BC5-9D05-6F1948D260F6}" dt="2024-08-19T01:04:04.260" v="24" actId="207"/>
          <ac:spMkLst>
            <pc:docMk/>
            <pc:sldMk cId="22968023" sldId="381"/>
            <ac:spMk id="134147" creationId="{00000000-0000-0000-0000-000000000000}"/>
          </ac:spMkLst>
        </pc:spChg>
      </pc:sldChg>
      <pc:sldChg chg="addSp delSp modSp mod modClrScheme chgLayout">
        <pc:chgData name="Gustavo Alckmin" userId="6e211116-a022-4d6f-80f5-afd27f6c442f" providerId="ADAL" clId="{4ABC3FE3-AD26-4BC5-9D05-6F1948D260F6}" dt="2024-08-19T04:48:58.480" v="355" actId="20577"/>
        <pc:sldMkLst>
          <pc:docMk/>
          <pc:sldMk cId="3795762370" sldId="383"/>
        </pc:sldMkLst>
        <pc:spChg chg="add del mod">
          <ac:chgData name="Gustavo Alckmin" userId="6e211116-a022-4d6f-80f5-afd27f6c442f" providerId="ADAL" clId="{4ABC3FE3-AD26-4BC5-9D05-6F1948D260F6}" dt="2024-08-19T04:47:18.465" v="281" actId="478"/>
          <ac:spMkLst>
            <pc:docMk/>
            <pc:sldMk cId="3795762370" sldId="383"/>
            <ac:spMk id="5" creationId="{5D8A1309-41F6-0153-7914-945BF69D0D95}"/>
          </ac:spMkLst>
        </pc:spChg>
        <pc:spChg chg="mod">
          <ac:chgData name="Gustavo Alckmin" userId="6e211116-a022-4d6f-80f5-afd27f6c442f" providerId="ADAL" clId="{4ABC3FE3-AD26-4BC5-9D05-6F1948D260F6}" dt="2024-08-19T04:35:00.314" v="86" actId="26606"/>
          <ac:spMkLst>
            <pc:docMk/>
            <pc:sldMk cId="3795762370" sldId="383"/>
            <ac:spMk id="134146" creationId="{00000000-0000-0000-0000-000000000000}"/>
          </ac:spMkLst>
        </pc:spChg>
        <pc:spChg chg="add mod">
          <ac:chgData name="Gustavo Alckmin" userId="6e211116-a022-4d6f-80f5-afd27f6c442f" providerId="ADAL" clId="{4ABC3FE3-AD26-4BC5-9D05-6F1948D260F6}" dt="2024-08-19T04:48:58.480" v="355" actId="20577"/>
          <ac:spMkLst>
            <pc:docMk/>
            <pc:sldMk cId="3795762370" sldId="383"/>
            <ac:spMk id="134151" creationId="{1F3E1348-9061-D010-4F51-E36203840E04}"/>
          </ac:spMkLst>
        </pc:spChg>
        <pc:picChg chg="mod ord">
          <ac:chgData name="Gustavo Alckmin" userId="6e211116-a022-4d6f-80f5-afd27f6c442f" providerId="ADAL" clId="{4ABC3FE3-AD26-4BC5-9D05-6F1948D260F6}" dt="2024-08-19T04:35:00.314" v="86" actId="26606"/>
          <ac:picMkLst>
            <pc:docMk/>
            <pc:sldMk cId="3795762370" sldId="383"/>
            <ac:picMk id="3" creationId="{00000000-0000-0000-0000-000000000000}"/>
          </ac:picMkLst>
        </pc:picChg>
        <pc:picChg chg="add mod">
          <ac:chgData name="Gustavo Alckmin" userId="6e211116-a022-4d6f-80f5-afd27f6c442f" providerId="ADAL" clId="{4ABC3FE3-AD26-4BC5-9D05-6F1948D260F6}" dt="2024-08-19T04:35:22.309" v="88" actId="1076"/>
          <ac:picMkLst>
            <pc:docMk/>
            <pc:sldMk cId="3795762370" sldId="383"/>
            <ac:picMk id="4" creationId="{961E4601-1849-E7A1-BD6C-287031BA2B38}"/>
          </ac:picMkLst>
        </pc:picChg>
      </pc:sldChg>
      <pc:sldChg chg="addSp modSp mod">
        <pc:chgData name="Gustavo Alckmin" userId="6e211116-a022-4d6f-80f5-afd27f6c442f" providerId="ADAL" clId="{4ABC3FE3-AD26-4BC5-9D05-6F1948D260F6}" dt="2024-08-19T04:53:24.558" v="360" actId="1076"/>
        <pc:sldMkLst>
          <pc:docMk/>
          <pc:sldMk cId="3804826684" sldId="386"/>
        </pc:sldMkLst>
        <pc:spChg chg="mod">
          <ac:chgData name="Gustavo Alckmin" userId="6e211116-a022-4d6f-80f5-afd27f6c442f" providerId="ADAL" clId="{4ABC3FE3-AD26-4BC5-9D05-6F1948D260F6}" dt="2024-08-19T04:25:22.690" v="79" actId="1076"/>
          <ac:spMkLst>
            <pc:docMk/>
            <pc:sldMk cId="3804826684" sldId="386"/>
            <ac:spMk id="3" creationId="{0F7A5828-6DDD-4D9E-964E-5C004138EA7B}"/>
          </ac:spMkLst>
        </pc:spChg>
        <pc:picChg chg="add mod">
          <ac:chgData name="Gustavo Alckmin" userId="6e211116-a022-4d6f-80f5-afd27f6c442f" providerId="ADAL" clId="{4ABC3FE3-AD26-4BC5-9D05-6F1948D260F6}" dt="2024-08-19T04:53:24.558" v="360" actId="1076"/>
          <ac:picMkLst>
            <pc:docMk/>
            <pc:sldMk cId="3804826684" sldId="386"/>
            <ac:picMk id="5" creationId="{0914BDB2-A396-714C-D4AD-2FE9D4AFC2E9}"/>
          </ac:picMkLst>
        </pc:picChg>
      </pc:sldChg>
      <pc:sldChg chg="addSp delSp modSp mod ord modNotesTx">
        <pc:chgData name="Gustavo Alckmin" userId="6e211116-a022-4d6f-80f5-afd27f6c442f" providerId="ADAL" clId="{4ABC3FE3-AD26-4BC5-9D05-6F1948D260F6}" dt="2024-08-19T05:02:23.819" v="378" actId="478"/>
        <pc:sldMkLst>
          <pc:docMk/>
          <pc:sldMk cId="1786017655" sldId="392"/>
        </pc:sldMkLst>
        <pc:spChg chg="del">
          <ac:chgData name="Gustavo Alckmin" userId="6e211116-a022-4d6f-80f5-afd27f6c442f" providerId="ADAL" clId="{4ABC3FE3-AD26-4BC5-9D05-6F1948D260F6}" dt="2024-08-19T04:57:40.019" v="361" actId="22"/>
          <ac:spMkLst>
            <pc:docMk/>
            <pc:sldMk cId="1786017655" sldId="392"/>
            <ac:spMk id="3" creationId="{942194C4-C369-3A84-4C1C-AA8D6384F16A}"/>
          </ac:spMkLst>
        </pc:spChg>
        <pc:spChg chg="add del mod">
          <ac:chgData name="Gustavo Alckmin" userId="6e211116-a022-4d6f-80f5-afd27f6c442f" providerId="ADAL" clId="{4ABC3FE3-AD26-4BC5-9D05-6F1948D260F6}" dt="2024-08-19T04:58:10.384" v="367" actId="21"/>
          <ac:spMkLst>
            <pc:docMk/>
            <pc:sldMk cId="1786017655" sldId="392"/>
            <ac:spMk id="8" creationId="{0B42FA29-5CFA-278B-DC7D-EF57DA2A28DF}"/>
          </ac:spMkLst>
        </pc:spChg>
        <pc:picChg chg="mod">
          <ac:chgData name="Gustavo Alckmin" userId="6e211116-a022-4d6f-80f5-afd27f6c442f" providerId="ADAL" clId="{4ABC3FE3-AD26-4BC5-9D05-6F1948D260F6}" dt="2024-08-19T04:59:41.083" v="373" actId="1076"/>
          <ac:picMkLst>
            <pc:docMk/>
            <pc:sldMk cId="1786017655" sldId="392"/>
            <ac:picMk id="5" creationId="{235FEFAC-BCD6-6E82-09A3-B07A385D1E3D}"/>
          </ac:picMkLst>
        </pc:picChg>
        <pc:picChg chg="add del mod ord">
          <ac:chgData name="Gustavo Alckmin" userId="6e211116-a022-4d6f-80f5-afd27f6c442f" providerId="ADAL" clId="{4ABC3FE3-AD26-4BC5-9D05-6F1948D260F6}" dt="2024-08-19T04:58:10.384" v="367" actId="21"/>
          <ac:picMkLst>
            <pc:docMk/>
            <pc:sldMk cId="1786017655" sldId="392"/>
            <ac:picMk id="6" creationId="{F129581D-3153-C23C-3590-15D45199D8AD}"/>
          </ac:picMkLst>
        </pc:picChg>
        <pc:picChg chg="add mod">
          <ac:chgData name="Gustavo Alckmin" userId="6e211116-a022-4d6f-80f5-afd27f6c442f" providerId="ADAL" clId="{4ABC3FE3-AD26-4BC5-9D05-6F1948D260F6}" dt="2024-08-19T04:58:10.275" v="366"/>
          <ac:picMkLst>
            <pc:docMk/>
            <pc:sldMk cId="1786017655" sldId="392"/>
            <ac:picMk id="9" creationId="{F129581D-3153-C23C-3590-15D45199D8AD}"/>
          </ac:picMkLst>
        </pc:picChg>
        <pc:picChg chg="add mod modCrop">
          <ac:chgData name="Gustavo Alckmin" userId="6e211116-a022-4d6f-80f5-afd27f6c442f" providerId="ADAL" clId="{4ABC3FE3-AD26-4BC5-9D05-6F1948D260F6}" dt="2024-08-19T05:00:02.955" v="374" actId="1076"/>
          <ac:picMkLst>
            <pc:docMk/>
            <pc:sldMk cId="1786017655" sldId="392"/>
            <ac:picMk id="10" creationId="{D97E2F11-3115-DB6F-012F-86E0E883E226}"/>
          </ac:picMkLst>
        </pc:picChg>
        <pc:picChg chg="add del mod">
          <ac:chgData name="Gustavo Alckmin" userId="6e211116-a022-4d6f-80f5-afd27f6c442f" providerId="ADAL" clId="{4ABC3FE3-AD26-4BC5-9D05-6F1948D260F6}" dt="2024-08-19T05:02:23.819" v="378" actId="478"/>
          <ac:picMkLst>
            <pc:docMk/>
            <pc:sldMk cId="1786017655" sldId="392"/>
            <ac:picMk id="12" creationId="{79AEB865-F85C-FCDD-D331-BF9BAB19E38A}"/>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Tree>
    <p:extLst>
      <p:ext uri="{BB962C8B-B14F-4D97-AF65-F5344CB8AC3E}">
        <p14:creationId xmlns:p14="http://schemas.microsoft.com/office/powerpoint/2010/main" val="33025313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D89840-A559-4083-9A54-64F7565135F1}" type="datetimeFigureOut">
              <a:rPr lang="en-AU" smtClean="0"/>
              <a:t>19/08/2024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D6E3A-8EE5-472C-907B-A22F59712068}" type="slidenum">
              <a:rPr lang="en-AU" smtClean="0"/>
              <a:t>‹#›</a:t>
            </a:fld>
            <a:endParaRPr lang="en-AU"/>
          </a:p>
        </p:txBody>
      </p:sp>
    </p:spTree>
    <p:extLst>
      <p:ext uri="{BB962C8B-B14F-4D97-AF65-F5344CB8AC3E}">
        <p14:creationId xmlns:p14="http://schemas.microsoft.com/office/powerpoint/2010/main" val="3775121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2n = 14 i.e. 7 pairs. </a:t>
            </a:r>
            <a:r>
              <a:rPr lang="en-AU" dirty="0" err="1"/>
              <a:t>Polyploid</a:t>
            </a:r>
            <a:r>
              <a:rPr lang="en-AU" dirty="0"/>
              <a:t> cells and organisms are those containing more than two paired sets of chromosomes. Most species whose cells have nuclei are diploid, meaning they have two sets of chromosomes—one set inherited from each parent. Tetraploids (Durum) have two sets of paired (or 4 sets) chromosomes. </a:t>
            </a:r>
            <a:r>
              <a:rPr lang="en-AU" dirty="0" err="1"/>
              <a:t>Hexaploids</a:t>
            </a:r>
            <a:r>
              <a:rPr lang="en-AU" dirty="0"/>
              <a:t> have three sets of paired chromosomes (six sets), three times as many as in diploid wheat</a:t>
            </a:r>
          </a:p>
        </p:txBody>
      </p:sp>
      <p:sp>
        <p:nvSpPr>
          <p:cNvPr id="4" name="Slide Number Placeholder 3"/>
          <p:cNvSpPr>
            <a:spLocks noGrp="1"/>
          </p:cNvSpPr>
          <p:nvPr>
            <p:ph type="sldNum" sz="quarter" idx="10"/>
          </p:nvPr>
        </p:nvSpPr>
        <p:spPr/>
        <p:txBody>
          <a:bodyPr/>
          <a:lstStyle/>
          <a:p>
            <a:fld id="{58BD6E3A-8EE5-472C-907B-A22F59712068}" type="slidenum">
              <a:rPr lang="en-AU" smtClean="0"/>
              <a:t>4</a:t>
            </a:fld>
            <a:endParaRPr lang="en-AU"/>
          </a:p>
        </p:txBody>
      </p:sp>
    </p:spTree>
    <p:extLst>
      <p:ext uri="{BB962C8B-B14F-4D97-AF65-F5344CB8AC3E}">
        <p14:creationId xmlns:p14="http://schemas.microsoft.com/office/powerpoint/2010/main" val="12818966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2n = 14 i.e. 7 pairs. </a:t>
            </a:r>
            <a:r>
              <a:rPr lang="en-AU" dirty="0" err="1"/>
              <a:t>Polyploid</a:t>
            </a:r>
            <a:r>
              <a:rPr lang="en-AU" dirty="0"/>
              <a:t> cells and organisms are those containing more than two paired sets of chromosomes. Most species whose cells have nuclei are diploid, meaning they have two sets of chromosomes—one set inherited from each parent. Tetraploids (Durum) have two sets of paired (or 4 sets) chromosomes. </a:t>
            </a:r>
            <a:r>
              <a:rPr lang="en-AU" dirty="0" err="1"/>
              <a:t>Hexaploids</a:t>
            </a:r>
            <a:r>
              <a:rPr lang="en-AU" dirty="0"/>
              <a:t> have three sets of paired chromosomes (six sets), three times as many as in diploid wheat</a:t>
            </a:r>
          </a:p>
        </p:txBody>
      </p:sp>
      <p:sp>
        <p:nvSpPr>
          <p:cNvPr id="4" name="Slide Number Placeholder 3"/>
          <p:cNvSpPr>
            <a:spLocks noGrp="1"/>
          </p:cNvSpPr>
          <p:nvPr>
            <p:ph type="sldNum" sz="quarter" idx="10"/>
          </p:nvPr>
        </p:nvSpPr>
        <p:spPr/>
        <p:txBody>
          <a:bodyPr/>
          <a:lstStyle/>
          <a:p>
            <a:fld id="{58BD6E3A-8EE5-472C-907B-A22F59712068}" type="slidenum">
              <a:rPr lang="en-AU" smtClean="0"/>
              <a:t>8</a:t>
            </a:fld>
            <a:endParaRPr lang="en-AU"/>
          </a:p>
        </p:txBody>
      </p:sp>
    </p:spTree>
    <p:extLst>
      <p:ext uri="{BB962C8B-B14F-4D97-AF65-F5344CB8AC3E}">
        <p14:creationId xmlns:p14="http://schemas.microsoft.com/office/powerpoint/2010/main" val="3450671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2n = 14 i.e. 7 pairs. </a:t>
            </a:r>
            <a:r>
              <a:rPr lang="en-AU" dirty="0" err="1"/>
              <a:t>Polyploid</a:t>
            </a:r>
            <a:r>
              <a:rPr lang="en-AU" dirty="0"/>
              <a:t> cells and organisms are those containing more than two paired sets of chromosomes. Most species whose cells have nuclei are diploid, meaning they have two sets of chromosomes—one set inherited from each parent. </a:t>
            </a:r>
            <a:r>
              <a:rPr lang="en-AU" dirty="0" err="1"/>
              <a:t>Tetraploids</a:t>
            </a:r>
            <a:r>
              <a:rPr lang="en-AU" dirty="0"/>
              <a:t> (Durum) have two sets of paired (or 4 sets) </a:t>
            </a:r>
            <a:r>
              <a:rPr lang="en-AU" dirty="0" err="1"/>
              <a:t>chromasomes</a:t>
            </a:r>
            <a:r>
              <a:rPr lang="en-AU" dirty="0"/>
              <a:t>. </a:t>
            </a:r>
            <a:r>
              <a:rPr lang="en-AU" dirty="0" err="1"/>
              <a:t>Hexaploids</a:t>
            </a:r>
            <a:r>
              <a:rPr lang="en-AU" dirty="0"/>
              <a:t> have three sets of paired chromosomes (six sets), three times as many as in diploid wheat</a:t>
            </a:r>
          </a:p>
        </p:txBody>
      </p:sp>
      <p:sp>
        <p:nvSpPr>
          <p:cNvPr id="4" name="Slide Number Placeholder 3"/>
          <p:cNvSpPr>
            <a:spLocks noGrp="1"/>
          </p:cNvSpPr>
          <p:nvPr>
            <p:ph type="sldNum" sz="quarter" idx="10"/>
          </p:nvPr>
        </p:nvSpPr>
        <p:spPr/>
        <p:txBody>
          <a:bodyPr/>
          <a:lstStyle/>
          <a:p>
            <a:fld id="{58BD6E3A-8EE5-472C-907B-A22F59712068}" type="slidenum">
              <a:rPr lang="en-AU" smtClean="0"/>
              <a:t>9</a:t>
            </a:fld>
            <a:endParaRPr lang="en-AU"/>
          </a:p>
        </p:txBody>
      </p:sp>
    </p:spTree>
    <p:extLst>
      <p:ext uri="{BB962C8B-B14F-4D97-AF65-F5344CB8AC3E}">
        <p14:creationId xmlns:p14="http://schemas.microsoft.com/office/powerpoint/2010/main" val="1118164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2n = 14 i.e. 7 pairs. </a:t>
            </a:r>
            <a:r>
              <a:rPr lang="en-AU" dirty="0" err="1"/>
              <a:t>Polyploid</a:t>
            </a:r>
            <a:r>
              <a:rPr lang="en-AU" dirty="0"/>
              <a:t> cells and organisms are those containing more than two paired sets of chromosomes. Most species whose cells have nuclei are diploid, meaning they have two sets of chromosomes—one set inherited from each parent. </a:t>
            </a:r>
            <a:r>
              <a:rPr lang="en-AU" dirty="0" err="1"/>
              <a:t>Tetraploids</a:t>
            </a:r>
            <a:r>
              <a:rPr lang="en-AU" dirty="0"/>
              <a:t> (Durum) have two sets of paired (or 4 sets) </a:t>
            </a:r>
            <a:r>
              <a:rPr lang="en-AU" dirty="0" err="1"/>
              <a:t>chromasomes</a:t>
            </a:r>
            <a:r>
              <a:rPr lang="en-AU" dirty="0"/>
              <a:t>. </a:t>
            </a:r>
            <a:r>
              <a:rPr lang="en-AU" dirty="0" err="1"/>
              <a:t>Hexaploids</a:t>
            </a:r>
            <a:r>
              <a:rPr lang="en-AU" dirty="0"/>
              <a:t> have three sets of paired chromosomes (six sets), three times as many as in diploid wheat</a:t>
            </a:r>
          </a:p>
        </p:txBody>
      </p:sp>
      <p:sp>
        <p:nvSpPr>
          <p:cNvPr id="4" name="Slide Number Placeholder 3"/>
          <p:cNvSpPr>
            <a:spLocks noGrp="1"/>
          </p:cNvSpPr>
          <p:nvPr>
            <p:ph type="sldNum" sz="quarter" idx="10"/>
          </p:nvPr>
        </p:nvSpPr>
        <p:spPr/>
        <p:txBody>
          <a:bodyPr/>
          <a:lstStyle/>
          <a:p>
            <a:fld id="{58BD6E3A-8EE5-472C-907B-A22F59712068}" type="slidenum">
              <a:rPr lang="en-AU" smtClean="0"/>
              <a:t>10</a:t>
            </a:fld>
            <a:endParaRPr lang="en-AU"/>
          </a:p>
        </p:txBody>
      </p:sp>
    </p:spTree>
    <p:extLst>
      <p:ext uri="{BB962C8B-B14F-4D97-AF65-F5344CB8AC3E}">
        <p14:creationId xmlns:p14="http://schemas.microsoft.com/office/powerpoint/2010/main" val="2088113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2n = 14 i.e. 7 pairs. </a:t>
            </a:r>
            <a:r>
              <a:rPr lang="en-AU" dirty="0" err="1"/>
              <a:t>Polyploid</a:t>
            </a:r>
            <a:r>
              <a:rPr lang="en-AU" dirty="0"/>
              <a:t> cells and organisms are those containing more than two paired sets of chromosomes. Most species whose cells have nuclei are diploid, meaning they have two sets of chromosomes—one set inherited from each parent. </a:t>
            </a:r>
            <a:r>
              <a:rPr lang="en-AU" dirty="0" err="1"/>
              <a:t>Tetraploids</a:t>
            </a:r>
            <a:r>
              <a:rPr lang="en-AU" dirty="0"/>
              <a:t> (Durum) have two sets of paired (or 4 sets) </a:t>
            </a:r>
            <a:r>
              <a:rPr lang="en-AU" dirty="0" err="1"/>
              <a:t>chromasomes</a:t>
            </a:r>
            <a:r>
              <a:rPr lang="en-AU" dirty="0"/>
              <a:t>. </a:t>
            </a:r>
            <a:r>
              <a:rPr lang="en-AU" dirty="0" err="1"/>
              <a:t>Hexaploids</a:t>
            </a:r>
            <a:r>
              <a:rPr lang="en-AU" dirty="0"/>
              <a:t> have three sets of paired chromosomes (six sets), three times as many as in diploid wheat</a:t>
            </a:r>
          </a:p>
        </p:txBody>
      </p:sp>
      <p:sp>
        <p:nvSpPr>
          <p:cNvPr id="4" name="Slide Number Placeholder 3"/>
          <p:cNvSpPr>
            <a:spLocks noGrp="1"/>
          </p:cNvSpPr>
          <p:nvPr>
            <p:ph type="sldNum" sz="quarter" idx="10"/>
          </p:nvPr>
        </p:nvSpPr>
        <p:spPr/>
        <p:txBody>
          <a:bodyPr/>
          <a:lstStyle/>
          <a:p>
            <a:fld id="{58BD6E3A-8EE5-472C-907B-A22F59712068}" type="slidenum">
              <a:rPr lang="en-AU" smtClean="0"/>
              <a:t>11</a:t>
            </a:fld>
            <a:endParaRPr lang="en-AU"/>
          </a:p>
        </p:txBody>
      </p:sp>
    </p:spTree>
    <p:extLst>
      <p:ext uri="{BB962C8B-B14F-4D97-AF65-F5344CB8AC3E}">
        <p14:creationId xmlns:p14="http://schemas.microsoft.com/office/powerpoint/2010/main" val="1728198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2n = 14 i.e. 7 pairs. </a:t>
            </a:r>
            <a:r>
              <a:rPr lang="en-AU" dirty="0" err="1"/>
              <a:t>Polyploid</a:t>
            </a:r>
            <a:r>
              <a:rPr lang="en-AU" dirty="0"/>
              <a:t> cells and organisms are those containing more than two paired sets of chromosomes. Most species whose cells have nuclei are diploid, meaning they have two sets of chromosomes—one set inherited from each parent. </a:t>
            </a:r>
            <a:r>
              <a:rPr lang="en-AU" dirty="0" err="1"/>
              <a:t>Tetraploids</a:t>
            </a:r>
            <a:r>
              <a:rPr lang="en-AU" dirty="0"/>
              <a:t> (Durum) have two sets of paired (or 4 sets) </a:t>
            </a:r>
            <a:r>
              <a:rPr lang="en-AU" dirty="0" err="1"/>
              <a:t>chromasomes</a:t>
            </a:r>
            <a:r>
              <a:rPr lang="en-AU" dirty="0"/>
              <a:t>. </a:t>
            </a:r>
            <a:r>
              <a:rPr lang="en-AU" dirty="0" err="1"/>
              <a:t>Hexaploids</a:t>
            </a:r>
            <a:r>
              <a:rPr lang="en-AU" dirty="0"/>
              <a:t> have three sets of paired chromosomes (six sets), three times as many as in diploid wheat</a:t>
            </a:r>
          </a:p>
        </p:txBody>
      </p:sp>
      <p:sp>
        <p:nvSpPr>
          <p:cNvPr id="4" name="Slide Number Placeholder 3"/>
          <p:cNvSpPr>
            <a:spLocks noGrp="1"/>
          </p:cNvSpPr>
          <p:nvPr>
            <p:ph type="sldNum" sz="quarter" idx="10"/>
          </p:nvPr>
        </p:nvSpPr>
        <p:spPr/>
        <p:txBody>
          <a:bodyPr/>
          <a:lstStyle/>
          <a:p>
            <a:fld id="{58BD6E3A-8EE5-472C-907B-A22F59712068}" type="slidenum">
              <a:rPr lang="en-AU" smtClean="0"/>
              <a:t>12</a:t>
            </a:fld>
            <a:endParaRPr lang="en-AU"/>
          </a:p>
        </p:txBody>
      </p:sp>
    </p:spTree>
    <p:extLst>
      <p:ext uri="{BB962C8B-B14F-4D97-AF65-F5344CB8AC3E}">
        <p14:creationId xmlns:p14="http://schemas.microsoft.com/office/powerpoint/2010/main" val="17885596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58BD6E3A-8EE5-472C-907B-A22F59712068}" type="slidenum">
              <a:rPr lang="en-AU" smtClean="0"/>
              <a:t>27</a:t>
            </a:fld>
            <a:endParaRPr lang="en-AU"/>
          </a:p>
        </p:txBody>
      </p:sp>
    </p:spTree>
    <p:extLst>
      <p:ext uri="{BB962C8B-B14F-4D97-AF65-F5344CB8AC3E}">
        <p14:creationId xmlns:p14="http://schemas.microsoft.com/office/powerpoint/2010/main" val="1599483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58BD6E3A-8EE5-472C-907B-A22F59712068}" type="slidenum">
              <a:rPr lang="en-AU" smtClean="0"/>
              <a:t>38</a:t>
            </a:fld>
            <a:endParaRPr lang="en-AU"/>
          </a:p>
        </p:txBody>
      </p:sp>
    </p:spTree>
    <p:extLst>
      <p:ext uri="{BB962C8B-B14F-4D97-AF65-F5344CB8AC3E}">
        <p14:creationId xmlns:p14="http://schemas.microsoft.com/office/powerpoint/2010/main" val="3426823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58BD6E3A-8EE5-472C-907B-A22F59712068}" type="slidenum">
              <a:rPr lang="en-AU" smtClean="0"/>
              <a:t>44</a:t>
            </a:fld>
            <a:endParaRPr lang="en-AU"/>
          </a:p>
        </p:txBody>
      </p:sp>
    </p:spTree>
    <p:extLst>
      <p:ext uri="{BB962C8B-B14F-4D97-AF65-F5344CB8AC3E}">
        <p14:creationId xmlns:p14="http://schemas.microsoft.com/office/powerpoint/2010/main" val="8948985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24000" y="1676400"/>
            <a:ext cx="7010400" cy="1752600"/>
          </a:xfrm>
        </p:spPr>
        <p:txBody>
          <a:bodyPr/>
          <a:lstStyle>
            <a:lvl1pPr marL="0" indent="0" algn="ctr">
              <a:buFontTx/>
              <a:buNone/>
              <a:defRPr/>
            </a:lvl1pPr>
          </a:lstStyle>
          <a:p>
            <a:r>
              <a:rPr lang="en-AU"/>
              <a:t>Click to edit Master subtitle style</a:t>
            </a:r>
          </a:p>
        </p:txBody>
      </p:sp>
      <p:sp>
        <p:nvSpPr>
          <p:cNvPr id="3076" name="Rectangle 4"/>
          <p:cNvSpPr>
            <a:spLocks noChangeArrowheads="1"/>
          </p:cNvSpPr>
          <p:nvPr/>
        </p:nvSpPr>
        <p:spPr bwMode="auto">
          <a:xfrm>
            <a:off x="0" y="-76200"/>
            <a:ext cx="9144000" cy="1292225"/>
          </a:xfrm>
          <a:prstGeom prst="rect">
            <a:avLst/>
          </a:prstGeom>
          <a:solidFill>
            <a:schemeClr val="tx1"/>
          </a:solidFill>
          <a:ln w="9525">
            <a:solidFill>
              <a:schemeClr val="tx1"/>
            </a:solidFill>
            <a:miter lim="800000"/>
            <a:headEnd/>
            <a:tailEnd/>
          </a:ln>
          <a:effectLst/>
        </p:spPr>
        <p:txBody>
          <a:bodyPr wrap="none" anchor="ctr"/>
          <a:lstStyle/>
          <a:p>
            <a:endParaRPr lang="en-AU"/>
          </a:p>
        </p:txBody>
      </p:sp>
      <p:sp>
        <p:nvSpPr>
          <p:cNvPr id="3077" name="Rectangle 5"/>
          <p:cNvSpPr>
            <a:spLocks noGrp="1" noChangeArrowheads="1"/>
          </p:cNvSpPr>
          <p:nvPr>
            <p:ph type="ctrTitle"/>
          </p:nvPr>
        </p:nvSpPr>
        <p:spPr>
          <a:xfrm>
            <a:off x="228600" y="0"/>
            <a:ext cx="7467600" cy="1143000"/>
          </a:xfrm>
        </p:spPr>
        <p:txBody>
          <a:bodyPr/>
          <a:lstStyle>
            <a:lvl1pPr>
              <a:defRPr/>
            </a:lvl1pPr>
          </a:lstStyle>
          <a:p>
            <a:r>
              <a:rPr lang="en-AU"/>
              <a:t>Click to edit Master title style</a:t>
            </a:r>
          </a:p>
        </p:txBody>
      </p:sp>
      <p:pic>
        <p:nvPicPr>
          <p:cNvPr id="3107" name="Picture 35" descr="WMB black on green"/>
          <p:cNvPicPr>
            <a:picLocks noChangeAspect="1" noChangeArrowheads="1"/>
          </p:cNvPicPr>
          <p:nvPr/>
        </p:nvPicPr>
        <p:blipFill>
          <a:blip r:embed="rId2" cstate="print"/>
          <a:srcRect/>
          <a:stretch>
            <a:fillRect/>
          </a:stretch>
        </p:blipFill>
        <p:spPr bwMode="auto">
          <a:xfrm>
            <a:off x="7932738" y="-76200"/>
            <a:ext cx="1211262" cy="1295400"/>
          </a:xfrm>
          <a:prstGeom prst="rect">
            <a:avLst/>
          </a:prstGeom>
          <a:noFill/>
        </p:spPr>
      </p:pic>
      <p:pic>
        <p:nvPicPr>
          <p:cNvPr id="3114" name="Picture 42" descr="GRDC_VERT_PMS_LOGO"/>
          <p:cNvPicPr>
            <a:picLocks noChangeAspect="1" noChangeArrowheads="1"/>
          </p:cNvPicPr>
          <p:nvPr/>
        </p:nvPicPr>
        <p:blipFill>
          <a:blip r:embed="rId3" cstate="print"/>
          <a:srcRect/>
          <a:stretch>
            <a:fillRect/>
          </a:stretch>
        </p:blipFill>
        <p:spPr bwMode="auto">
          <a:xfrm>
            <a:off x="142875" y="3357563"/>
            <a:ext cx="979488" cy="989012"/>
          </a:xfrm>
          <a:prstGeom prst="rect">
            <a:avLst/>
          </a:prstGeom>
          <a:noFill/>
        </p:spPr>
      </p:pic>
      <p:pic>
        <p:nvPicPr>
          <p:cNvPr id="3117" name="Picture 45" descr="DAFWA portrait_black"/>
          <p:cNvPicPr>
            <a:picLocks noChangeAspect="1" noChangeArrowheads="1"/>
          </p:cNvPicPr>
          <p:nvPr userDrawn="1"/>
        </p:nvPicPr>
        <p:blipFill>
          <a:blip r:embed="rId4" cstate="print"/>
          <a:srcRect/>
          <a:stretch>
            <a:fillRect/>
          </a:stretch>
        </p:blipFill>
        <p:spPr bwMode="auto">
          <a:xfrm>
            <a:off x="71438" y="1268413"/>
            <a:ext cx="1187450" cy="1787525"/>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179388" y="1341438"/>
            <a:ext cx="4316412"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341438"/>
            <a:ext cx="4316413" cy="53276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9100" y="76200"/>
            <a:ext cx="2195513" cy="6592888"/>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179388" y="76200"/>
            <a:ext cx="6437312" cy="6592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7543800" cy="914400"/>
          </a:xfrm>
        </p:spPr>
        <p:txBody>
          <a:bodyPr/>
          <a:lstStyle/>
          <a:p>
            <a:r>
              <a:rPr lang="en-US"/>
              <a:t>Click to edit Master title style</a:t>
            </a:r>
            <a:endParaRPr lang="en-AU"/>
          </a:p>
        </p:txBody>
      </p:sp>
      <p:sp>
        <p:nvSpPr>
          <p:cNvPr id="3" name="Content Placeholder 2"/>
          <p:cNvSpPr>
            <a:spLocks noGrp="1"/>
          </p:cNvSpPr>
          <p:nvPr>
            <p:ph sz="half" idx="1"/>
          </p:nvPr>
        </p:nvSpPr>
        <p:spPr>
          <a:xfrm>
            <a:off x="179388" y="1341438"/>
            <a:ext cx="4316412" cy="532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4648200" y="1341438"/>
            <a:ext cx="4316413"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4648200" y="4081463"/>
            <a:ext cx="4316413"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
            <a:ext cx="7543800" cy="914400"/>
          </a:xfrm>
        </p:spPr>
        <p:txBody>
          <a:bodyPr/>
          <a:lstStyle/>
          <a:p>
            <a:r>
              <a:rPr lang="en-US"/>
              <a:t>Click to edit Master title style</a:t>
            </a:r>
            <a:endParaRPr lang="en-AU"/>
          </a:p>
        </p:txBody>
      </p:sp>
      <p:sp>
        <p:nvSpPr>
          <p:cNvPr id="3" name="Text Placeholder 2"/>
          <p:cNvSpPr>
            <a:spLocks noGrp="1"/>
          </p:cNvSpPr>
          <p:nvPr>
            <p:ph type="body" sz="half" idx="1"/>
          </p:nvPr>
        </p:nvSpPr>
        <p:spPr>
          <a:xfrm>
            <a:off x="179388" y="1341438"/>
            <a:ext cx="4316412" cy="532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341438"/>
            <a:ext cx="4316413" cy="5327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228600" y="76200"/>
            <a:ext cx="7543800" cy="914400"/>
          </a:xfrm>
        </p:spPr>
        <p:txBody>
          <a:bodyPr/>
          <a:lstStyle/>
          <a:p>
            <a:r>
              <a:rPr lang="en-US"/>
              <a:t>Click to edit Master title style</a:t>
            </a:r>
            <a:endParaRPr lang="en-AU"/>
          </a:p>
        </p:txBody>
      </p:sp>
      <p:sp>
        <p:nvSpPr>
          <p:cNvPr id="3" name="Content Placeholder 2"/>
          <p:cNvSpPr>
            <a:spLocks noGrp="1"/>
          </p:cNvSpPr>
          <p:nvPr>
            <p:ph sz="quarter" idx="1"/>
          </p:nvPr>
        </p:nvSpPr>
        <p:spPr>
          <a:xfrm>
            <a:off x="179388" y="1341438"/>
            <a:ext cx="4316412"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quarter" idx="2"/>
          </p:nvPr>
        </p:nvSpPr>
        <p:spPr>
          <a:xfrm>
            <a:off x="4648200" y="1341438"/>
            <a:ext cx="4316413"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Content Placeholder 4"/>
          <p:cNvSpPr>
            <a:spLocks noGrp="1"/>
          </p:cNvSpPr>
          <p:nvPr>
            <p:ph sz="quarter" idx="3"/>
          </p:nvPr>
        </p:nvSpPr>
        <p:spPr>
          <a:xfrm>
            <a:off x="179388" y="4081463"/>
            <a:ext cx="4316412"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Content Placeholder 5"/>
          <p:cNvSpPr>
            <a:spLocks noGrp="1"/>
          </p:cNvSpPr>
          <p:nvPr>
            <p:ph sz="quarter" idx="4"/>
          </p:nvPr>
        </p:nvSpPr>
        <p:spPr>
          <a:xfrm>
            <a:off x="4648200" y="4081463"/>
            <a:ext cx="4316413" cy="2587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179388" y="1341438"/>
            <a:ext cx="8785225" cy="53276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3" name="Rectangle 9"/>
          <p:cNvSpPr>
            <a:spLocks noChangeArrowheads="1"/>
          </p:cNvSpPr>
          <p:nvPr/>
        </p:nvSpPr>
        <p:spPr bwMode="auto">
          <a:xfrm>
            <a:off x="0" y="-76200"/>
            <a:ext cx="9144000" cy="1292225"/>
          </a:xfrm>
          <a:prstGeom prst="rect">
            <a:avLst/>
          </a:prstGeom>
          <a:solidFill>
            <a:schemeClr val="tx1"/>
          </a:solidFill>
          <a:ln w="9525">
            <a:solidFill>
              <a:schemeClr val="tx1"/>
            </a:solidFill>
            <a:miter lim="800000"/>
            <a:headEnd/>
            <a:tailEnd/>
          </a:ln>
          <a:effectLst/>
        </p:spPr>
        <p:txBody>
          <a:bodyPr wrap="none" anchor="ctr"/>
          <a:lstStyle/>
          <a:p>
            <a:endParaRPr lang="en-AU"/>
          </a:p>
        </p:txBody>
      </p:sp>
      <p:sp>
        <p:nvSpPr>
          <p:cNvPr id="1026" name="Rectangle 2"/>
          <p:cNvSpPr>
            <a:spLocks noGrp="1" noChangeArrowheads="1"/>
          </p:cNvSpPr>
          <p:nvPr>
            <p:ph type="title"/>
          </p:nvPr>
        </p:nvSpPr>
        <p:spPr bwMode="white">
          <a:xfrm>
            <a:off x="228600" y="76200"/>
            <a:ext cx="7543800" cy="9144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pic>
        <p:nvPicPr>
          <p:cNvPr id="1066" name="Picture 42" descr="WMB black on green"/>
          <p:cNvPicPr>
            <a:picLocks noChangeAspect="1" noChangeArrowheads="1"/>
          </p:cNvPicPr>
          <p:nvPr/>
        </p:nvPicPr>
        <p:blipFill>
          <a:blip r:embed="rId16" cstate="print"/>
          <a:srcRect/>
          <a:stretch>
            <a:fillRect/>
          </a:stretch>
        </p:blipFill>
        <p:spPr bwMode="auto">
          <a:xfrm>
            <a:off x="7932738" y="-76200"/>
            <a:ext cx="1211262" cy="12954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rtl="0" eaLnBrk="0" fontAlgn="base" hangingPunct="0">
        <a:spcBef>
          <a:spcPct val="0"/>
        </a:spcBef>
        <a:spcAft>
          <a:spcPct val="0"/>
        </a:spcAft>
        <a:defRPr sz="3200" b="1">
          <a:solidFill>
            <a:srgbClr val="CCFF66"/>
          </a:solidFill>
          <a:latin typeface="+mj-lt"/>
          <a:ea typeface="+mj-ea"/>
          <a:cs typeface="+mj-cs"/>
        </a:defRPr>
      </a:lvl1pPr>
      <a:lvl2pPr algn="l" rtl="0" eaLnBrk="0" fontAlgn="base" hangingPunct="0">
        <a:spcBef>
          <a:spcPct val="0"/>
        </a:spcBef>
        <a:spcAft>
          <a:spcPct val="0"/>
        </a:spcAft>
        <a:defRPr sz="3200" b="1">
          <a:solidFill>
            <a:srgbClr val="CCFF66"/>
          </a:solidFill>
          <a:latin typeface="Arial" charset="0"/>
        </a:defRPr>
      </a:lvl2pPr>
      <a:lvl3pPr algn="l" rtl="0" eaLnBrk="0" fontAlgn="base" hangingPunct="0">
        <a:spcBef>
          <a:spcPct val="0"/>
        </a:spcBef>
        <a:spcAft>
          <a:spcPct val="0"/>
        </a:spcAft>
        <a:defRPr sz="3200" b="1">
          <a:solidFill>
            <a:srgbClr val="CCFF66"/>
          </a:solidFill>
          <a:latin typeface="Arial" charset="0"/>
        </a:defRPr>
      </a:lvl3pPr>
      <a:lvl4pPr algn="l" rtl="0" eaLnBrk="0" fontAlgn="base" hangingPunct="0">
        <a:spcBef>
          <a:spcPct val="0"/>
        </a:spcBef>
        <a:spcAft>
          <a:spcPct val="0"/>
        </a:spcAft>
        <a:defRPr sz="3200" b="1">
          <a:solidFill>
            <a:srgbClr val="CCFF66"/>
          </a:solidFill>
          <a:latin typeface="Arial" charset="0"/>
        </a:defRPr>
      </a:lvl4pPr>
      <a:lvl5pPr algn="l" rtl="0" eaLnBrk="0" fontAlgn="base" hangingPunct="0">
        <a:spcBef>
          <a:spcPct val="0"/>
        </a:spcBef>
        <a:spcAft>
          <a:spcPct val="0"/>
        </a:spcAft>
        <a:defRPr sz="3200" b="1">
          <a:solidFill>
            <a:srgbClr val="CCFF66"/>
          </a:solidFill>
          <a:latin typeface="Arial" charset="0"/>
        </a:defRPr>
      </a:lvl5pPr>
      <a:lvl6pPr marL="457200" algn="l" rtl="0" eaLnBrk="0" fontAlgn="base" hangingPunct="0">
        <a:spcBef>
          <a:spcPct val="0"/>
        </a:spcBef>
        <a:spcAft>
          <a:spcPct val="0"/>
        </a:spcAft>
        <a:defRPr sz="3200" b="1">
          <a:solidFill>
            <a:srgbClr val="CCFF66"/>
          </a:solidFill>
          <a:latin typeface="Arial" charset="0"/>
        </a:defRPr>
      </a:lvl6pPr>
      <a:lvl7pPr marL="914400" algn="l" rtl="0" eaLnBrk="0" fontAlgn="base" hangingPunct="0">
        <a:spcBef>
          <a:spcPct val="0"/>
        </a:spcBef>
        <a:spcAft>
          <a:spcPct val="0"/>
        </a:spcAft>
        <a:defRPr sz="3200" b="1">
          <a:solidFill>
            <a:srgbClr val="CCFF66"/>
          </a:solidFill>
          <a:latin typeface="Arial" charset="0"/>
        </a:defRPr>
      </a:lvl7pPr>
      <a:lvl8pPr marL="1371600" algn="l" rtl="0" eaLnBrk="0" fontAlgn="base" hangingPunct="0">
        <a:spcBef>
          <a:spcPct val="0"/>
        </a:spcBef>
        <a:spcAft>
          <a:spcPct val="0"/>
        </a:spcAft>
        <a:defRPr sz="3200" b="1">
          <a:solidFill>
            <a:srgbClr val="CCFF66"/>
          </a:solidFill>
          <a:latin typeface="Arial" charset="0"/>
        </a:defRPr>
      </a:lvl8pPr>
      <a:lvl9pPr marL="1828800" algn="l" rtl="0" eaLnBrk="0" fontAlgn="base" hangingPunct="0">
        <a:spcBef>
          <a:spcPct val="0"/>
        </a:spcBef>
        <a:spcAft>
          <a:spcPct val="0"/>
        </a:spcAft>
        <a:defRPr sz="3200" b="1">
          <a:solidFill>
            <a:srgbClr val="CCFF66"/>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12.xml"/><Relationship Id="rId4" Type="http://schemas.openxmlformats.org/officeDocument/2006/relationships/image" Target="../media/image41.jpeg"/></Relationships>
</file>

<file path=ppt/slides/_rels/slide3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38.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 Id="rId4" Type="http://schemas.openxmlformats.org/officeDocument/2006/relationships/image" Target="../media/image48.jpeg"/></Relationships>
</file>

<file path=ppt/slides/_rels/slide41.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4.w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emf"/><Relationship Id="rId1" Type="http://schemas.openxmlformats.org/officeDocument/2006/relationships/slideLayout" Target="../slideLayouts/slideLayout14.xml"/><Relationship Id="rId4" Type="http://schemas.openxmlformats.org/officeDocument/2006/relationships/image" Target="../media/image60.png"/></Relationships>
</file>

<file path=ppt/slides/_rels/slide51.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image" Target="../media/image61.emf"/><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 Id="rId5" Type="http://schemas.openxmlformats.org/officeDocument/2006/relationships/image" Target="../media/image66.jpeg"/><Relationship Id="rId4" Type="http://schemas.openxmlformats.org/officeDocument/2006/relationships/image" Target="../media/image65.jpeg"/></Relationships>
</file>

<file path=ppt/slides/_rels/slide54.xml.rels><?xml version="1.0" encoding="UTF-8" standalone="yes"?>
<Relationships xmlns="http://schemas.openxmlformats.org/package/2006/relationships"><Relationship Id="rId3" Type="http://schemas.openxmlformats.org/officeDocument/2006/relationships/image" Target="../media/image68.emf"/><Relationship Id="rId2" Type="http://schemas.openxmlformats.org/officeDocument/2006/relationships/image" Target="../media/image67.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3.emf"/><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4.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image" Target="../media/image77.em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0" y="-99490"/>
            <a:ext cx="9144000" cy="6957490"/>
          </a:xfrm>
          <a:prstGeom prst="rect">
            <a:avLst/>
          </a:prstGeom>
          <a:solidFill>
            <a:schemeClr val="bg1"/>
          </a:solidFill>
        </p:spPr>
        <p:txBody>
          <a:bodyPr>
            <a:normAutofit/>
          </a:bodyPr>
          <a:lstStyle/>
          <a:p>
            <a:pPr marL="0" marR="0" lvl="0" indent="0" defTabSz="914400" rtl="0" eaLnBrk="1" fontAlgn="auto" latinLnBrk="0" hangingPunct="1">
              <a:lnSpc>
                <a:spcPct val="100000"/>
              </a:lnSpc>
              <a:spcBef>
                <a:spcPct val="0"/>
              </a:spcBef>
              <a:spcAft>
                <a:spcPts val="0"/>
              </a:spcAft>
              <a:buClrTx/>
              <a:buSzTx/>
              <a:buFontTx/>
              <a:buNone/>
              <a:tabLst/>
              <a:defRPr/>
            </a:pPr>
            <a:endParaRPr kumimoji="0" lang="en-AU" sz="3200" b="1" i="0" u="none" strike="noStrike" kern="1200" cap="none" spc="0" normalizeH="0" baseline="0" noProof="0" dirty="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r>
              <a:rPr kumimoji="0" lang="en-AU" sz="3200" b="1" i="0" u="none" strike="noStrike" kern="1200" cap="none" spc="0" normalizeH="0" baseline="0" noProof="0" dirty="0">
                <a:ln>
                  <a:noFill/>
                </a:ln>
                <a:solidFill>
                  <a:srgbClr val="C00000"/>
                </a:solidFill>
                <a:effectLst/>
                <a:uLnTx/>
                <a:uFillTx/>
                <a:latin typeface="+mj-lt"/>
                <a:ea typeface="+mj-ea"/>
                <a:cs typeface="+mj-cs"/>
              </a:rPr>
              <a:t>What is important for </a:t>
            </a:r>
            <a:r>
              <a:rPr lang="en-AU" sz="3200" b="1" dirty="0">
                <a:solidFill>
                  <a:srgbClr val="C00000"/>
                </a:solidFill>
                <a:latin typeface="+mj-lt"/>
                <a:ea typeface="+mj-ea"/>
                <a:cs typeface="+mj-cs"/>
              </a:rPr>
              <a:t>y</a:t>
            </a:r>
            <a:r>
              <a:rPr kumimoji="0" lang="en-AU" sz="3200" b="1" i="0" u="none" strike="noStrike" kern="1200" cap="none" spc="0" normalizeH="0" baseline="0" noProof="0" dirty="0" err="1">
                <a:ln>
                  <a:noFill/>
                </a:ln>
                <a:solidFill>
                  <a:srgbClr val="C00000"/>
                </a:solidFill>
                <a:effectLst/>
                <a:uLnTx/>
                <a:uFillTx/>
                <a:latin typeface="+mj-lt"/>
                <a:ea typeface="+mj-ea"/>
                <a:cs typeface="+mj-cs"/>
              </a:rPr>
              <a:t>ield</a:t>
            </a:r>
            <a:r>
              <a:rPr kumimoji="0" lang="en-AU" sz="3200" b="1" i="0" u="none" strike="noStrike" kern="1200" cap="none" spc="0" normalizeH="0" baseline="0" noProof="0" dirty="0">
                <a:ln>
                  <a:noFill/>
                </a:ln>
                <a:solidFill>
                  <a:srgbClr val="C00000"/>
                </a:solidFill>
                <a:effectLst/>
                <a:uLnTx/>
                <a:uFillTx/>
                <a:latin typeface="+mj-lt"/>
                <a:ea typeface="+mj-ea"/>
                <a:cs typeface="+mj-cs"/>
              </a:rPr>
              <a:t> improvement</a:t>
            </a:r>
          </a:p>
          <a:p>
            <a:pPr marL="0" marR="0" lvl="0" indent="0" defTabSz="914400" rtl="0" eaLnBrk="1" fontAlgn="auto" latinLnBrk="0" hangingPunct="1">
              <a:lnSpc>
                <a:spcPct val="100000"/>
              </a:lnSpc>
              <a:spcBef>
                <a:spcPct val="0"/>
              </a:spcBef>
              <a:spcAft>
                <a:spcPts val="0"/>
              </a:spcAft>
              <a:buClrTx/>
              <a:buSzTx/>
              <a:buFontTx/>
              <a:buNone/>
              <a:tabLst/>
              <a:defRPr/>
            </a:pPr>
            <a:r>
              <a:rPr kumimoji="0" lang="en-AU" sz="3200" b="1" i="0" u="none" strike="noStrike" kern="1200" cap="none" spc="0" normalizeH="0" baseline="0" noProof="0" dirty="0">
                <a:ln>
                  <a:noFill/>
                </a:ln>
                <a:solidFill>
                  <a:srgbClr val="C00000"/>
                </a:solidFill>
                <a:effectLst/>
                <a:uLnTx/>
                <a:uFillTx/>
                <a:latin typeface="+mj-lt"/>
                <a:ea typeface="+mj-ea"/>
                <a:cs typeface="+mj-cs"/>
              </a:rPr>
              <a:t>(G x E x M)</a:t>
            </a:r>
          </a:p>
          <a:p>
            <a:pPr marL="0" marR="0" lvl="0" indent="0" algn="ctr" defTabSz="914400" rtl="0" eaLnBrk="1" fontAlgn="auto" latinLnBrk="0" hangingPunct="1">
              <a:lnSpc>
                <a:spcPct val="100000"/>
              </a:lnSpc>
              <a:spcBef>
                <a:spcPct val="0"/>
              </a:spcBef>
              <a:spcAft>
                <a:spcPts val="0"/>
              </a:spcAft>
              <a:buClrTx/>
              <a:buSzTx/>
              <a:buFontTx/>
              <a:buNone/>
              <a:tabLst/>
              <a:defRPr/>
            </a:pPr>
            <a:endParaRPr lang="en-AU" sz="3600" b="1" dirty="0">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r>
              <a:rPr lang="en-AU" sz="3200" b="1" dirty="0">
                <a:latin typeface="+mj-lt"/>
                <a:ea typeface="+mj-ea"/>
                <a:cs typeface="+mj-cs"/>
              </a:rPr>
              <a:t>Genotype (G) ?  </a:t>
            </a: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AU" sz="3200" b="1" i="0" u="none" strike="noStrike" kern="1200" cap="none" spc="0" normalizeH="0" baseline="0" noProof="0" dirty="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AU" sz="3200" b="1" i="0" u="none" strike="noStrike" kern="1200" cap="none" spc="0" normalizeH="0" baseline="0" noProof="0" dirty="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kumimoji="0" lang="en-AU" sz="3200" b="1" i="0" u="none" strike="noStrike" kern="1200" cap="none" spc="0" normalizeH="0" baseline="0" noProof="0" dirty="0">
              <a:ln>
                <a:noFill/>
              </a:ln>
              <a:solidFill>
                <a:schemeClr val="tx1"/>
              </a:solidFill>
              <a:effectLst/>
              <a:uLnTx/>
              <a:uFillTx/>
              <a:latin typeface="+mj-lt"/>
              <a:ea typeface="+mj-ea"/>
              <a:cs typeface="+mj-cs"/>
            </a:endParaRPr>
          </a:p>
          <a:p>
            <a:pPr eaLnBrk="1" fontAlgn="auto" hangingPunct="1">
              <a:spcAft>
                <a:spcPts val="0"/>
              </a:spcAft>
              <a:defRPr/>
            </a:pPr>
            <a:r>
              <a:rPr lang="en-AU" sz="3200" b="1" dirty="0">
                <a:latin typeface="+mj-lt"/>
                <a:ea typeface="+mj-ea"/>
                <a:cs typeface="+mj-cs"/>
              </a:rPr>
              <a:t>Environment (E) ?</a:t>
            </a:r>
            <a:endParaRPr kumimoji="0" lang="en-AU" sz="3200" b="1" i="0" u="none" strike="noStrike" kern="1200" cap="none" spc="0" normalizeH="0" baseline="0" noProof="0" dirty="0">
              <a:ln>
                <a:noFill/>
              </a:ln>
              <a:solidFill>
                <a:schemeClr val="tx1"/>
              </a:solidFill>
              <a:effectLst/>
              <a:uLnTx/>
              <a:uFillTx/>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lang="en-AU" sz="3200" b="1" dirty="0">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lang="en-AU" sz="3200" b="1" dirty="0">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endParaRPr lang="en-AU" sz="3200" b="1" dirty="0">
              <a:latin typeface="+mj-lt"/>
              <a:ea typeface="+mj-ea"/>
              <a:cs typeface="+mj-cs"/>
            </a:endParaRPr>
          </a:p>
          <a:p>
            <a:pPr marL="0" marR="0" lvl="0" indent="0" defTabSz="914400" rtl="0" eaLnBrk="1" fontAlgn="auto" latinLnBrk="0" hangingPunct="1">
              <a:lnSpc>
                <a:spcPct val="100000"/>
              </a:lnSpc>
              <a:spcBef>
                <a:spcPct val="0"/>
              </a:spcBef>
              <a:spcAft>
                <a:spcPts val="0"/>
              </a:spcAft>
              <a:buClrTx/>
              <a:buSzTx/>
              <a:buFontTx/>
              <a:buNone/>
              <a:tabLst/>
              <a:defRPr/>
            </a:pPr>
            <a:r>
              <a:rPr kumimoji="0" lang="en-AU" sz="3200" b="1" i="0" u="none" strike="noStrike" kern="1200" cap="none" spc="0" normalizeH="0" baseline="0" noProof="0" dirty="0">
                <a:ln>
                  <a:noFill/>
                </a:ln>
                <a:solidFill>
                  <a:schemeClr val="tx1"/>
                </a:solidFill>
                <a:effectLst/>
                <a:uLnTx/>
                <a:uFillTx/>
                <a:latin typeface="+mj-lt"/>
                <a:ea typeface="+mj-ea"/>
                <a:cs typeface="+mj-cs"/>
              </a:rPr>
              <a:t>Management (M) ?</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AU" sz="3600" b="1" i="0" u="none" strike="noStrike" kern="1200" cap="none" spc="0" normalizeH="0" baseline="0" noProof="0" dirty="0">
              <a:ln>
                <a:noFill/>
              </a:ln>
              <a:solidFill>
                <a:schemeClr val="tx1"/>
              </a:solidFill>
              <a:effectLst/>
              <a:uLnTx/>
              <a:uFillTx/>
              <a:latin typeface="+mj-lt"/>
              <a:ea typeface="+mj-ea"/>
              <a:cs typeface="+mj-cs"/>
            </a:endParaRPr>
          </a:p>
        </p:txBody>
      </p:sp>
      <p:pic>
        <p:nvPicPr>
          <p:cNvPr id="12" name="Picture 11">
            <a:extLst>
              <a:ext uri="{FF2B5EF4-FFF2-40B4-BE49-F238E27FC236}">
                <a16:creationId xmlns:a16="http://schemas.microsoft.com/office/drawing/2014/main" id="{86B413A3-F578-4C8F-9AD2-B12955987EC7}"/>
              </a:ext>
            </a:extLst>
          </p:cNvPr>
          <p:cNvPicPr>
            <a:picLocks noChangeAspect="1"/>
          </p:cNvPicPr>
          <p:nvPr/>
        </p:nvPicPr>
        <p:blipFill>
          <a:blip r:embed="rId2"/>
          <a:stretch>
            <a:fillRect/>
          </a:stretch>
        </p:blipFill>
        <p:spPr>
          <a:xfrm>
            <a:off x="5528183" y="1458074"/>
            <a:ext cx="3643612" cy="1390650"/>
          </a:xfrm>
          <a:prstGeom prst="rect">
            <a:avLst/>
          </a:prstGeom>
        </p:spPr>
      </p:pic>
      <p:sp>
        <p:nvSpPr>
          <p:cNvPr id="13" name="Rectangle 12">
            <a:extLst>
              <a:ext uri="{FF2B5EF4-FFF2-40B4-BE49-F238E27FC236}">
                <a16:creationId xmlns:a16="http://schemas.microsoft.com/office/drawing/2014/main" id="{761B9B78-7D24-4D6D-9C34-9E529DD4A139}"/>
              </a:ext>
            </a:extLst>
          </p:cNvPr>
          <p:cNvSpPr/>
          <p:nvPr/>
        </p:nvSpPr>
        <p:spPr bwMode="auto">
          <a:xfrm>
            <a:off x="5528182" y="1449331"/>
            <a:ext cx="3615818" cy="1390650"/>
          </a:xfrm>
          <a:prstGeom prst="rect">
            <a:avLst/>
          </a:prstGeom>
          <a:noFill/>
          <a:ln w="730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grpSp>
        <p:nvGrpSpPr>
          <p:cNvPr id="17" name="Group 16">
            <a:extLst>
              <a:ext uri="{FF2B5EF4-FFF2-40B4-BE49-F238E27FC236}">
                <a16:creationId xmlns:a16="http://schemas.microsoft.com/office/drawing/2014/main" id="{014D56A1-2EC1-4B5D-8564-AA480F09FE49}"/>
              </a:ext>
            </a:extLst>
          </p:cNvPr>
          <p:cNvGrpSpPr/>
          <p:nvPr/>
        </p:nvGrpSpPr>
        <p:grpSpPr>
          <a:xfrm>
            <a:off x="5528182" y="4975316"/>
            <a:ext cx="3651446" cy="1891427"/>
            <a:chOff x="5528182" y="4975316"/>
            <a:chExt cx="3651446" cy="1891427"/>
          </a:xfrm>
        </p:grpSpPr>
        <p:grpSp>
          <p:nvGrpSpPr>
            <p:cNvPr id="10" name="Group 9">
              <a:extLst>
                <a:ext uri="{FF2B5EF4-FFF2-40B4-BE49-F238E27FC236}">
                  <a16:creationId xmlns:a16="http://schemas.microsoft.com/office/drawing/2014/main" id="{17EEBB7A-6487-4185-B8C8-9B41554186DE}"/>
                </a:ext>
              </a:extLst>
            </p:cNvPr>
            <p:cNvGrpSpPr/>
            <p:nvPr/>
          </p:nvGrpSpPr>
          <p:grpSpPr>
            <a:xfrm>
              <a:off x="5536016" y="4994483"/>
              <a:ext cx="3643612" cy="1872260"/>
              <a:chOff x="5615980" y="2996940"/>
              <a:chExt cx="3479768" cy="1872260"/>
            </a:xfrm>
          </p:grpSpPr>
          <p:pic>
            <p:nvPicPr>
              <p:cNvPr id="5" name="Picture 4">
                <a:extLst>
                  <a:ext uri="{FF2B5EF4-FFF2-40B4-BE49-F238E27FC236}">
                    <a16:creationId xmlns:a16="http://schemas.microsoft.com/office/drawing/2014/main" id="{830F8D5D-1F9B-422E-AF16-B37F37A7938F}"/>
                  </a:ext>
                </a:extLst>
              </p:cNvPr>
              <p:cNvPicPr>
                <a:picLocks noChangeAspect="1"/>
              </p:cNvPicPr>
              <p:nvPr/>
            </p:nvPicPr>
            <p:blipFill rotWithShape="1">
              <a:blip r:embed="rId3">
                <a:extLst>
                  <a:ext uri="{28A0092B-C50C-407E-A947-70E740481C1C}">
                    <a14:useLocalDpi xmlns:a14="http://schemas.microsoft.com/office/drawing/2010/main" val="0"/>
                  </a:ext>
                </a:extLst>
              </a:blip>
              <a:srcRect b="9281"/>
              <a:stretch/>
            </p:blipFill>
            <p:spPr>
              <a:xfrm>
                <a:off x="5615980" y="3320379"/>
                <a:ext cx="3479767" cy="1548821"/>
              </a:xfrm>
              <a:prstGeom prst="rect">
                <a:avLst/>
              </a:prstGeom>
            </p:spPr>
          </p:pic>
          <p:pic>
            <p:nvPicPr>
              <p:cNvPr id="9" name="Picture 8">
                <a:extLst>
                  <a:ext uri="{FF2B5EF4-FFF2-40B4-BE49-F238E27FC236}">
                    <a16:creationId xmlns:a16="http://schemas.microsoft.com/office/drawing/2014/main" id="{E3048E54-FB28-4959-BA3F-E0D0AE884E5E}"/>
                  </a:ext>
                </a:extLst>
              </p:cNvPr>
              <p:cNvPicPr>
                <a:picLocks noChangeAspect="1"/>
              </p:cNvPicPr>
              <p:nvPr/>
            </p:nvPicPr>
            <p:blipFill>
              <a:blip r:embed="rId4"/>
              <a:stretch>
                <a:fillRect/>
              </a:stretch>
            </p:blipFill>
            <p:spPr>
              <a:xfrm>
                <a:off x="5615980" y="2996940"/>
                <a:ext cx="3479768" cy="951117"/>
              </a:xfrm>
              <a:prstGeom prst="rect">
                <a:avLst/>
              </a:prstGeom>
            </p:spPr>
          </p:pic>
        </p:grpSp>
        <p:sp>
          <p:nvSpPr>
            <p:cNvPr id="14" name="Rectangle 13">
              <a:extLst>
                <a:ext uri="{FF2B5EF4-FFF2-40B4-BE49-F238E27FC236}">
                  <a16:creationId xmlns:a16="http://schemas.microsoft.com/office/drawing/2014/main" id="{66037010-EB08-4A9E-9D26-81A6779D6D3E}"/>
                </a:ext>
              </a:extLst>
            </p:cNvPr>
            <p:cNvSpPr/>
            <p:nvPr/>
          </p:nvSpPr>
          <p:spPr bwMode="auto">
            <a:xfrm>
              <a:off x="5528182" y="4975316"/>
              <a:ext cx="3615818" cy="1872260"/>
            </a:xfrm>
            <a:prstGeom prst="rect">
              <a:avLst/>
            </a:prstGeom>
            <a:noFill/>
            <a:ln w="730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grpSp>
      <p:grpSp>
        <p:nvGrpSpPr>
          <p:cNvPr id="16" name="Group 15">
            <a:extLst>
              <a:ext uri="{FF2B5EF4-FFF2-40B4-BE49-F238E27FC236}">
                <a16:creationId xmlns:a16="http://schemas.microsoft.com/office/drawing/2014/main" id="{06A6327C-82C7-4C5A-90D0-71F3D7028186}"/>
              </a:ext>
            </a:extLst>
          </p:cNvPr>
          <p:cNvGrpSpPr/>
          <p:nvPr/>
        </p:nvGrpSpPr>
        <p:grpSpPr>
          <a:xfrm>
            <a:off x="5528182" y="3253437"/>
            <a:ext cx="3615818" cy="1336333"/>
            <a:chOff x="5579724" y="5575880"/>
            <a:chExt cx="3615818" cy="1336333"/>
          </a:xfrm>
        </p:grpSpPr>
        <p:pic>
          <p:nvPicPr>
            <p:cNvPr id="7" name="Picture 6">
              <a:extLst>
                <a:ext uri="{FF2B5EF4-FFF2-40B4-BE49-F238E27FC236}">
                  <a16:creationId xmlns:a16="http://schemas.microsoft.com/office/drawing/2014/main" id="{FB893512-1AFB-41B3-964D-DE11348487C1}"/>
                </a:ext>
              </a:extLst>
            </p:cNvPr>
            <p:cNvPicPr>
              <a:picLocks noChangeAspect="1"/>
            </p:cNvPicPr>
            <p:nvPr/>
          </p:nvPicPr>
          <p:blipFill>
            <a:blip r:embed="rId5"/>
            <a:stretch>
              <a:fillRect/>
            </a:stretch>
          </p:blipFill>
          <p:spPr>
            <a:xfrm>
              <a:off x="5579724" y="5575881"/>
              <a:ext cx="3578174" cy="1296839"/>
            </a:xfrm>
            <a:prstGeom prst="rect">
              <a:avLst/>
            </a:prstGeom>
          </p:spPr>
        </p:pic>
        <p:sp>
          <p:nvSpPr>
            <p:cNvPr id="15" name="Rectangle 14">
              <a:extLst>
                <a:ext uri="{FF2B5EF4-FFF2-40B4-BE49-F238E27FC236}">
                  <a16:creationId xmlns:a16="http://schemas.microsoft.com/office/drawing/2014/main" id="{F50A572F-910F-4C00-BB83-72B8A32F696B}"/>
                </a:ext>
              </a:extLst>
            </p:cNvPr>
            <p:cNvSpPr/>
            <p:nvPr/>
          </p:nvSpPr>
          <p:spPr bwMode="auto">
            <a:xfrm>
              <a:off x="5579724" y="5575880"/>
              <a:ext cx="3615818" cy="1336333"/>
            </a:xfrm>
            <a:prstGeom prst="rect">
              <a:avLst/>
            </a:prstGeom>
            <a:noFill/>
            <a:ln w="730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E6492-CBBA-4556-8281-E4ACB04B1959}"/>
              </a:ext>
            </a:extLst>
          </p:cNvPr>
          <p:cNvSpPr txBox="1">
            <a:spLocks/>
          </p:cNvSpPr>
          <p:nvPr/>
        </p:nvSpPr>
        <p:spPr>
          <a:xfrm>
            <a:off x="0" y="-171500"/>
            <a:ext cx="9144000" cy="1440200"/>
          </a:xfrm>
          <a:prstGeom prst="rect">
            <a:avLst/>
          </a:prstGeom>
          <a:solidFill>
            <a:srgbClr val="92D050"/>
          </a:solidFill>
        </p:spPr>
        <p:txBody>
          <a:bodyPr>
            <a:normAutofit/>
          </a:bodyPr>
          <a:lstStyle>
            <a:lvl1pPr algn="l" rtl="0" eaLnBrk="0" fontAlgn="base" hangingPunct="0">
              <a:spcBef>
                <a:spcPct val="0"/>
              </a:spcBef>
              <a:spcAft>
                <a:spcPct val="0"/>
              </a:spcAft>
              <a:defRPr sz="3200" b="1">
                <a:solidFill>
                  <a:srgbClr val="CCFF66"/>
                </a:solidFill>
                <a:latin typeface="+mj-lt"/>
                <a:ea typeface="+mj-ea"/>
                <a:cs typeface="+mj-cs"/>
              </a:defRPr>
            </a:lvl1pPr>
            <a:lvl2pPr algn="l" rtl="0" eaLnBrk="0" fontAlgn="base" hangingPunct="0">
              <a:spcBef>
                <a:spcPct val="0"/>
              </a:spcBef>
              <a:spcAft>
                <a:spcPct val="0"/>
              </a:spcAft>
              <a:defRPr sz="3200" b="1">
                <a:solidFill>
                  <a:srgbClr val="CCFF66"/>
                </a:solidFill>
                <a:latin typeface="Arial" charset="0"/>
              </a:defRPr>
            </a:lvl2pPr>
            <a:lvl3pPr algn="l" rtl="0" eaLnBrk="0" fontAlgn="base" hangingPunct="0">
              <a:spcBef>
                <a:spcPct val="0"/>
              </a:spcBef>
              <a:spcAft>
                <a:spcPct val="0"/>
              </a:spcAft>
              <a:defRPr sz="3200" b="1">
                <a:solidFill>
                  <a:srgbClr val="CCFF66"/>
                </a:solidFill>
                <a:latin typeface="Arial" charset="0"/>
              </a:defRPr>
            </a:lvl3pPr>
            <a:lvl4pPr algn="l" rtl="0" eaLnBrk="0" fontAlgn="base" hangingPunct="0">
              <a:spcBef>
                <a:spcPct val="0"/>
              </a:spcBef>
              <a:spcAft>
                <a:spcPct val="0"/>
              </a:spcAft>
              <a:defRPr sz="3200" b="1">
                <a:solidFill>
                  <a:srgbClr val="CCFF66"/>
                </a:solidFill>
                <a:latin typeface="Arial" charset="0"/>
              </a:defRPr>
            </a:lvl4pPr>
            <a:lvl5pPr algn="l" rtl="0" eaLnBrk="0" fontAlgn="base" hangingPunct="0">
              <a:spcBef>
                <a:spcPct val="0"/>
              </a:spcBef>
              <a:spcAft>
                <a:spcPct val="0"/>
              </a:spcAft>
              <a:defRPr sz="3200" b="1">
                <a:solidFill>
                  <a:srgbClr val="CCFF66"/>
                </a:solidFill>
                <a:latin typeface="Arial" charset="0"/>
              </a:defRPr>
            </a:lvl5pPr>
            <a:lvl6pPr marL="457200" algn="l" rtl="0" eaLnBrk="0" fontAlgn="base" hangingPunct="0">
              <a:spcBef>
                <a:spcPct val="0"/>
              </a:spcBef>
              <a:spcAft>
                <a:spcPct val="0"/>
              </a:spcAft>
              <a:defRPr sz="3200" b="1">
                <a:solidFill>
                  <a:srgbClr val="CCFF66"/>
                </a:solidFill>
                <a:latin typeface="Arial" charset="0"/>
              </a:defRPr>
            </a:lvl6pPr>
            <a:lvl7pPr marL="914400" algn="l" rtl="0" eaLnBrk="0" fontAlgn="base" hangingPunct="0">
              <a:spcBef>
                <a:spcPct val="0"/>
              </a:spcBef>
              <a:spcAft>
                <a:spcPct val="0"/>
              </a:spcAft>
              <a:defRPr sz="3200" b="1">
                <a:solidFill>
                  <a:srgbClr val="CCFF66"/>
                </a:solidFill>
                <a:latin typeface="Arial" charset="0"/>
              </a:defRPr>
            </a:lvl7pPr>
            <a:lvl8pPr marL="1371600" algn="l" rtl="0" eaLnBrk="0" fontAlgn="base" hangingPunct="0">
              <a:spcBef>
                <a:spcPct val="0"/>
              </a:spcBef>
              <a:spcAft>
                <a:spcPct val="0"/>
              </a:spcAft>
              <a:defRPr sz="3200" b="1">
                <a:solidFill>
                  <a:srgbClr val="CCFF66"/>
                </a:solidFill>
                <a:latin typeface="Arial" charset="0"/>
              </a:defRPr>
            </a:lvl8pPr>
            <a:lvl9pPr marL="1828800" algn="l" rtl="0" eaLnBrk="0" fontAlgn="base" hangingPunct="0">
              <a:spcBef>
                <a:spcPct val="0"/>
              </a:spcBef>
              <a:spcAft>
                <a:spcPct val="0"/>
              </a:spcAft>
              <a:defRPr sz="3200" b="1">
                <a:solidFill>
                  <a:srgbClr val="CCFF66"/>
                </a:solidFill>
                <a:latin typeface="Arial" charset="0"/>
              </a:defRPr>
            </a:lvl9pPr>
          </a:lstStyle>
          <a:p>
            <a:r>
              <a:rPr lang="en-AU" kern="0" dirty="0">
                <a:solidFill>
                  <a:schemeClr val="tx1"/>
                </a:solidFill>
              </a:rPr>
              <a:t>Experimental studies with several E and containing both G and M (all WA)</a:t>
            </a:r>
          </a:p>
        </p:txBody>
      </p:sp>
      <p:sp>
        <p:nvSpPr>
          <p:cNvPr id="3" name="Content Placeholder 2">
            <a:extLst>
              <a:ext uri="{FF2B5EF4-FFF2-40B4-BE49-F238E27FC236}">
                <a16:creationId xmlns:a16="http://schemas.microsoft.com/office/drawing/2014/main" id="{0F7A5828-6DDD-4D9E-964E-5C004138EA7B}"/>
              </a:ext>
            </a:extLst>
          </p:cNvPr>
          <p:cNvSpPr txBox="1">
            <a:spLocks/>
          </p:cNvSpPr>
          <p:nvPr/>
        </p:nvSpPr>
        <p:spPr>
          <a:xfrm>
            <a:off x="508550" y="4410714"/>
            <a:ext cx="7859320" cy="1972819"/>
          </a:xfrm>
          <a:prstGeom prst="rect">
            <a:avLst/>
          </a:prstGeom>
          <a:solidFill>
            <a:srgbClr val="FFFF00"/>
          </a:solidFill>
        </p:spPr>
        <p:txBody>
          <a:bodyPr>
            <a:normAutofit fontScale="55000" lnSpcReduction="20000"/>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buFontTx/>
              <a:buNone/>
            </a:pPr>
            <a:r>
              <a:rPr lang="en-AU" sz="2800" kern="0" dirty="0"/>
              <a:t>Authors			% of variance attributed to:-</a:t>
            </a:r>
          </a:p>
          <a:p>
            <a:pPr>
              <a:buFontTx/>
              <a:buNone/>
            </a:pPr>
            <a:r>
              <a:rPr lang="en-AU" sz="2800" kern="0" dirty="0"/>
              <a:t>	</a:t>
            </a:r>
            <a:r>
              <a:rPr lang="en-AU" sz="2800" u="sng" kern="0" dirty="0"/>
              <a:t>				G	M	E  Interactions</a:t>
            </a:r>
          </a:p>
          <a:p>
            <a:pPr>
              <a:buFontTx/>
              <a:buNone/>
            </a:pPr>
            <a:r>
              <a:rPr lang="en-AU" sz="2800" kern="0" dirty="0"/>
              <a:t>Anderson </a:t>
            </a:r>
            <a:r>
              <a:rPr lang="en-AU" sz="2000" kern="0" dirty="0"/>
              <a:t>et al. </a:t>
            </a:r>
            <a:r>
              <a:rPr lang="en-AU" sz="2800" kern="0" dirty="0"/>
              <a:t>(2005)	3	2	26	60</a:t>
            </a:r>
          </a:p>
          <a:p>
            <a:pPr>
              <a:buFontTx/>
              <a:buNone/>
            </a:pPr>
            <a:r>
              <a:rPr lang="en-AU" sz="2800" kern="0" dirty="0"/>
              <a:t>Sharma </a:t>
            </a:r>
            <a:r>
              <a:rPr lang="en-AU" sz="2000" kern="0" dirty="0"/>
              <a:t>et al.</a:t>
            </a:r>
            <a:r>
              <a:rPr lang="en-AU" sz="2800" kern="0" dirty="0"/>
              <a:t> (2008)	-	10	70	7</a:t>
            </a:r>
          </a:p>
          <a:p>
            <a:pPr>
              <a:buFontTx/>
              <a:buNone/>
            </a:pPr>
            <a:r>
              <a:rPr lang="en-AU" sz="2800" kern="0" dirty="0"/>
              <a:t>D. Hughes (pc, 2010)	2	6	89	-</a:t>
            </a:r>
          </a:p>
          <a:p>
            <a:pPr>
              <a:buFontTx/>
              <a:buNone/>
            </a:pPr>
            <a:r>
              <a:rPr lang="en-AU" sz="2800" kern="0" dirty="0"/>
              <a:t>Anderson </a:t>
            </a:r>
            <a:r>
              <a:rPr lang="en-AU" sz="2000" kern="0" dirty="0"/>
              <a:t>et al.</a:t>
            </a:r>
            <a:r>
              <a:rPr lang="en-AU" sz="2800" kern="0" dirty="0"/>
              <a:t> (2010)	2	4	78	15</a:t>
            </a:r>
          </a:p>
          <a:p>
            <a:pPr>
              <a:buFontTx/>
              <a:buNone/>
            </a:pPr>
            <a:r>
              <a:rPr lang="en-AU" sz="2800" kern="0" dirty="0" err="1"/>
              <a:t>Abrecht</a:t>
            </a:r>
            <a:r>
              <a:rPr lang="en-AU" sz="2800" kern="0" dirty="0"/>
              <a:t> </a:t>
            </a:r>
            <a:r>
              <a:rPr lang="en-AU" sz="2000" kern="0" dirty="0"/>
              <a:t>et al.</a:t>
            </a:r>
            <a:r>
              <a:rPr lang="en-AU" sz="2800" kern="0" dirty="0"/>
              <a:t> (2008)</a:t>
            </a:r>
            <a:r>
              <a:rPr lang="en-AU" sz="2400" kern="0" dirty="0"/>
              <a:t>Mer</a:t>
            </a:r>
            <a:r>
              <a:rPr lang="en-AU" sz="2800" kern="0" dirty="0"/>
              <a:t> -	36	42	17</a:t>
            </a:r>
          </a:p>
          <a:p>
            <a:pPr>
              <a:buFontTx/>
              <a:buNone/>
            </a:pPr>
            <a:r>
              <a:rPr lang="en-AU" sz="2800" kern="0" dirty="0"/>
              <a:t>				   </a:t>
            </a:r>
            <a:r>
              <a:rPr lang="en-AU" sz="2400" kern="0" dirty="0" err="1"/>
              <a:t>Koj</a:t>
            </a:r>
            <a:r>
              <a:rPr lang="en-AU" sz="2800" kern="0" dirty="0"/>
              <a:t>	-	56	16	22</a:t>
            </a:r>
          </a:p>
        </p:txBody>
      </p:sp>
      <p:pic>
        <p:nvPicPr>
          <p:cNvPr id="5" name="Picture 4">
            <a:extLst>
              <a:ext uri="{FF2B5EF4-FFF2-40B4-BE49-F238E27FC236}">
                <a16:creationId xmlns:a16="http://schemas.microsoft.com/office/drawing/2014/main" id="{0914BDB2-A396-714C-D4AD-2FE9D4AFC2E9}"/>
              </a:ext>
            </a:extLst>
          </p:cNvPr>
          <p:cNvPicPr>
            <a:picLocks noChangeAspect="1"/>
          </p:cNvPicPr>
          <p:nvPr/>
        </p:nvPicPr>
        <p:blipFill>
          <a:blip r:embed="rId2"/>
          <a:stretch>
            <a:fillRect/>
          </a:stretch>
        </p:blipFill>
        <p:spPr>
          <a:xfrm>
            <a:off x="508550" y="1286407"/>
            <a:ext cx="4114800" cy="2921751"/>
          </a:xfrm>
          <a:prstGeom prst="rect">
            <a:avLst/>
          </a:prstGeom>
        </p:spPr>
      </p:pic>
    </p:spTree>
    <p:extLst>
      <p:ext uri="{BB962C8B-B14F-4D97-AF65-F5344CB8AC3E}">
        <p14:creationId xmlns:p14="http://schemas.microsoft.com/office/powerpoint/2010/main" val="38048266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Spike/Spikelet – </a:t>
            </a:r>
            <a:r>
              <a:rPr lang="en-AU" dirty="0">
                <a:solidFill>
                  <a:schemeClr val="bg1"/>
                </a:solidFill>
              </a:rPr>
              <a:t>wheat</a:t>
            </a:r>
          </a:p>
        </p:txBody>
      </p:sp>
      <p:pic>
        <p:nvPicPr>
          <p:cNvPr id="3" name="Picture 2">
            <a:extLst>
              <a:ext uri="{FF2B5EF4-FFF2-40B4-BE49-F238E27FC236}">
                <a16:creationId xmlns:a16="http://schemas.microsoft.com/office/drawing/2014/main" id="{41DCF288-1614-0818-CE48-05D477B4A918}"/>
              </a:ext>
            </a:extLst>
          </p:cNvPr>
          <p:cNvPicPr>
            <a:picLocks noChangeAspect="1"/>
          </p:cNvPicPr>
          <p:nvPr/>
        </p:nvPicPr>
        <p:blipFill>
          <a:blip r:embed="rId2"/>
          <a:stretch>
            <a:fillRect/>
          </a:stretch>
        </p:blipFill>
        <p:spPr>
          <a:xfrm>
            <a:off x="0" y="-99490"/>
            <a:ext cx="9144000" cy="6996622"/>
          </a:xfrm>
          <a:prstGeom prst="rect">
            <a:avLst/>
          </a:prstGeom>
        </p:spPr>
      </p:pic>
    </p:spTree>
    <p:extLst>
      <p:ext uri="{BB962C8B-B14F-4D97-AF65-F5344CB8AC3E}">
        <p14:creationId xmlns:p14="http://schemas.microsoft.com/office/powerpoint/2010/main" val="31122943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F129581D-3153-C23C-3590-15D45199D8AD}"/>
              </a:ext>
            </a:extLst>
          </p:cNvPr>
          <p:cNvPicPr>
            <a:picLocks noGrp="1" noChangeAspect="1"/>
          </p:cNvPicPr>
          <p:nvPr>
            <p:ph idx="1"/>
          </p:nvPr>
        </p:nvPicPr>
        <p:blipFill>
          <a:blip r:embed="rId3"/>
          <a:stretch>
            <a:fillRect/>
          </a:stretch>
        </p:blipFill>
        <p:spPr>
          <a:xfrm>
            <a:off x="4932050" y="1628750"/>
            <a:ext cx="5268186" cy="2088290"/>
          </a:xfrm>
        </p:spPr>
      </p:pic>
      <p:pic>
        <p:nvPicPr>
          <p:cNvPr id="5" name="Picture 4">
            <a:extLst>
              <a:ext uri="{FF2B5EF4-FFF2-40B4-BE49-F238E27FC236}">
                <a16:creationId xmlns:a16="http://schemas.microsoft.com/office/drawing/2014/main" id="{235FEFAC-BCD6-6E82-09A3-B07A385D1E3D}"/>
              </a:ext>
            </a:extLst>
          </p:cNvPr>
          <p:cNvPicPr>
            <a:picLocks noChangeAspect="1"/>
          </p:cNvPicPr>
          <p:nvPr/>
        </p:nvPicPr>
        <p:blipFill>
          <a:blip r:embed="rId4"/>
          <a:stretch>
            <a:fillRect/>
          </a:stretch>
        </p:blipFill>
        <p:spPr>
          <a:xfrm>
            <a:off x="144043" y="201404"/>
            <a:ext cx="4520103" cy="7031272"/>
          </a:xfrm>
          <a:prstGeom prst="rect">
            <a:avLst/>
          </a:prstGeom>
        </p:spPr>
      </p:pic>
      <p:sp>
        <p:nvSpPr>
          <p:cNvPr id="2" name="Rectangle 2">
            <a:extLst>
              <a:ext uri="{FF2B5EF4-FFF2-40B4-BE49-F238E27FC236}">
                <a16:creationId xmlns:a16="http://schemas.microsoft.com/office/drawing/2014/main" id="{0C5BAA7D-4D28-6F78-50F8-5E905BBC4783}"/>
              </a:ext>
            </a:extLst>
          </p:cNvPr>
          <p:cNvSpPr>
            <a:spLocks noGrp="1" noChangeArrowheads="1"/>
          </p:cNvSpPr>
          <p:nvPr>
            <p:ph type="title"/>
          </p:nvPr>
        </p:nvSpPr>
        <p:spPr bwMode="blackWhite">
          <a:xfrm>
            <a:off x="5724160" y="91974"/>
            <a:ext cx="1751040" cy="914400"/>
          </a:xfrm>
          <a:noFill/>
          <a:ln/>
        </p:spPr>
        <p:txBody>
          <a:bodyPr/>
          <a:lstStyle/>
          <a:p>
            <a:r>
              <a:rPr lang="en-AU" dirty="0"/>
              <a:t>Wheat</a:t>
            </a:r>
            <a:endParaRPr lang="en-AU" dirty="0">
              <a:solidFill>
                <a:schemeClr val="bg1"/>
              </a:solidFill>
            </a:endParaRPr>
          </a:p>
        </p:txBody>
      </p:sp>
      <p:pic>
        <p:nvPicPr>
          <p:cNvPr id="10" name="Content Placeholder 5">
            <a:extLst>
              <a:ext uri="{FF2B5EF4-FFF2-40B4-BE49-F238E27FC236}">
                <a16:creationId xmlns:a16="http://schemas.microsoft.com/office/drawing/2014/main" id="{D97E2F11-3115-DB6F-012F-86E0E883E226}"/>
              </a:ext>
            </a:extLst>
          </p:cNvPr>
          <p:cNvPicPr>
            <a:picLocks noChangeAspect="1"/>
          </p:cNvPicPr>
          <p:nvPr/>
        </p:nvPicPr>
        <p:blipFill rotWithShape="1">
          <a:blip r:embed="rId3"/>
          <a:srcRect l="79639"/>
          <a:stretch/>
        </p:blipFill>
        <p:spPr bwMode="auto">
          <a:xfrm>
            <a:off x="5004060" y="3501010"/>
            <a:ext cx="1072673" cy="2088290"/>
          </a:xfrm>
          <a:prstGeom prst="rect">
            <a:avLst/>
          </a:prstGeom>
          <a:noFill/>
          <a:ln w="9525">
            <a:noFill/>
            <a:miter lim="800000"/>
            <a:headEnd/>
            <a:tailEnd/>
          </a:ln>
          <a:effectLst/>
        </p:spPr>
      </p:pic>
    </p:spTree>
    <p:extLst>
      <p:ext uri="{BB962C8B-B14F-4D97-AF65-F5344CB8AC3E}">
        <p14:creationId xmlns:p14="http://schemas.microsoft.com/office/powerpoint/2010/main" val="1786017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Grain classification – wheat/barley</a:t>
            </a:r>
            <a:endParaRPr lang="en-AU" dirty="0">
              <a:solidFill>
                <a:schemeClr val="bg1"/>
              </a:solidFill>
            </a:endParaRPr>
          </a:p>
        </p:txBody>
      </p:sp>
      <p:pic>
        <p:nvPicPr>
          <p:cNvPr id="4" name="Picture 3"/>
          <p:cNvPicPr>
            <a:picLocks noChangeAspect="1"/>
          </p:cNvPicPr>
          <p:nvPr/>
        </p:nvPicPr>
        <p:blipFill>
          <a:blip r:embed="rId2"/>
          <a:stretch>
            <a:fillRect/>
          </a:stretch>
        </p:blipFill>
        <p:spPr>
          <a:xfrm rot="10800000">
            <a:off x="27792" y="1268700"/>
            <a:ext cx="5010150" cy="2895600"/>
          </a:xfrm>
          <a:prstGeom prst="rect">
            <a:avLst/>
          </a:prstGeom>
        </p:spPr>
      </p:pic>
      <p:pic>
        <p:nvPicPr>
          <p:cNvPr id="3" name="Picture 2">
            <a:extLst>
              <a:ext uri="{FF2B5EF4-FFF2-40B4-BE49-F238E27FC236}">
                <a16:creationId xmlns:a16="http://schemas.microsoft.com/office/drawing/2014/main" id="{FC6C8799-AE1E-28AB-52A7-C43A39E776B0}"/>
              </a:ext>
            </a:extLst>
          </p:cNvPr>
          <p:cNvPicPr>
            <a:picLocks noChangeAspect="1"/>
          </p:cNvPicPr>
          <p:nvPr/>
        </p:nvPicPr>
        <p:blipFill>
          <a:blip r:embed="rId3"/>
          <a:stretch>
            <a:fillRect/>
          </a:stretch>
        </p:blipFill>
        <p:spPr>
          <a:xfrm>
            <a:off x="3334333" y="1163583"/>
            <a:ext cx="5819775" cy="5324475"/>
          </a:xfrm>
          <a:prstGeom prst="rect">
            <a:avLst/>
          </a:prstGeom>
        </p:spPr>
      </p:pic>
    </p:spTree>
    <p:extLst>
      <p:ext uri="{BB962C8B-B14F-4D97-AF65-F5344CB8AC3E}">
        <p14:creationId xmlns:p14="http://schemas.microsoft.com/office/powerpoint/2010/main" val="3840649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xfrm>
            <a:off x="228600" y="76200"/>
            <a:ext cx="7543800" cy="914400"/>
          </a:xfrm>
        </p:spPr>
        <p:txBody>
          <a:bodyPr wrap="square" anchor="ctr">
            <a:normAutofit/>
          </a:bodyPr>
          <a:lstStyle/>
          <a:p>
            <a:r>
              <a:rPr lang="en-AU" dirty="0"/>
              <a:t>Spike/Spikelet – </a:t>
            </a:r>
            <a:r>
              <a:rPr lang="en-AU"/>
              <a:t>wheat</a:t>
            </a:r>
          </a:p>
        </p:txBody>
      </p:sp>
      <p:pic>
        <p:nvPicPr>
          <p:cNvPr id="4" name="Picture 3">
            <a:extLst>
              <a:ext uri="{FF2B5EF4-FFF2-40B4-BE49-F238E27FC236}">
                <a16:creationId xmlns:a16="http://schemas.microsoft.com/office/drawing/2014/main" id="{961E4601-1849-E7A1-BD6C-287031BA2B38}"/>
              </a:ext>
            </a:extLst>
          </p:cNvPr>
          <p:cNvPicPr>
            <a:picLocks noChangeAspect="1"/>
          </p:cNvPicPr>
          <p:nvPr/>
        </p:nvPicPr>
        <p:blipFill>
          <a:blip r:embed="rId2"/>
          <a:srcRect r="16042" b="-1"/>
          <a:stretch/>
        </p:blipFill>
        <p:spPr>
          <a:xfrm>
            <a:off x="395420" y="1576320"/>
            <a:ext cx="3812340" cy="4705485"/>
          </a:xfrm>
          <a:prstGeom prst="rect">
            <a:avLst/>
          </a:prstGeom>
          <a:noFill/>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rcRect t="5220"/>
          <a:stretch/>
        </p:blipFill>
        <p:spPr>
          <a:xfrm>
            <a:off x="4648200" y="1341438"/>
            <a:ext cx="4316413" cy="2587625"/>
          </a:xfrm>
          <a:prstGeom prst="rect">
            <a:avLst/>
          </a:prstGeom>
          <a:noFill/>
        </p:spPr>
      </p:pic>
      <p:sp>
        <p:nvSpPr>
          <p:cNvPr id="134151" name="Content Placeholder 4">
            <a:extLst>
              <a:ext uri="{FF2B5EF4-FFF2-40B4-BE49-F238E27FC236}">
                <a16:creationId xmlns:a16="http://schemas.microsoft.com/office/drawing/2014/main" id="{1F3E1348-9061-D010-4F51-E36203840E04}"/>
              </a:ext>
            </a:extLst>
          </p:cNvPr>
          <p:cNvSpPr>
            <a:spLocks noGrp="1"/>
          </p:cNvSpPr>
          <p:nvPr>
            <p:ph sz="quarter" idx="3"/>
          </p:nvPr>
        </p:nvSpPr>
        <p:spPr>
          <a:xfrm>
            <a:off x="4648200" y="4081463"/>
            <a:ext cx="4316413" cy="2587625"/>
          </a:xfrm>
        </p:spPr>
        <p:txBody>
          <a:bodyPr/>
          <a:lstStyle/>
          <a:p>
            <a:r>
              <a:rPr lang="en-US" sz="1600" dirty="0"/>
              <a:t>1 – 5 florets/spikelet</a:t>
            </a:r>
          </a:p>
          <a:p>
            <a:r>
              <a:rPr lang="en-US" sz="1600" dirty="0"/>
              <a:t>18-22 </a:t>
            </a:r>
            <a:r>
              <a:rPr lang="en-US" sz="1600" dirty="0" err="1"/>
              <a:t>spikelets</a:t>
            </a:r>
            <a:r>
              <a:rPr lang="en-US" sz="1600" dirty="0"/>
              <a:t>/head</a:t>
            </a:r>
          </a:p>
          <a:p>
            <a:r>
              <a:rPr lang="en-US" sz="1600" dirty="0"/>
              <a:t>30-50 grains/head</a:t>
            </a:r>
          </a:p>
          <a:p>
            <a:r>
              <a:rPr lang="en-US" sz="1600" dirty="0"/>
              <a:t>Endosperm (8-16% protein) -&gt; flour</a:t>
            </a:r>
          </a:p>
          <a:p>
            <a:r>
              <a:rPr lang="en-AU" sz="1600" dirty="0"/>
              <a:t>Soft wheat: a soft, opaque and less compact endosperm compared to hard wheat. Good for biscuits.</a:t>
            </a:r>
          </a:p>
          <a:p>
            <a:r>
              <a:rPr lang="en-AU" sz="1600" dirty="0"/>
              <a:t>Hard wheat: wheat which has a vitreous endosperm.  Good for bread.</a:t>
            </a:r>
            <a:endParaRPr lang="en-US" sz="1600" b="1" dirty="0"/>
          </a:p>
          <a:p>
            <a:endParaRPr lang="en-US" sz="1800" dirty="0"/>
          </a:p>
        </p:txBody>
      </p:sp>
    </p:spTree>
    <p:extLst>
      <p:ext uri="{BB962C8B-B14F-4D97-AF65-F5344CB8AC3E}">
        <p14:creationId xmlns:p14="http://schemas.microsoft.com/office/powerpoint/2010/main" val="3795762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Taxonomy – </a:t>
            </a:r>
            <a:r>
              <a:rPr lang="en-AU" dirty="0">
                <a:solidFill>
                  <a:schemeClr val="bg1"/>
                </a:solidFill>
              </a:rPr>
              <a:t>wheat</a:t>
            </a:r>
          </a:p>
        </p:txBody>
      </p:sp>
      <p:sp>
        <p:nvSpPr>
          <p:cNvPr id="134147" name="Rectangle 3"/>
          <p:cNvSpPr>
            <a:spLocks noGrp="1" noChangeArrowheads="1"/>
          </p:cNvSpPr>
          <p:nvPr>
            <p:ph type="body" idx="1"/>
          </p:nvPr>
        </p:nvSpPr>
        <p:spPr>
          <a:xfrm>
            <a:off x="179390" y="1196690"/>
            <a:ext cx="8785225" cy="5327650"/>
          </a:xfrm>
          <a:noFill/>
          <a:ln/>
        </p:spPr>
        <p:txBody>
          <a:bodyPr/>
          <a:lstStyle/>
          <a:p>
            <a:r>
              <a:rPr lang="en-AU" sz="2800" dirty="0"/>
              <a:t>Both wheat and barley belong to the family </a:t>
            </a:r>
            <a:r>
              <a:rPr lang="en-AU" sz="2800" dirty="0" err="1"/>
              <a:t>Poaceae</a:t>
            </a:r>
            <a:r>
              <a:rPr lang="en-AU" sz="2800" dirty="0"/>
              <a:t> and tribe </a:t>
            </a:r>
            <a:r>
              <a:rPr lang="en-AU" sz="2800" dirty="0" err="1"/>
              <a:t>Triticeae</a:t>
            </a:r>
            <a:r>
              <a:rPr lang="en-AU" sz="2800" dirty="0"/>
              <a:t>, </a:t>
            </a:r>
          </a:p>
          <a:p>
            <a:r>
              <a:rPr lang="en-AU" sz="2800" dirty="0"/>
              <a:t>Common wheat bread wheat (</a:t>
            </a:r>
            <a:r>
              <a:rPr lang="en-AU" sz="2800" i="1" dirty="0"/>
              <a:t>Triticum </a:t>
            </a:r>
            <a:r>
              <a:rPr lang="en-AU" sz="2800" i="1" dirty="0" err="1"/>
              <a:t>aestivum</a:t>
            </a:r>
            <a:r>
              <a:rPr lang="en-AU" sz="2800" dirty="0"/>
              <a:t>) </a:t>
            </a:r>
          </a:p>
          <a:p>
            <a:pPr marL="0" indent="0">
              <a:buNone/>
            </a:pPr>
            <a:r>
              <a:rPr lang="en-AU" sz="2800" dirty="0"/>
              <a:t>    </a:t>
            </a:r>
            <a:r>
              <a:rPr lang="en-AU" sz="2400" dirty="0"/>
              <a:t>(9-12% protein).</a:t>
            </a:r>
          </a:p>
          <a:p>
            <a:r>
              <a:rPr lang="en-AU" sz="2800" dirty="0"/>
              <a:t>Durum wheat (pasta and macaroni) </a:t>
            </a:r>
          </a:p>
          <a:p>
            <a:pPr marL="0" indent="0">
              <a:buNone/>
            </a:pPr>
            <a:r>
              <a:rPr lang="en-AU" sz="2800" dirty="0"/>
              <a:t>    (</a:t>
            </a:r>
            <a:r>
              <a:rPr lang="en-AU" sz="2800" i="1" dirty="0"/>
              <a:t>T. </a:t>
            </a:r>
            <a:r>
              <a:rPr lang="en-AU" sz="2800" i="1" dirty="0" err="1"/>
              <a:t>turgidum</a:t>
            </a:r>
            <a:r>
              <a:rPr lang="en-AU" sz="2800" i="1" dirty="0"/>
              <a:t> </a:t>
            </a:r>
            <a:r>
              <a:rPr lang="en-AU" sz="2800" dirty="0" err="1"/>
              <a:t>ssp</a:t>
            </a:r>
            <a:r>
              <a:rPr lang="en-AU" sz="2800" dirty="0"/>
              <a:t> </a:t>
            </a:r>
            <a:r>
              <a:rPr lang="en-AU" sz="2800" i="1" dirty="0"/>
              <a:t>durum</a:t>
            </a:r>
            <a:r>
              <a:rPr lang="en-AU" sz="2800" dirty="0"/>
              <a:t>)</a:t>
            </a:r>
          </a:p>
          <a:p>
            <a:pPr lvl="1"/>
            <a:r>
              <a:rPr lang="en-AU" sz="2400" dirty="0"/>
              <a:t> Durum is high in protein (13-14%), low in gluten, and tends to be quite dense. As compared to other wheat varieties it tends to be very heavy, which can make it difficult for people to use it in breads that need a lighter, airier quality; it is often prized in the flatbreads.</a:t>
            </a:r>
          </a:p>
          <a:p>
            <a:r>
              <a:rPr lang="en-AU" sz="2800" dirty="0"/>
              <a:t>They are annuals, self pollinating</a:t>
            </a:r>
          </a:p>
          <a:p>
            <a:endParaRPr lang="en-AU" dirty="0"/>
          </a:p>
        </p:txBody>
      </p:sp>
    </p:spTree>
    <p:extLst>
      <p:ext uri="{BB962C8B-B14F-4D97-AF65-F5344CB8AC3E}">
        <p14:creationId xmlns:p14="http://schemas.microsoft.com/office/powerpoint/2010/main" val="3905147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Wheat classification</a:t>
            </a:r>
            <a:endParaRPr lang="en-AU" dirty="0">
              <a:solidFill>
                <a:schemeClr val="bg1"/>
              </a:solidFill>
            </a:endParaRPr>
          </a:p>
        </p:txBody>
      </p:sp>
      <p:sp>
        <p:nvSpPr>
          <p:cNvPr id="3" name="Content Placeholder 2">
            <a:extLst>
              <a:ext uri="{FF2B5EF4-FFF2-40B4-BE49-F238E27FC236}">
                <a16:creationId xmlns:a16="http://schemas.microsoft.com/office/drawing/2014/main" id="{8ACEF6E8-30C2-9F88-4AB9-1C7A9EE43B94}"/>
              </a:ext>
            </a:extLst>
          </p:cNvPr>
          <p:cNvSpPr>
            <a:spLocks noGrp="1"/>
          </p:cNvSpPr>
          <p:nvPr>
            <p:ph idx="1"/>
          </p:nvPr>
        </p:nvSpPr>
        <p:spPr/>
        <p:txBody>
          <a:bodyPr/>
          <a:lstStyle/>
          <a:p>
            <a:endParaRPr lang="en-AU" dirty="0"/>
          </a:p>
        </p:txBody>
      </p:sp>
      <p:pic>
        <p:nvPicPr>
          <p:cNvPr id="5" name="Picture 4">
            <a:extLst>
              <a:ext uri="{FF2B5EF4-FFF2-40B4-BE49-F238E27FC236}">
                <a16:creationId xmlns:a16="http://schemas.microsoft.com/office/drawing/2014/main" id="{98732818-B497-1CCE-4A10-3AF0E0F453FD}"/>
              </a:ext>
            </a:extLst>
          </p:cNvPr>
          <p:cNvPicPr>
            <a:picLocks noChangeAspect="1"/>
          </p:cNvPicPr>
          <p:nvPr/>
        </p:nvPicPr>
        <p:blipFill>
          <a:blip r:embed="rId3"/>
          <a:stretch>
            <a:fillRect/>
          </a:stretch>
        </p:blipFill>
        <p:spPr>
          <a:xfrm>
            <a:off x="228600" y="1412720"/>
            <a:ext cx="7831248" cy="4786876"/>
          </a:xfrm>
          <a:prstGeom prst="rect">
            <a:avLst/>
          </a:prstGeom>
        </p:spPr>
      </p:pic>
    </p:spTree>
    <p:extLst>
      <p:ext uri="{BB962C8B-B14F-4D97-AF65-F5344CB8AC3E}">
        <p14:creationId xmlns:p14="http://schemas.microsoft.com/office/powerpoint/2010/main" val="4144350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Wheat classification</a:t>
            </a:r>
            <a:endParaRPr lang="en-AU" dirty="0">
              <a:solidFill>
                <a:schemeClr val="bg1"/>
              </a:solidFill>
            </a:endParaRPr>
          </a:p>
        </p:txBody>
      </p:sp>
      <p:sp>
        <p:nvSpPr>
          <p:cNvPr id="134147" name="Rectangle 3"/>
          <p:cNvSpPr>
            <a:spLocks noGrp="1" noChangeArrowheads="1"/>
          </p:cNvSpPr>
          <p:nvPr>
            <p:ph type="body" idx="1"/>
          </p:nvPr>
        </p:nvSpPr>
        <p:spPr>
          <a:xfrm>
            <a:off x="179390" y="1196690"/>
            <a:ext cx="8785225" cy="5327650"/>
          </a:xfrm>
          <a:noFill/>
          <a:ln/>
        </p:spPr>
        <p:txBody>
          <a:bodyPr/>
          <a:lstStyle/>
          <a:p>
            <a:r>
              <a:rPr lang="en-AU" sz="2800" dirty="0"/>
              <a:t>Premium Hard Wheats</a:t>
            </a:r>
          </a:p>
          <a:p>
            <a:pPr lvl="1"/>
            <a:r>
              <a:rPr lang="en-AU" sz="2400" dirty="0"/>
              <a:t>Australian Premium Hard (APH) – high protein – High volume European-type breads, ramen noodles etc.</a:t>
            </a:r>
          </a:p>
          <a:p>
            <a:pPr lvl="1"/>
            <a:r>
              <a:rPr lang="en-AU" sz="2400" dirty="0"/>
              <a:t>Australian Hard (AH) mid-high protein – European pan, Middle Eastern style flat breads, steamed products</a:t>
            </a:r>
          </a:p>
          <a:p>
            <a:pPr lvl="1"/>
            <a:r>
              <a:rPr lang="en-AU" sz="2400" dirty="0"/>
              <a:t>Australian Premium White (APW) – noodles some </a:t>
            </a:r>
            <a:r>
              <a:rPr lang="en-AU" sz="2400" dirty="0" err="1"/>
              <a:t>continential</a:t>
            </a:r>
            <a:r>
              <a:rPr lang="en-AU" sz="2400" dirty="0"/>
              <a:t> flat breads</a:t>
            </a:r>
          </a:p>
          <a:p>
            <a:r>
              <a:rPr lang="en-AU" sz="2800" dirty="0"/>
              <a:t>Multi-Purpose Wheats</a:t>
            </a:r>
          </a:p>
          <a:p>
            <a:pPr lvl="1"/>
            <a:r>
              <a:rPr lang="en-AU" sz="2400" dirty="0"/>
              <a:t>Australian Standard White (ASW) – Med-low protein – straight milling or blending. European-style breads and rolls</a:t>
            </a:r>
          </a:p>
        </p:txBody>
      </p:sp>
    </p:spTree>
    <p:extLst>
      <p:ext uri="{BB962C8B-B14F-4D97-AF65-F5344CB8AC3E}">
        <p14:creationId xmlns:p14="http://schemas.microsoft.com/office/powerpoint/2010/main" val="2661089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Wheat classification</a:t>
            </a:r>
            <a:endParaRPr lang="en-AU" dirty="0">
              <a:solidFill>
                <a:schemeClr val="bg1"/>
              </a:solidFill>
            </a:endParaRPr>
          </a:p>
        </p:txBody>
      </p:sp>
      <p:sp>
        <p:nvSpPr>
          <p:cNvPr id="134147" name="Rectangle 3"/>
          <p:cNvSpPr>
            <a:spLocks noGrp="1" noChangeArrowheads="1"/>
          </p:cNvSpPr>
          <p:nvPr>
            <p:ph type="body" idx="1"/>
          </p:nvPr>
        </p:nvSpPr>
        <p:spPr>
          <a:xfrm>
            <a:off x="179391" y="1196690"/>
            <a:ext cx="4680650" cy="5327650"/>
          </a:xfrm>
          <a:noFill/>
          <a:ln/>
        </p:spPr>
        <p:txBody>
          <a:bodyPr/>
          <a:lstStyle/>
          <a:p>
            <a:r>
              <a:rPr lang="en-AU" sz="2800" dirty="0"/>
              <a:t>Specialty Wheats</a:t>
            </a:r>
          </a:p>
          <a:p>
            <a:pPr lvl="1"/>
            <a:r>
              <a:rPr lang="en-AU" sz="2000" dirty="0"/>
              <a:t>Australian Premium Durum (ADR) – Pasta, couscous, flat breads</a:t>
            </a:r>
          </a:p>
          <a:p>
            <a:pPr lvl="1"/>
            <a:r>
              <a:rPr lang="en-AU" sz="2000" dirty="0"/>
              <a:t>Australian Noodle (ANW) – Japanese </a:t>
            </a:r>
            <a:r>
              <a:rPr lang="en-AU" sz="2000" dirty="0" err="1"/>
              <a:t>Udon</a:t>
            </a:r>
            <a:r>
              <a:rPr lang="en-AU" sz="2000" dirty="0"/>
              <a:t>-style noodle.</a:t>
            </a:r>
          </a:p>
          <a:p>
            <a:pPr lvl="1"/>
            <a:r>
              <a:rPr lang="en-AU" sz="2000" dirty="0"/>
              <a:t>Australian Premium Noodle (APWN) – WA only/Export – white salted/instant noodles.</a:t>
            </a:r>
          </a:p>
          <a:p>
            <a:pPr lvl="1"/>
            <a:r>
              <a:rPr lang="en-AU" sz="2000" dirty="0"/>
              <a:t>Australian Soft (ASFT) – produced on east coast biscuit making etc.</a:t>
            </a:r>
            <a:endParaRPr lang="en-AU" sz="2400" dirty="0"/>
          </a:p>
        </p:txBody>
      </p:sp>
      <p:pic>
        <p:nvPicPr>
          <p:cNvPr id="5" name="Picture 4">
            <a:extLst>
              <a:ext uri="{FF2B5EF4-FFF2-40B4-BE49-F238E27FC236}">
                <a16:creationId xmlns:a16="http://schemas.microsoft.com/office/drawing/2014/main" id="{F32591C6-BCED-CCDC-CB64-DB0939089C6A}"/>
              </a:ext>
            </a:extLst>
          </p:cNvPr>
          <p:cNvPicPr>
            <a:picLocks noChangeAspect="1"/>
          </p:cNvPicPr>
          <p:nvPr/>
        </p:nvPicPr>
        <p:blipFill rotWithShape="1">
          <a:blip r:embed="rId3"/>
          <a:srcRect t="1846"/>
          <a:stretch/>
        </p:blipFill>
        <p:spPr>
          <a:xfrm>
            <a:off x="4860041" y="1844780"/>
            <a:ext cx="4029075" cy="4646533"/>
          </a:xfrm>
          <a:prstGeom prst="rect">
            <a:avLst/>
          </a:prstGeom>
        </p:spPr>
      </p:pic>
    </p:spTree>
    <p:extLst>
      <p:ext uri="{BB962C8B-B14F-4D97-AF65-F5344CB8AC3E}">
        <p14:creationId xmlns:p14="http://schemas.microsoft.com/office/powerpoint/2010/main" val="2123222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Wheat classification</a:t>
            </a:r>
            <a:endParaRPr lang="en-AU" dirty="0">
              <a:solidFill>
                <a:schemeClr val="bg1"/>
              </a:solidFill>
            </a:endParaRPr>
          </a:p>
        </p:txBody>
      </p:sp>
      <p:sp>
        <p:nvSpPr>
          <p:cNvPr id="134147" name="Rectangle 3"/>
          <p:cNvSpPr>
            <a:spLocks noGrp="1" noChangeArrowheads="1"/>
          </p:cNvSpPr>
          <p:nvPr>
            <p:ph type="body" idx="1"/>
          </p:nvPr>
        </p:nvSpPr>
        <p:spPr>
          <a:xfrm>
            <a:off x="179390" y="1196690"/>
            <a:ext cx="8785225" cy="5327650"/>
          </a:xfrm>
          <a:noFill/>
          <a:ln/>
        </p:spPr>
        <p:txBody>
          <a:bodyPr/>
          <a:lstStyle/>
          <a:p>
            <a:r>
              <a:rPr lang="en-AU" sz="2800" dirty="0"/>
              <a:t>Australian Durum (DR) min 11.5 - 13%</a:t>
            </a:r>
          </a:p>
          <a:p>
            <a:r>
              <a:rPr lang="en-AU" sz="2800" dirty="0"/>
              <a:t>Australian Hard (APH1/2, AH1/2): min 11.5 - 14% protein. </a:t>
            </a:r>
            <a:r>
              <a:rPr lang="en-AU" sz="2800" dirty="0">
                <a:solidFill>
                  <a:srgbClr val="FF0000"/>
                </a:solidFill>
              </a:rPr>
              <a:t>$370</a:t>
            </a:r>
          </a:p>
          <a:p>
            <a:r>
              <a:rPr lang="en-AU" sz="2800" dirty="0"/>
              <a:t>Australian Premium White (APW1/2): min 10 – 10.5% protein. </a:t>
            </a:r>
            <a:r>
              <a:rPr lang="en-AU" sz="2800" dirty="0">
                <a:solidFill>
                  <a:srgbClr val="FF0000"/>
                </a:solidFill>
              </a:rPr>
              <a:t>$365</a:t>
            </a:r>
          </a:p>
          <a:p>
            <a:r>
              <a:rPr lang="en-AU" sz="2800" dirty="0"/>
              <a:t>Australian Standard White (ASW1/2) no min. </a:t>
            </a:r>
            <a:r>
              <a:rPr lang="en-AU" sz="2800" dirty="0">
                <a:solidFill>
                  <a:srgbClr val="FF0000"/>
                </a:solidFill>
              </a:rPr>
              <a:t>$340</a:t>
            </a:r>
          </a:p>
          <a:p>
            <a:r>
              <a:rPr lang="en-AU" sz="2800" dirty="0"/>
              <a:t>Australian Standard White (ASW): no min protein</a:t>
            </a:r>
          </a:p>
          <a:p>
            <a:r>
              <a:rPr lang="en-AU" sz="2800" dirty="0"/>
              <a:t>Australian Noodle Wheat (ANW1/2): no min - min 9.5%, max 11.5%</a:t>
            </a:r>
          </a:p>
          <a:p>
            <a:r>
              <a:rPr lang="en-AU" sz="2800" dirty="0"/>
              <a:t>Australian Soft: No min – max 9.5 – 10.5 % protein.</a:t>
            </a:r>
          </a:p>
          <a:p>
            <a:r>
              <a:rPr lang="en-AU" sz="2800" dirty="0"/>
              <a:t>Feed wheat – No protein limits</a:t>
            </a:r>
          </a:p>
        </p:txBody>
      </p:sp>
    </p:spTree>
    <p:extLst>
      <p:ext uri="{BB962C8B-B14F-4D97-AF65-F5344CB8AC3E}">
        <p14:creationId xmlns:p14="http://schemas.microsoft.com/office/powerpoint/2010/main" val="22968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CD007FD-3296-4A1F-85CE-FEC6E616DCA6}"/>
              </a:ext>
            </a:extLst>
          </p:cNvPr>
          <p:cNvPicPr>
            <a:picLocks noChangeAspect="1"/>
          </p:cNvPicPr>
          <p:nvPr/>
        </p:nvPicPr>
        <p:blipFill>
          <a:blip r:embed="rId3"/>
          <a:stretch>
            <a:fillRect/>
          </a:stretch>
        </p:blipFill>
        <p:spPr>
          <a:xfrm>
            <a:off x="0" y="-80963"/>
            <a:ext cx="3018106" cy="1441984"/>
          </a:xfrm>
          <a:prstGeom prst="rect">
            <a:avLst/>
          </a:prstGeom>
        </p:spPr>
      </p:pic>
      <p:pic>
        <p:nvPicPr>
          <p:cNvPr id="9" name="Content Placeholder 8">
            <a:extLst>
              <a:ext uri="{FF2B5EF4-FFF2-40B4-BE49-F238E27FC236}">
                <a16:creationId xmlns:a16="http://schemas.microsoft.com/office/drawing/2014/main" id="{AE9A5B34-E748-4387-9620-A0066305BF61}"/>
              </a:ext>
            </a:extLst>
          </p:cNvPr>
          <p:cNvPicPr>
            <a:picLocks noGrp="1" noChangeAspect="1"/>
          </p:cNvPicPr>
          <p:nvPr>
            <p:ph idx="1"/>
          </p:nvPr>
        </p:nvPicPr>
        <p:blipFill>
          <a:blip r:embed="rId4"/>
          <a:stretch>
            <a:fillRect/>
          </a:stretch>
        </p:blipFill>
        <p:spPr>
          <a:xfrm>
            <a:off x="107380" y="4006312"/>
            <a:ext cx="8785225" cy="2847722"/>
          </a:xfrm>
        </p:spPr>
      </p:pic>
      <p:pic>
        <p:nvPicPr>
          <p:cNvPr id="7" name="Picture 6">
            <a:extLst>
              <a:ext uri="{FF2B5EF4-FFF2-40B4-BE49-F238E27FC236}">
                <a16:creationId xmlns:a16="http://schemas.microsoft.com/office/drawing/2014/main" id="{6F1663B9-1039-452E-BA95-93BF02116A38}"/>
              </a:ext>
            </a:extLst>
          </p:cNvPr>
          <p:cNvPicPr>
            <a:picLocks noChangeAspect="1"/>
          </p:cNvPicPr>
          <p:nvPr/>
        </p:nvPicPr>
        <p:blipFill>
          <a:blip r:embed="rId5"/>
          <a:stretch>
            <a:fillRect/>
          </a:stretch>
        </p:blipFill>
        <p:spPr>
          <a:xfrm>
            <a:off x="0" y="1182577"/>
            <a:ext cx="9144000" cy="2830286"/>
          </a:xfrm>
          <a:prstGeom prst="rect">
            <a:avLst/>
          </a:prstGeom>
        </p:spPr>
      </p:pic>
      <p:pic>
        <p:nvPicPr>
          <p:cNvPr id="11" name="Picture 10">
            <a:extLst>
              <a:ext uri="{FF2B5EF4-FFF2-40B4-BE49-F238E27FC236}">
                <a16:creationId xmlns:a16="http://schemas.microsoft.com/office/drawing/2014/main" id="{BD54FA39-9898-4BBD-AC67-B815EE011C43}"/>
              </a:ext>
            </a:extLst>
          </p:cNvPr>
          <p:cNvPicPr>
            <a:picLocks noChangeAspect="1"/>
          </p:cNvPicPr>
          <p:nvPr/>
        </p:nvPicPr>
        <p:blipFill>
          <a:blip r:embed="rId6"/>
          <a:stretch>
            <a:fillRect/>
          </a:stretch>
        </p:blipFill>
        <p:spPr>
          <a:xfrm>
            <a:off x="3028950" y="-99490"/>
            <a:ext cx="6115050" cy="1381125"/>
          </a:xfrm>
          <a:prstGeom prst="rect">
            <a:avLst/>
          </a:prstGeom>
        </p:spPr>
      </p:pic>
    </p:spTree>
    <p:extLst>
      <p:ext uri="{BB962C8B-B14F-4D97-AF65-F5344CB8AC3E}">
        <p14:creationId xmlns:p14="http://schemas.microsoft.com/office/powerpoint/2010/main" val="3202701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7" name="Picture 9" descr="Emerging barley 011"/>
          <p:cNvPicPr>
            <a:picLocks noChangeAspect="1" noChangeArrowheads="1"/>
          </p:cNvPicPr>
          <p:nvPr/>
        </p:nvPicPr>
        <p:blipFill>
          <a:blip r:embed="rId2" cstate="print"/>
          <a:srcRect/>
          <a:stretch>
            <a:fillRect/>
          </a:stretch>
        </p:blipFill>
        <p:spPr bwMode="auto">
          <a:xfrm>
            <a:off x="0" y="1143000"/>
            <a:ext cx="9112250" cy="5595938"/>
          </a:xfrm>
          <a:prstGeom prst="rect">
            <a:avLst/>
          </a:prstGeom>
          <a:noFill/>
        </p:spPr>
      </p:pic>
      <p:sp>
        <p:nvSpPr>
          <p:cNvPr id="2050" name="Rectangle 2"/>
          <p:cNvSpPr>
            <a:spLocks noGrp="1" noChangeArrowheads="1"/>
          </p:cNvSpPr>
          <p:nvPr>
            <p:ph type="ctrTitle" idx="4294967295"/>
          </p:nvPr>
        </p:nvSpPr>
        <p:spPr>
          <a:xfrm>
            <a:off x="0" y="0"/>
            <a:ext cx="7848600" cy="1143000"/>
          </a:xfrm>
        </p:spPr>
        <p:txBody>
          <a:bodyPr/>
          <a:lstStyle/>
          <a:p>
            <a:r>
              <a:rPr lang="en-AU" b="0"/>
              <a:t>Growing Barley –</a:t>
            </a:r>
            <a:r>
              <a:rPr lang="en-AU"/>
              <a:t> </a:t>
            </a:r>
            <a:r>
              <a:rPr lang="en-AU" b="0">
                <a:solidFill>
                  <a:schemeClr val="bg1"/>
                </a:solidFill>
              </a:rPr>
              <a:t>Western Australia</a:t>
            </a:r>
            <a:endParaRPr lang="en-AU"/>
          </a:p>
        </p:txBody>
      </p:sp>
      <p:sp>
        <p:nvSpPr>
          <p:cNvPr id="2051" name="Rectangle 3"/>
          <p:cNvSpPr>
            <a:spLocks noGrp="1" noChangeArrowheads="1"/>
          </p:cNvSpPr>
          <p:nvPr>
            <p:ph type="subTitle" idx="4294967295"/>
          </p:nvPr>
        </p:nvSpPr>
        <p:spPr>
          <a:xfrm>
            <a:off x="521755" y="1143000"/>
            <a:ext cx="8068740" cy="1608138"/>
          </a:xfrm>
          <a:noFill/>
        </p:spPr>
        <p:txBody>
          <a:bodyPr anchor="ctr" anchorCtr="1"/>
          <a:lstStyle/>
          <a:p>
            <a:pPr marL="0" indent="0">
              <a:buNone/>
            </a:pPr>
            <a:r>
              <a:rPr lang="en-AU" dirty="0">
                <a:solidFill>
                  <a:schemeClr val="bg1"/>
                </a:solidFill>
              </a:rPr>
              <a:t>Influencing the yield and quality of barley varieties with good agronomic practices</a:t>
            </a:r>
          </a:p>
        </p:txBody>
      </p:sp>
      <p:sp>
        <p:nvSpPr>
          <p:cNvPr id="2052" name="Text Box 4"/>
          <p:cNvSpPr txBox="1">
            <a:spLocks noChangeArrowheads="1"/>
          </p:cNvSpPr>
          <p:nvPr/>
        </p:nvSpPr>
        <p:spPr bwMode="auto">
          <a:xfrm>
            <a:off x="1907630" y="5290128"/>
            <a:ext cx="6119813" cy="1446550"/>
          </a:xfrm>
          <a:prstGeom prst="rect">
            <a:avLst/>
          </a:prstGeom>
          <a:solidFill>
            <a:schemeClr val="bg1">
              <a:alpha val="50000"/>
            </a:schemeClr>
          </a:solidFill>
          <a:ln w="9525">
            <a:noFill/>
            <a:miter lim="800000"/>
            <a:headEnd/>
            <a:tailEnd/>
          </a:ln>
          <a:effectLst/>
        </p:spPr>
        <p:txBody>
          <a:bodyPr>
            <a:spAutoFit/>
          </a:bodyPr>
          <a:lstStyle/>
          <a:p>
            <a:pPr algn="ctr">
              <a:spcBef>
                <a:spcPct val="10000"/>
              </a:spcBef>
            </a:pPr>
            <a:r>
              <a:rPr lang="en-AU" b="1" i="1" dirty="0">
                <a:effectLst>
                  <a:outerShdw blurRad="38100" dist="38100" dir="2700000" algn="tl">
                    <a:srgbClr val="C0C0C0"/>
                  </a:outerShdw>
                </a:effectLst>
                <a:latin typeface="Arial" charset="0"/>
              </a:rPr>
              <a:t>Acknowledge: Blakely </a:t>
            </a:r>
            <a:r>
              <a:rPr lang="en-AU" b="1" i="1" dirty="0" err="1">
                <a:effectLst>
                  <a:outerShdw blurRad="38100" dist="38100" dir="2700000" algn="tl">
                    <a:srgbClr val="C0C0C0"/>
                  </a:outerShdw>
                </a:effectLst>
                <a:latin typeface="Arial" charset="0"/>
              </a:rPr>
              <a:t>Paynter</a:t>
            </a:r>
            <a:endParaRPr lang="en-AU" b="1" i="1" dirty="0">
              <a:effectLst>
                <a:outerShdw blurRad="38100" dist="38100" dir="2700000" algn="tl">
                  <a:srgbClr val="C0C0C0"/>
                </a:outerShdw>
              </a:effectLst>
              <a:latin typeface="Arial" charset="0"/>
            </a:endParaRPr>
          </a:p>
          <a:p>
            <a:pPr algn="ctr">
              <a:spcBef>
                <a:spcPct val="10000"/>
              </a:spcBef>
            </a:pPr>
            <a:r>
              <a:rPr lang="en-AU" sz="2000" b="1" i="1" dirty="0">
                <a:effectLst>
                  <a:outerShdw blurRad="38100" dist="38100" dir="2700000" algn="tl">
                    <a:srgbClr val="C0C0C0"/>
                  </a:outerShdw>
                </a:effectLst>
                <a:latin typeface="Arial" charset="0"/>
              </a:rPr>
              <a:t>Senior Research Officer</a:t>
            </a:r>
          </a:p>
          <a:p>
            <a:pPr algn="ctr">
              <a:spcBef>
                <a:spcPct val="10000"/>
              </a:spcBef>
            </a:pPr>
            <a:r>
              <a:rPr lang="en-AU" sz="2000" b="1" i="1" dirty="0">
                <a:effectLst>
                  <a:outerShdw blurRad="38100" dist="38100" dir="2700000" algn="tl">
                    <a:srgbClr val="C0C0C0"/>
                  </a:outerShdw>
                </a:effectLst>
                <a:latin typeface="Arial" charset="0"/>
              </a:rPr>
              <a:t>Department of Primary Industries and Regional Development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Taxonomy – </a:t>
            </a:r>
            <a:r>
              <a:rPr lang="en-AU" dirty="0">
                <a:solidFill>
                  <a:schemeClr val="bg1"/>
                </a:solidFill>
              </a:rPr>
              <a:t>barley</a:t>
            </a:r>
          </a:p>
        </p:txBody>
      </p:sp>
      <p:sp>
        <p:nvSpPr>
          <p:cNvPr id="134147" name="Rectangle 3"/>
          <p:cNvSpPr>
            <a:spLocks noGrp="1" noChangeArrowheads="1"/>
          </p:cNvSpPr>
          <p:nvPr>
            <p:ph type="body" idx="1"/>
          </p:nvPr>
        </p:nvSpPr>
        <p:spPr>
          <a:xfrm>
            <a:off x="179390" y="1196690"/>
            <a:ext cx="8785225" cy="5327650"/>
          </a:xfrm>
          <a:noFill/>
          <a:ln/>
        </p:spPr>
        <p:txBody>
          <a:bodyPr/>
          <a:lstStyle/>
          <a:p>
            <a:r>
              <a:rPr lang="en-AU" sz="2800"/>
              <a:t>Domesticated </a:t>
            </a:r>
            <a:r>
              <a:rPr lang="en-AU" sz="2800" dirty="0"/>
              <a:t>barley </a:t>
            </a:r>
            <a:r>
              <a:rPr lang="en-AU" sz="2800" i="1" dirty="0"/>
              <a:t>(</a:t>
            </a:r>
            <a:r>
              <a:rPr lang="en-AU" sz="2800" i="1" dirty="0" err="1"/>
              <a:t>Hordeum</a:t>
            </a:r>
            <a:r>
              <a:rPr lang="en-AU" sz="2800" i="1" dirty="0"/>
              <a:t> vulgare)</a:t>
            </a:r>
            <a:r>
              <a:rPr lang="en-AU" sz="2800" dirty="0"/>
              <a:t> descended from wild barley </a:t>
            </a:r>
            <a:r>
              <a:rPr lang="en-AU" sz="2800" i="1" dirty="0"/>
              <a:t>(</a:t>
            </a:r>
            <a:r>
              <a:rPr lang="en-AU" sz="2800" i="1" dirty="0" err="1"/>
              <a:t>Hordeum</a:t>
            </a:r>
            <a:r>
              <a:rPr lang="en-AU" sz="2800" i="1" dirty="0"/>
              <a:t> </a:t>
            </a:r>
            <a:r>
              <a:rPr lang="en-AU" sz="2800" i="1" dirty="0" err="1"/>
              <a:t>spontaneum</a:t>
            </a:r>
            <a:r>
              <a:rPr lang="en-AU" sz="2800" i="1" dirty="0"/>
              <a:t>) - </a:t>
            </a:r>
            <a:r>
              <a:rPr lang="en-AU" sz="2800" dirty="0"/>
              <a:t>is one of 31 </a:t>
            </a:r>
            <a:r>
              <a:rPr lang="en-AU" sz="2800" i="1" dirty="0" err="1"/>
              <a:t>Hordeum</a:t>
            </a:r>
            <a:r>
              <a:rPr lang="en-AU" sz="2800" dirty="0"/>
              <a:t> species</a:t>
            </a:r>
          </a:p>
          <a:p>
            <a:r>
              <a:rPr lang="en-AU" sz="2800" dirty="0"/>
              <a:t>Barley grass (weed)</a:t>
            </a:r>
          </a:p>
          <a:p>
            <a:r>
              <a:rPr lang="en-AU" sz="2800" dirty="0"/>
              <a:t> (</a:t>
            </a:r>
            <a:r>
              <a:rPr lang="en-AU" sz="2800" i="1" dirty="0" err="1"/>
              <a:t>Hordeum</a:t>
            </a:r>
            <a:r>
              <a:rPr lang="en-AU" sz="2800" i="1" dirty="0"/>
              <a:t> </a:t>
            </a:r>
            <a:r>
              <a:rPr lang="en-AU" sz="2800" i="1" dirty="0" err="1"/>
              <a:t>leporinum</a:t>
            </a:r>
            <a:r>
              <a:rPr lang="en-AU" sz="2800" i="1" dirty="0"/>
              <a:t>/</a:t>
            </a:r>
          </a:p>
          <a:p>
            <a:r>
              <a:rPr lang="en-AU" sz="2800" i="1" dirty="0" err="1"/>
              <a:t>Hordeum</a:t>
            </a:r>
            <a:r>
              <a:rPr lang="en-AU" sz="2800" i="1" dirty="0"/>
              <a:t> </a:t>
            </a:r>
            <a:r>
              <a:rPr lang="en-AU" sz="2800" i="1" dirty="0" err="1"/>
              <a:t>glaucum</a:t>
            </a:r>
            <a:r>
              <a:rPr lang="en-AU" sz="280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20" y="3510463"/>
            <a:ext cx="4419296" cy="3314472"/>
          </a:xfrm>
          <a:prstGeom prst="rect">
            <a:avLst/>
          </a:prstGeom>
        </p:spPr>
      </p:pic>
    </p:spTree>
    <p:extLst>
      <p:ext uri="{BB962C8B-B14F-4D97-AF65-F5344CB8AC3E}">
        <p14:creationId xmlns:p14="http://schemas.microsoft.com/office/powerpoint/2010/main" val="2006364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Spike/Spikelet –</a:t>
            </a:r>
            <a:r>
              <a:rPr lang="en-AU" dirty="0">
                <a:solidFill>
                  <a:schemeClr val="bg1"/>
                </a:solidFill>
              </a:rPr>
              <a:t>barley</a:t>
            </a:r>
          </a:p>
        </p:txBody>
      </p:sp>
      <p:sp>
        <p:nvSpPr>
          <p:cNvPr id="2" name="TextBox 1"/>
          <p:cNvSpPr txBox="1"/>
          <p:nvPr/>
        </p:nvSpPr>
        <p:spPr>
          <a:xfrm>
            <a:off x="0" y="1484730"/>
            <a:ext cx="9036620" cy="1938992"/>
          </a:xfrm>
          <a:prstGeom prst="rect">
            <a:avLst/>
          </a:prstGeom>
          <a:noFill/>
        </p:spPr>
        <p:txBody>
          <a:bodyPr wrap="square" rtlCol="0">
            <a:spAutoFit/>
          </a:bodyPr>
          <a:lstStyle/>
          <a:p>
            <a:pPr marL="342900" indent="-342900">
              <a:buFont typeface="Arial" panose="020B0604020202020204" pitchFamily="34" charset="0"/>
              <a:buChar char="•"/>
            </a:pPr>
            <a:r>
              <a:rPr lang="en-AU" b="1" dirty="0">
                <a:latin typeface="Arial" panose="020B0604020202020204" pitchFamily="34" charset="0"/>
                <a:cs typeface="Arial" panose="020B0604020202020204" pitchFamily="34" charset="0"/>
              </a:rPr>
              <a:t>Two-rowed and six-rowed varieties – both have three florets at each node</a:t>
            </a:r>
          </a:p>
          <a:p>
            <a:pPr marL="342900" indent="-342900">
              <a:buFont typeface="Arial" panose="020B0604020202020204" pitchFamily="34" charset="0"/>
              <a:buChar char="•"/>
            </a:pPr>
            <a:r>
              <a:rPr lang="en-AU" b="1" dirty="0">
                <a:latin typeface="Arial" panose="020B0604020202020204" pitchFamily="34" charset="0"/>
                <a:cs typeface="Arial" panose="020B0604020202020204" pitchFamily="34" charset="0"/>
              </a:rPr>
              <a:t>Two-rowed barley only the central floret is fertile (most are two rowed)</a:t>
            </a:r>
          </a:p>
          <a:p>
            <a:pPr marL="342900" indent="-342900">
              <a:buFont typeface="Arial" panose="020B0604020202020204" pitchFamily="34" charset="0"/>
              <a:buChar char="•"/>
            </a:pPr>
            <a:r>
              <a:rPr lang="en-AU" b="1" dirty="0">
                <a:latin typeface="Arial" panose="020B0604020202020204" pitchFamily="34" charset="0"/>
                <a:cs typeface="Arial" panose="020B0604020202020204" pitchFamily="34" charset="0"/>
              </a:rPr>
              <a:t>Six-rowed all florets are fertile</a:t>
            </a:r>
          </a:p>
        </p:txBody>
      </p:sp>
      <p:pic>
        <p:nvPicPr>
          <p:cNvPr id="4" name="Picture 3"/>
          <p:cNvPicPr>
            <a:picLocks noChangeAspect="1"/>
          </p:cNvPicPr>
          <p:nvPr/>
        </p:nvPicPr>
        <p:blipFill>
          <a:blip r:embed="rId2"/>
          <a:stretch>
            <a:fillRect/>
          </a:stretch>
        </p:blipFill>
        <p:spPr>
          <a:xfrm>
            <a:off x="6012200" y="3140960"/>
            <a:ext cx="2466975" cy="3648075"/>
          </a:xfrm>
          <a:prstGeom prst="rect">
            <a:avLst/>
          </a:prstGeom>
        </p:spPr>
      </p:pic>
    </p:spTree>
    <p:extLst>
      <p:ext uri="{BB962C8B-B14F-4D97-AF65-F5344CB8AC3E}">
        <p14:creationId xmlns:p14="http://schemas.microsoft.com/office/powerpoint/2010/main" val="1839622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AU" dirty="0"/>
              <a:t>Barley – </a:t>
            </a:r>
            <a:r>
              <a:rPr lang="en-AU" dirty="0">
                <a:solidFill>
                  <a:schemeClr val="bg1"/>
                </a:solidFill>
              </a:rPr>
              <a:t>Malt vs feed</a:t>
            </a:r>
          </a:p>
        </p:txBody>
      </p:sp>
      <p:sp>
        <p:nvSpPr>
          <p:cNvPr id="131075" name="Rectangle 3"/>
          <p:cNvSpPr>
            <a:spLocks noGrp="1" noChangeArrowheads="1"/>
          </p:cNvSpPr>
          <p:nvPr>
            <p:ph type="body" idx="1"/>
          </p:nvPr>
        </p:nvSpPr>
        <p:spPr>
          <a:xfrm>
            <a:off x="0" y="1196690"/>
            <a:ext cx="8785225" cy="5327650"/>
          </a:xfrm>
        </p:spPr>
        <p:txBody>
          <a:bodyPr/>
          <a:lstStyle/>
          <a:p>
            <a:r>
              <a:rPr lang="en-AU" sz="1200" b="1" dirty="0"/>
              <a:t>http://www.graintrade.org.au/sites/default/files/file/Commodity%20Standards/2013_2014/Section%2002%20-%20Barley%20Standards%20201314%20Final.pdf</a:t>
            </a:r>
          </a:p>
          <a:p>
            <a:r>
              <a:rPr lang="en-AU" dirty="0"/>
              <a:t>Malt  1,2 – Premium price - only specific accredited varieties </a:t>
            </a:r>
            <a:r>
              <a:rPr lang="en-AU" sz="1800" b="1" dirty="0"/>
              <a:t>(Malt – Purity 95%)</a:t>
            </a:r>
            <a:r>
              <a:rPr lang="en-AU" sz="1600" b="1" dirty="0"/>
              <a:t>.</a:t>
            </a:r>
          </a:p>
          <a:p>
            <a:pPr lvl="2"/>
            <a:r>
              <a:rPr lang="en-AU" sz="2000" dirty="0"/>
              <a:t>Max moisture – 12.5%</a:t>
            </a:r>
          </a:p>
          <a:p>
            <a:pPr lvl="2"/>
            <a:r>
              <a:rPr lang="en-AU" sz="2000" dirty="0"/>
              <a:t>Protein – min 9 - 9.5% max 12.8%</a:t>
            </a:r>
          </a:p>
          <a:p>
            <a:pPr lvl="2"/>
            <a:r>
              <a:rPr lang="en-AU" sz="2000" dirty="0"/>
              <a:t>Screenings (2.5 mm screen)</a:t>
            </a:r>
          </a:p>
          <a:p>
            <a:pPr marL="914400" lvl="2" indent="0">
              <a:buNone/>
            </a:pPr>
            <a:r>
              <a:rPr lang="en-AU" sz="2000" dirty="0"/>
              <a:t>	– Malt 1 = 20%, Malt 2 = 35%</a:t>
            </a:r>
          </a:p>
          <a:p>
            <a:pPr lvl="2"/>
            <a:r>
              <a:rPr lang="en-AU" sz="2000" dirty="0"/>
              <a:t>Test weight 64 (kg/hl)</a:t>
            </a:r>
          </a:p>
          <a:p>
            <a:r>
              <a:rPr lang="en-AU" dirty="0"/>
              <a:t>Feed – Any variety</a:t>
            </a:r>
          </a:p>
          <a:p>
            <a:pPr lvl="2"/>
            <a:r>
              <a:rPr lang="en-AU" sz="2000" dirty="0"/>
              <a:t>Moisture max 12.5%</a:t>
            </a:r>
          </a:p>
          <a:p>
            <a:pPr lvl="2"/>
            <a:r>
              <a:rPr lang="en-AU" sz="2000" dirty="0"/>
              <a:t>Screenings – No limit</a:t>
            </a:r>
          </a:p>
          <a:p>
            <a:pPr lvl="2"/>
            <a:r>
              <a:rPr lang="en-AU" sz="2000" dirty="0"/>
              <a:t>Test weight 56 (kg/hl)</a:t>
            </a:r>
          </a:p>
          <a:p>
            <a:endParaRPr lang="en-AU" dirty="0"/>
          </a:p>
        </p:txBody>
      </p:sp>
      <p:pic>
        <p:nvPicPr>
          <p:cNvPr id="131076" name="Picture 4" descr="Barley heads #A"/>
          <p:cNvPicPr>
            <a:picLocks noChangeAspect="1" noChangeArrowheads="1"/>
          </p:cNvPicPr>
          <p:nvPr/>
        </p:nvPicPr>
        <p:blipFill>
          <a:blip r:embed="rId2" cstate="print"/>
          <a:srcRect/>
          <a:stretch>
            <a:fillRect/>
          </a:stretch>
        </p:blipFill>
        <p:spPr bwMode="auto">
          <a:xfrm>
            <a:off x="6448892" y="3108783"/>
            <a:ext cx="2695108" cy="3592707"/>
          </a:xfrm>
          <a:prstGeom prst="rect">
            <a:avLst/>
          </a:prstGeom>
          <a:noFill/>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51836" y="2204830"/>
            <a:ext cx="2927754" cy="2179017"/>
          </a:xfrm>
          <a:prstGeom prst="rect">
            <a:avLst/>
          </a:prstGeom>
        </p:spPr>
      </p:pic>
    </p:spTree>
    <p:extLst>
      <p:ext uri="{BB962C8B-B14F-4D97-AF65-F5344CB8AC3E}">
        <p14:creationId xmlns:p14="http://schemas.microsoft.com/office/powerpoint/2010/main" val="3840711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Falling number</a:t>
            </a:r>
          </a:p>
        </p:txBody>
      </p:sp>
      <p:pic>
        <p:nvPicPr>
          <p:cNvPr id="4" name="Picture 3"/>
          <p:cNvPicPr>
            <a:picLocks noChangeAspect="1"/>
          </p:cNvPicPr>
          <p:nvPr/>
        </p:nvPicPr>
        <p:blipFill>
          <a:blip r:embed="rId2"/>
          <a:stretch>
            <a:fillRect/>
          </a:stretch>
        </p:blipFill>
        <p:spPr>
          <a:xfrm>
            <a:off x="0" y="1701524"/>
            <a:ext cx="6012200" cy="3083179"/>
          </a:xfrm>
          <a:prstGeom prst="rect">
            <a:avLst/>
          </a:prstGeom>
        </p:spPr>
      </p:pic>
      <p:pic>
        <p:nvPicPr>
          <p:cNvPr id="5" name="Picture 4"/>
          <p:cNvPicPr>
            <a:picLocks noChangeAspect="1"/>
          </p:cNvPicPr>
          <p:nvPr/>
        </p:nvPicPr>
        <p:blipFill>
          <a:blip r:embed="rId3"/>
          <a:stretch>
            <a:fillRect/>
          </a:stretch>
        </p:blipFill>
        <p:spPr>
          <a:xfrm>
            <a:off x="0" y="-99490"/>
            <a:ext cx="9144000" cy="1801015"/>
          </a:xfrm>
          <a:prstGeom prst="rect">
            <a:avLst/>
          </a:prstGeom>
        </p:spPr>
      </p:pic>
      <p:sp>
        <p:nvSpPr>
          <p:cNvPr id="6" name="TextBox 5"/>
          <p:cNvSpPr txBox="1"/>
          <p:nvPr/>
        </p:nvSpPr>
        <p:spPr>
          <a:xfrm>
            <a:off x="-33605" y="4869200"/>
            <a:ext cx="8982296" cy="1877437"/>
          </a:xfrm>
          <a:prstGeom prst="rect">
            <a:avLst/>
          </a:prstGeom>
          <a:noFill/>
        </p:spPr>
        <p:txBody>
          <a:bodyPr wrap="square" rtlCol="0">
            <a:spAutoFit/>
          </a:bodyPr>
          <a:lstStyle/>
          <a:p>
            <a:pPr>
              <a:spcAft>
                <a:spcPts val="1200"/>
              </a:spcAft>
            </a:pPr>
            <a:r>
              <a:rPr lang="en-AU"/>
              <a:t>The endosperm contains about 65% starch</a:t>
            </a:r>
          </a:p>
          <a:p>
            <a:pPr marL="342900" indent="-342900">
              <a:spcAft>
                <a:spcPts val="1200"/>
              </a:spcAft>
              <a:buFont typeface="Arial" panose="020B0604020202020204" pitchFamily="34" charset="0"/>
              <a:buChar char="•"/>
            </a:pPr>
            <a:r>
              <a:rPr lang="en-AU"/>
              <a:t>when heated in water it makes a thick paste and it takes more seconds for a plunger to reach bottom of a container.</a:t>
            </a:r>
          </a:p>
          <a:p>
            <a:pPr marL="342900" indent="-342900">
              <a:spcAft>
                <a:spcPts val="1200"/>
              </a:spcAft>
              <a:buFont typeface="Arial" panose="020B0604020202020204" pitchFamily="34" charset="0"/>
              <a:buChar char="•"/>
            </a:pPr>
            <a:r>
              <a:rPr lang="en-AU"/>
              <a:t>With less starch/more sugar – become watery – less time</a:t>
            </a:r>
          </a:p>
        </p:txBody>
      </p:sp>
    </p:spTree>
    <p:extLst>
      <p:ext uri="{BB962C8B-B14F-4D97-AF65-F5344CB8AC3E}">
        <p14:creationId xmlns:p14="http://schemas.microsoft.com/office/powerpoint/2010/main" val="13355984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Grain standards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3" y="1196690"/>
            <a:ext cx="9201990" cy="5184720"/>
          </a:xfrm>
          <a:prstGeom prst="rect">
            <a:avLst/>
          </a:prstGeom>
        </p:spPr>
      </p:pic>
    </p:spTree>
    <p:extLst>
      <p:ext uri="{BB962C8B-B14F-4D97-AF65-F5344CB8AC3E}">
        <p14:creationId xmlns:p14="http://schemas.microsoft.com/office/powerpoint/2010/main" val="1396084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Grain standards</a:t>
            </a:r>
          </a:p>
        </p:txBody>
      </p:sp>
      <p:sp>
        <p:nvSpPr>
          <p:cNvPr id="5" name="Rectangle 4"/>
          <p:cNvSpPr/>
          <p:nvPr/>
        </p:nvSpPr>
        <p:spPr>
          <a:xfrm>
            <a:off x="0" y="1484730"/>
            <a:ext cx="7956470" cy="523220"/>
          </a:xfrm>
          <a:prstGeom prst="rect">
            <a:avLst/>
          </a:prstGeom>
        </p:spPr>
        <p:txBody>
          <a:bodyPr wrap="square">
            <a:spAutoFit/>
          </a:bodyPr>
          <a:lstStyle/>
          <a:p>
            <a:r>
              <a:rPr lang="en-AU" sz="2800"/>
              <a:t>http://www.graintrade.org.au/commodity_standards</a:t>
            </a:r>
          </a:p>
        </p:txBody>
      </p:sp>
      <p:pic>
        <p:nvPicPr>
          <p:cNvPr id="3" name="Picture 2"/>
          <p:cNvPicPr>
            <a:picLocks noChangeAspect="1"/>
          </p:cNvPicPr>
          <p:nvPr/>
        </p:nvPicPr>
        <p:blipFill>
          <a:blip r:embed="rId2"/>
          <a:stretch>
            <a:fillRect/>
          </a:stretch>
        </p:blipFill>
        <p:spPr>
          <a:xfrm>
            <a:off x="0" y="2007950"/>
            <a:ext cx="9030522" cy="3077280"/>
          </a:xfrm>
          <a:prstGeom prst="rect">
            <a:avLst/>
          </a:prstGeom>
        </p:spPr>
      </p:pic>
      <p:sp>
        <p:nvSpPr>
          <p:cNvPr id="4" name="TextBox 3"/>
          <p:cNvSpPr txBox="1"/>
          <p:nvPr/>
        </p:nvSpPr>
        <p:spPr>
          <a:xfrm>
            <a:off x="323410" y="5589300"/>
            <a:ext cx="6106415" cy="461665"/>
          </a:xfrm>
          <a:prstGeom prst="rect">
            <a:avLst/>
          </a:prstGeom>
          <a:noFill/>
        </p:spPr>
        <p:txBody>
          <a:bodyPr wrap="none" rtlCol="0">
            <a:spAutoFit/>
          </a:bodyPr>
          <a:lstStyle/>
          <a:p>
            <a:r>
              <a:rPr lang="en-AU" dirty="0"/>
              <a:t>Grain Trade Australia, CBH, GrainCorp, Viterra</a:t>
            </a:r>
          </a:p>
        </p:txBody>
      </p:sp>
    </p:spTree>
    <p:extLst>
      <p:ext uri="{BB962C8B-B14F-4D97-AF65-F5344CB8AC3E}">
        <p14:creationId xmlns:p14="http://schemas.microsoft.com/office/powerpoint/2010/main" val="1597617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Grain standards</a:t>
            </a:r>
          </a:p>
        </p:txBody>
      </p:sp>
      <p:pic>
        <p:nvPicPr>
          <p:cNvPr id="5" name="Picture 4">
            <a:extLst>
              <a:ext uri="{FF2B5EF4-FFF2-40B4-BE49-F238E27FC236}">
                <a16:creationId xmlns:a16="http://schemas.microsoft.com/office/drawing/2014/main" id="{BA564392-87ED-A5FD-A9E9-8E4418DE65C1}"/>
              </a:ext>
            </a:extLst>
          </p:cNvPr>
          <p:cNvPicPr>
            <a:picLocks noChangeAspect="1"/>
          </p:cNvPicPr>
          <p:nvPr/>
        </p:nvPicPr>
        <p:blipFill>
          <a:blip r:embed="rId2"/>
          <a:stretch>
            <a:fillRect/>
          </a:stretch>
        </p:blipFill>
        <p:spPr>
          <a:xfrm>
            <a:off x="-36640" y="1124680"/>
            <a:ext cx="9180640" cy="5917101"/>
          </a:xfrm>
          <a:prstGeom prst="rect">
            <a:avLst/>
          </a:prstGeom>
        </p:spPr>
      </p:pic>
    </p:spTree>
    <p:extLst>
      <p:ext uri="{BB962C8B-B14F-4D97-AF65-F5344CB8AC3E}">
        <p14:creationId xmlns:p14="http://schemas.microsoft.com/office/powerpoint/2010/main" val="9903753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D09AC-12A3-77D1-BFEE-BE1F92ADF8D5}"/>
              </a:ext>
            </a:extLst>
          </p:cNvPr>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587EFB28-D174-2D1A-1CAF-3D801B25C664}"/>
              </a:ext>
            </a:extLst>
          </p:cNvPr>
          <p:cNvPicPr>
            <a:picLocks noGrp="1" noChangeAspect="1"/>
          </p:cNvPicPr>
          <p:nvPr>
            <p:ph idx="1"/>
          </p:nvPr>
        </p:nvPicPr>
        <p:blipFill>
          <a:blip r:embed="rId2"/>
          <a:stretch>
            <a:fillRect/>
          </a:stretch>
        </p:blipFill>
        <p:spPr>
          <a:xfrm>
            <a:off x="-108650" y="1196690"/>
            <a:ext cx="9437994" cy="5661310"/>
          </a:xfrm>
        </p:spPr>
      </p:pic>
    </p:spTree>
    <p:extLst>
      <p:ext uri="{BB962C8B-B14F-4D97-AF65-F5344CB8AC3E}">
        <p14:creationId xmlns:p14="http://schemas.microsoft.com/office/powerpoint/2010/main" val="1560094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B930A-1EB8-E61D-AD89-168B9D1B5189}"/>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F0676F40-E066-1616-20A4-72D2771F33D3}"/>
              </a:ext>
            </a:extLst>
          </p:cNvPr>
          <p:cNvSpPr>
            <a:spLocks noGrp="1"/>
          </p:cNvSpPr>
          <p:nvPr>
            <p:ph idx="1"/>
          </p:nvPr>
        </p:nvSpPr>
        <p:spPr/>
        <p:txBody>
          <a:bodyPr/>
          <a:lstStyle/>
          <a:p>
            <a:endParaRPr lang="en-AU"/>
          </a:p>
        </p:txBody>
      </p:sp>
      <p:pic>
        <p:nvPicPr>
          <p:cNvPr id="5" name="Picture 4">
            <a:extLst>
              <a:ext uri="{FF2B5EF4-FFF2-40B4-BE49-F238E27FC236}">
                <a16:creationId xmlns:a16="http://schemas.microsoft.com/office/drawing/2014/main" id="{8709BFAA-8066-F354-F8E3-439420EBF7F3}"/>
              </a:ext>
            </a:extLst>
          </p:cNvPr>
          <p:cNvPicPr>
            <a:picLocks noChangeAspect="1"/>
          </p:cNvPicPr>
          <p:nvPr/>
        </p:nvPicPr>
        <p:blipFill>
          <a:blip r:embed="rId2"/>
          <a:stretch>
            <a:fillRect/>
          </a:stretch>
        </p:blipFill>
        <p:spPr>
          <a:xfrm>
            <a:off x="2779" y="-99490"/>
            <a:ext cx="9189408" cy="6957490"/>
          </a:xfrm>
          <a:prstGeom prst="rect">
            <a:avLst/>
          </a:prstGeom>
        </p:spPr>
      </p:pic>
    </p:spTree>
    <p:extLst>
      <p:ext uri="{BB962C8B-B14F-4D97-AF65-F5344CB8AC3E}">
        <p14:creationId xmlns:p14="http://schemas.microsoft.com/office/powerpoint/2010/main" val="1734306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AU"/>
              <a:t>Barley – </a:t>
            </a:r>
            <a:r>
              <a:rPr lang="en-AU">
                <a:solidFill>
                  <a:schemeClr val="bg1"/>
                </a:solidFill>
              </a:rPr>
              <a:t>agronomy topics</a:t>
            </a:r>
          </a:p>
        </p:txBody>
      </p:sp>
      <p:sp>
        <p:nvSpPr>
          <p:cNvPr id="131075" name="Rectangle 3"/>
          <p:cNvSpPr>
            <a:spLocks noGrp="1" noChangeArrowheads="1"/>
          </p:cNvSpPr>
          <p:nvPr>
            <p:ph type="body" idx="1"/>
          </p:nvPr>
        </p:nvSpPr>
        <p:spPr/>
        <p:txBody>
          <a:bodyPr/>
          <a:lstStyle/>
          <a:p>
            <a:pPr marL="0" indent="0">
              <a:buNone/>
            </a:pPr>
            <a:r>
              <a:rPr lang="en-AU" sz="2800" dirty="0"/>
              <a:t>The decision whether to grow barley for the malting or feed grade depends on four main factors:</a:t>
            </a:r>
          </a:p>
          <a:p>
            <a:pPr marL="514350" indent="-514350">
              <a:buFont typeface="+mj-lt"/>
              <a:buAutoNum type="arabicPeriod"/>
            </a:pPr>
            <a:r>
              <a:rPr lang="en-AU" sz="2800" dirty="0"/>
              <a:t> the premium paid for malt barley; </a:t>
            </a:r>
          </a:p>
          <a:p>
            <a:pPr marL="514350" indent="-514350">
              <a:buFont typeface="+mj-lt"/>
              <a:buAutoNum type="arabicPeriod"/>
            </a:pPr>
            <a:r>
              <a:rPr lang="en-AU" sz="2800" dirty="0"/>
              <a:t>the relative yields of malting and feed grade barley; </a:t>
            </a:r>
          </a:p>
          <a:p>
            <a:pPr marL="514350" indent="-514350">
              <a:buFont typeface="+mj-lt"/>
              <a:buAutoNum type="arabicPeriod"/>
            </a:pPr>
            <a:r>
              <a:rPr lang="en-AU" sz="2800" dirty="0"/>
              <a:t>agronomic and disease constraints of the different varieties; and </a:t>
            </a:r>
          </a:p>
          <a:p>
            <a:pPr marL="514350" indent="-514350">
              <a:buFont typeface="+mj-lt"/>
              <a:buAutoNum type="arabicPeriod"/>
            </a:pPr>
            <a:r>
              <a:rPr lang="en-AU" sz="2800" dirty="0"/>
              <a:t>the likelihood that grain of a malting barley variety will be acceptable for inclusion into the malting grade.</a:t>
            </a:r>
          </a:p>
        </p:txBody>
      </p:sp>
    </p:spTree>
    <p:extLst>
      <p:ext uri="{BB962C8B-B14F-4D97-AF65-F5344CB8AC3E}">
        <p14:creationId xmlns:p14="http://schemas.microsoft.com/office/powerpoint/2010/main" val="2695282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bwMode="blackWhite">
          <a:noFill/>
          <a:ln/>
        </p:spPr>
        <p:txBody>
          <a:bodyPr/>
          <a:lstStyle/>
          <a:p>
            <a:r>
              <a:rPr lang="en-AU"/>
              <a:t>Barley – </a:t>
            </a:r>
            <a:r>
              <a:rPr lang="en-AU">
                <a:solidFill>
                  <a:schemeClr val="bg1"/>
                </a:solidFill>
              </a:rPr>
              <a:t>season type</a:t>
            </a:r>
          </a:p>
        </p:txBody>
      </p:sp>
      <p:sp>
        <p:nvSpPr>
          <p:cNvPr id="138243" name="Rectangle 3"/>
          <p:cNvSpPr>
            <a:spLocks noGrp="1" noChangeArrowheads="1"/>
          </p:cNvSpPr>
          <p:nvPr>
            <p:ph type="body" idx="1"/>
          </p:nvPr>
        </p:nvSpPr>
        <p:spPr>
          <a:noFill/>
          <a:ln/>
        </p:spPr>
        <p:txBody>
          <a:bodyPr/>
          <a:lstStyle/>
          <a:p>
            <a:endParaRPr lang="en-AU"/>
          </a:p>
          <a:p>
            <a:endParaRPr lang="en-AU"/>
          </a:p>
          <a:p>
            <a:endParaRPr lang="en-AU"/>
          </a:p>
          <a:p>
            <a:endParaRPr lang="en-AU"/>
          </a:p>
          <a:p>
            <a:endParaRPr lang="en-AU"/>
          </a:p>
          <a:p>
            <a:r>
              <a:rPr lang="en-AU"/>
              <a:t>Winter barleys require a period of cold (vernalisation) to initiate reproduction </a:t>
            </a:r>
          </a:p>
          <a:p>
            <a:r>
              <a:rPr lang="en-AU"/>
              <a:t>9 – 10 month season </a:t>
            </a:r>
            <a:r>
              <a:rPr lang="en-AU" i="1"/>
              <a:t>vs</a:t>
            </a:r>
            <a:r>
              <a:rPr lang="en-AU"/>
              <a:t> spring 6 – 7 months</a:t>
            </a:r>
          </a:p>
          <a:p>
            <a:r>
              <a:rPr lang="en-AU"/>
              <a:t>Breeding aim – spring barley</a:t>
            </a:r>
          </a:p>
        </p:txBody>
      </p:sp>
      <p:sp>
        <p:nvSpPr>
          <p:cNvPr id="138244" name="Text Box 4"/>
          <p:cNvSpPr txBox="1">
            <a:spLocks noChangeArrowheads="1"/>
          </p:cNvSpPr>
          <p:nvPr/>
        </p:nvSpPr>
        <p:spPr bwMode="auto">
          <a:xfrm>
            <a:off x="808038" y="3814763"/>
            <a:ext cx="1865312" cy="457200"/>
          </a:xfrm>
          <a:prstGeom prst="rect">
            <a:avLst/>
          </a:prstGeom>
          <a:noFill/>
          <a:ln w="9525">
            <a:noFill/>
            <a:miter lim="800000"/>
            <a:headEnd/>
            <a:tailEnd/>
          </a:ln>
          <a:effectLst/>
        </p:spPr>
        <p:txBody>
          <a:bodyPr wrap="none">
            <a:spAutoFit/>
          </a:bodyPr>
          <a:lstStyle/>
          <a:p>
            <a:pPr eaLnBrk="0" hangingPunct="0"/>
            <a:r>
              <a:rPr lang="en-AU" sz="2400" b="0">
                <a:latin typeface="Times New Roman" pitchFamily="18" charset="0"/>
              </a:rPr>
              <a:t>Winter barley</a:t>
            </a:r>
          </a:p>
        </p:txBody>
      </p:sp>
      <p:sp>
        <p:nvSpPr>
          <p:cNvPr id="138245" name="Text Box 5"/>
          <p:cNvSpPr txBox="1">
            <a:spLocks noChangeArrowheads="1"/>
          </p:cNvSpPr>
          <p:nvPr/>
        </p:nvSpPr>
        <p:spPr bwMode="auto">
          <a:xfrm>
            <a:off x="4140200" y="3814763"/>
            <a:ext cx="1833563" cy="457200"/>
          </a:xfrm>
          <a:prstGeom prst="rect">
            <a:avLst/>
          </a:prstGeom>
          <a:noFill/>
          <a:ln w="9525">
            <a:noFill/>
            <a:miter lim="800000"/>
            <a:headEnd/>
            <a:tailEnd/>
          </a:ln>
          <a:effectLst/>
        </p:spPr>
        <p:txBody>
          <a:bodyPr wrap="none">
            <a:spAutoFit/>
          </a:bodyPr>
          <a:lstStyle/>
          <a:p>
            <a:pPr eaLnBrk="0" hangingPunct="0"/>
            <a:r>
              <a:rPr lang="en-AU" sz="2400" b="0">
                <a:latin typeface="Times New Roman" pitchFamily="18" charset="0"/>
              </a:rPr>
              <a:t>Spring barley</a:t>
            </a:r>
          </a:p>
        </p:txBody>
      </p:sp>
      <p:pic>
        <p:nvPicPr>
          <p:cNvPr id="138246" name="Picture 6" descr="Field of barley 001"/>
          <p:cNvPicPr>
            <a:picLocks noChangeAspect="1" noChangeArrowheads="1"/>
          </p:cNvPicPr>
          <p:nvPr/>
        </p:nvPicPr>
        <p:blipFill>
          <a:blip r:embed="rId2" cstate="print"/>
          <a:srcRect t="12550"/>
          <a:stretch>
            <a:fillRect/>
          </a:stretch>
        </p:blipFill>
        <p:spPr bwMode="auto">
          <a:xfrm>
            <a:off x="684213" y="1341438"/>
            <a:ext cx="3240087" cy="2447925"/>
          </a:xfrm>
          <a:prstGeom prst="rect">
            <a:avLst/>
          </a:prstGeom>
          <a:noFill/>
        </p:spPr>
      </p:pic>
      <p:pic>
        <p:nvPicPr>
          <p:cNvPr id="138247" name="Picture 7" descr="Barley in field 006"/>
          <p:cNvPicPr>
            <a:picLocks noChangeAspect="1" noChangeArrowheads="1"/>
          </p:cNvPicPr>
          <p:nvPr/>
        </p:nvPicPr>
        <p:blipFill>
          <a:blip r:embed="rId3" cstate="print"/>
          <a:srcRect r="8147"/>
          <a:stretch>
            <a:fillRect/>
          </a:stretch>
        </p:blipFill>
        <p:spPr bwMode="auto">
          <a:xfrm>
            <a:off x="4067175" y="1341438"/>
            <a:ext cx="3167063" cy="2470150"/>
          </a:xfrm>
          <a:prstGeom prst="rect">
            <a:avLst/>
          </a:prstGeom>
          <a:noFill/>
        </p:spPr>
      </p:pic>
    </p:spTree>
    <p:extLst>
      <p:ext uri="{BB962C8B-B14F-4D97-AF65-F5344CB8AC3E}">
        <p14:creationId xmlns:p14="http://schemas.microsoft.com/office/powerpoint/2010/main" val="3123084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title"/>
          </p:nvPr>
        </p:nvSpPr>
        <p:spPr/>
        <p:txBody>
          <a:bodyPr/>
          <a:lstStyle/>
          <a:p>
            <a:r>
              <a:rPr lang="en-AU"/>
              <a:t>Barley – </a:t>
            </a:r>
            <a:r>
              <a:rPr lang="en-AU">
                <a:solidFill>
                  <a:schemeClr val="bg1"/>
                </a:solidFill>
              </a:rPr>
              <a:t>agronomy topics</a:t>
            </a:r>
          </a:p>
        </p:txBody>
      </p:sp>
      <p:sp>
        <p:nvSpPr>
          <p:cNvPr id="131075" name="Rectangle 3"/>
          <p:cNvSpPr>
            <a:spLocks noGrp="1" noChangeArrowheads="1"/>
          </p:cNvSpPr>
          <p:nvPr>
            <p:ph type="body" idx="1"/>
          </p:nvPr>
        </p:nvSpPr>
        <p:spPr/>
        <p:txBody>
          <a:bodyPr/>
          <a:lstStyle/>
          <a:p>
            <a:r>
              <a:rPr lang="en-AU" dirty="0"/>
              <a:t>Production</a:t>
            </a:r>
          </a:p>
          <a:p>
            <a:r>
              <a:rPr lang="en-AU" dirty="0"/>
              <a:t>Grain protein</a:t>
            </a:r>
          </a:p>
          <a:p>
            <a:r>
              <a:rPr lang="en-AU" dirty="0"/>
              <a:t>Screenings</a:t>
            </a:r>
          </a:p>
          <a:p>
            <a:r>
              <a:rPr lang="en-AU" dirty="0"/>
              <a:t>Grain brightness</a:t>
            </a:r>
          </a:p>
          <a:p>
            <a:r>
              <a:rPr lang="en-AU" dirty="0"/>
              <a:t>Management principles</a:t>
            </a:r>
          </a:p>
        </p:txBody>
      </p:sp>
      <p:pic>
        <p:nvPicPr>
          <p:cNvPr id="131076" name="Picture 4" descr="Barley heads #A"/>
          <p:cNvPicPr>
            <a:picLocks noChangeAspect="1" noChangeArrowheads="1"/>
          </p:cNvPicPr>
          <p:nvPr/>
        </p:nvPicPr>
        <p:blipFill>
          <a:blip r:embed="rId2" cstate="print"/>
          <a:srcRect/>
          <a:stretch>
            <a:fillRect/>
          </a:stretch>
        </p:blipFill>
        <p:spPr bwMode="auto">
          <a:xfrm>
            <a:off x="5219700" y="1341438"/>
            <a:ext cx="3703638" cy="4937125"/>
          </a:xfrm>
          <a:prstGeom prst="rect">
            <a:avLst/>
          </a:prstGeom>
          <a:noFill/>
        </p:spPr>
      </p:pic>
    </p:spTree>
    <p:extLst>
      <p:ext uri="{BB962C8B-B14F-4D97-AF65-F5344CB8AC3E}">
        <p14:creationId xmlns:p14="http://schemas.microsoft.com/office/powerpoint/2010/main" val="17634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r>
              <a:rPr lang="en-AU"/>
              <a:t>Barley – </a:t>
            </a:r>
            <a:r>
              <a:rPr lang="en-AU">
                <a:solidFill>
                  <a:schemeClr val="bg1"/>
                </a:solidFill>
              </a:rPr>
              <a:t>where?</a:t>
            </a:r>
          </a:p>
        </p:txBody>
      </p:sp>
      <p:pic>
        <p:nvPicPr>
          <p:cNvPr id="41991" name="Picture 7" descr="Cover map copy"/>
          <p:cNvPicPr>
            <a:picLocks noChangeAspect="1" noChangeArrowheads="1"/>
          </p:cNvPicPr>
          <p:nvPr/>
        </p:nvPicPr>
        <p:blipFill>
          <a:blip r:embed="rId2" cstate="print"/>
          <a:srcRect t="2975"/>
          <a:stretch>
            <a:fillRect/>
          </a:stretch>
        </p:blipFill>
        <p:spPr bwMode="auto">
          <a:xfrm>
            <a:off x="1403350" y="1268413"/>
            <a:ext cx="6480175" cy="5589587"/>
          </a:xfrm>
          <a:prstGeom prst="rect">
            <a:avLst/>
          </a:prstGeom>
          <a:noFill/>
        </p:spPr>
      </p:pic>
      <p:grpSp>
        <p:nvGrpSpPr>
          <p:cNvPr id="42010" name="Group 26"/>
          <p:cNvGrpSpPr>
            <a:grpSpLocks/>
          </p:cNvGrpSpPr>
          <p:nvPr/>
        </p:nvGrpSpPr>
        <p:grpSpPr bwMode="auto">
          <a:xfrm>
            <a:off x="376238" y="1865313"/>
            <a:ext cx="7297737" cy="4705350"/>
            <a:chOff x="237" y="1175"/>
            <a:chExt cx="4597" cy="2964"/>
          </a:xfrm>
        </p:grpSpPr>
        <p:grpSp>
          <p:nvGrpSpPr>
            <p:cNvPr id="42004" name="Group 20"/>
            <p:cNvGrpSpPr>
              <a:grpSpLocks/>
            </p:cNvGrpSpPr>
            <p:nvPr/>
          </p:nvGrpSpPr>
          <p:grpSpPr bwMode="auto">
            <a:xfrm>
              <a:off x="237" y="1434"/>
              <a:ext cx="1282" cy="346"/>
              <a:chOff x="237" y="1434"/>
              <a:chExt cx="1282" cy="346"/>
            </a:xfrm>
          </p:grpSpPr>
          <p:sp>
            <p:nvSpPr>
              <p:cNvPr id="41992" name="Text Box 8"/>
              <p:cNvSpPr txBox="1">
                <a:spLocks noChangeArrowheads="1"/>
              </p:cNvSpPr>
              <p:nvPr/>
            </p:nvSpPr>
            <p:spPr bwMode="auto">
              <a:xfrm>
                <a:off x="237" y="1492"/>
                <a:ext cx="873" cy="288"/>
              </a:xfrm>
              <a:prstGeom prst="rect">
                <a:avLst/>
              </a:prstGeom>
              <a:noFill/>
              <a:ln w="9525">
                <a:noFill/>
                <a:miter lim="800000"/>
                <a:headEnd/>
                <a:tailEnd/>
              </a:ln>
              <a:effectLst/>
            </p:spPr>
            <p:txBody>
              <a:bodyPr wrap="none">
                <a:spAutoFit/>
              </a:bodyPr>
              <a:lstStyle/>
              <a:p>
                <a:r>
                  <a:rPr lang="en-AU"/>
                  <a:t>40,000 ha</a:t>
                </a:r>
              </a:p>
            </p:txBody>
          </p:sp>
          <p:sp>
            <p:nvSpPr>
              <p:cNvPr id="41998" name="Line 14"/>
              <p:cNvSpPr>
                <a:spLocks noChangeShapeType="1"/>
              </p:cNvSpPr>
              <p:nvPr/>
            </p:nvSpPr>
            <p:spPr bwMode="auto">
              <a:xfrm flipV="1">
                <a:off x="1066" y="1434"/>
                <a:ext cx="453" cy="182"/>
              </a:xfrm>
              <a:prstGeom prst="line">
                <a:avLst/>
              </a:prstGeom>
              <a:noFill/>
              <a:ln w="9525">
                <a:solidFill>
                  <a:schemeClr val="tx1"/>
                </a:solidFill>
                <a:round/>
                <a:headEnd/>
                <a:tailEnd type="triangle" w="med" len="med"/>
              </a:ln>
              <a:effectLst/>
            </p:spPr>
            <p:txBody>
              <a:bodyPr/>
              <a:lstStyle/>
              <a:p>
                <a:endParaRPr lang="en-AU"/>
              </a:p>
            </p:txBody>
          </p:sp>
        </p:grpSp>
        <p:grpSp>
          <p:nvGrpSpPr>
            <p:cNvPr id="42005" name="Group 21"/>
            <p:cNvGrpSpPr>
              <a:grpSpLocks/>
            </p:cNvGrpSpPr>
            <p:nvPr/>
          </p:nvGrpSpPr>
          <p:grpSpPr bwMode="auto">
            <a:xfrm>
              <a:off x="237" y="2082"/>
              <a:ext cx="1690" cy="288"/>
              <a:chOff x="237" y="2082"/>
              <a:chExt cx="1690" cy="288"/>
            </a:xfrm>
          </p:grpSpPr>
          <p:sp>
            <p:nvSpPr>
              <p:cNvPr id="41993" name="Text Box 9"/>
              <p:cNvSpPr txBox="1">
                <a:spLocks noChangeArrowheads="1"/>
              </p:cNvSpPr>
              <p:nvPr/>
            </p:nvSpPr>
            <p:spPr bwMode="auto">
              <a:xfrm>
                <a:off x="237" y="2082"/>
                <a:ext cx="969" cy="288"/>
              </a:xfrm>
              <a:prstGeom prst="rect">
                <a:avLst/>
              </a:prstGeom>
              <a:noFill/>
              <a:ln w="9525">
                <a:noFill/>
                <a:miter lim="800000"/>
                <a:headEnd/>
                <a:tailEnd/>
              </a:ln>
              <a:effectLst/>
            </p:spPr>
            <p:txBody>
              <a:bodyPr wrap="none">
                <a:spAutoFit/>
              </a:bodyPr>
              <a:lstStyle/>
              <a:p>
                <a:r>
                  <a:rPr lang="en-AU"/>
                  <a:t>360,000 ha</a:t>
                </a:r>
              </a:p>
            </p:txBody>
          </p:sp>
          <p:sp>
            <p:nvSpPr>
              <p:cNvPr id="41999" name="Line 15"/>
              <p:cNvSpPr>
                <a:spLocks noChangeShapeType="1"/>
              </p:cNvSpPr>
              <p:nvPr/>
            </p:nvSpPr>
            <p:spPr bwMode="auto">
              <a:xfrm>
                <a:off x="1156" y="2251"/>
                <a:ext cx="771" cy="45"/>
              </a:xfrm>
              <a:prstGeom prst="line">
                <a:avLst/>
              </a:prstGeom>
              <a:noFill/>
              <a:ln w="9525">
                <a:solidFill>
                  <a:schemeClr val="tx1"/>
                </a:solidFill>
                <a:round/>
                <a:headEnd/>
                <a:tailEnd type="triangle" w="med" len="med"/>
              </a:ln>
              <a:effectLst/>
            </p:spPr>
            <p:txBody>
              <a:bodyPr/>
              <a:lstStyle/>
              <a:p>
                <a:endParaRPr lang="en-AU"/>
              </a:p>
            </p:txBody>
          </p:sp>
        </p:grpSp>
        <p:grpSp>
          <p:nvGrpSpPr>
            <p:cNvPr id="42006" name="Group 22"/>
            <p:cNvGrpSpPr>
              <a:grpSpLocks/>
            </p:cNvGrpSpPr>
            <p:nvPr/>
          </p:nvGrpSpPr>
          <p:grpSpPr bwMode="auto">
            <a:xfrm>
              <a:off x="690" y="3035"/>
              <a:ext cx="1510" cy="288"/>
              <a:chOff x="690" y="3035"/>
              <a:chExt cx="1510" cy="288"/>
            </a:xfrm>
          </p:grpSpPr>
          <p:sp>
            <p:nvSpPr>
              <p:cNvPr id="41994" name="Text Box 10"/>
              <p:cNvSpPr txBox="1">
                <a:spLocks noChangeArrowheads="1"/>
              </p:cNvSpPr>
              <p:nvPr/>
            </p:nvSpPr>
            <p:spPr bwMode="auto">
              <a:xfrm>
                <a:off x="690" y="3035"/>
                <a:ext cx="969" cy="288"/>
              </a:xfrm>
              <a:prstGeom prst="rect">
                <a:avLst/>
              </a:prstGeom>
              <a:noFill/>
              <a:ln w="9525">
                <a:noFill/>
                <a:miter lim="800000"/>
                <a:headEnd/>
                <a:tailEnd/>
              </a:ln>
              <a:effectLst/>
            </p:spPr>
            <p:txBody>
              <a:bodyPr wrap="none">
                <a:spAutoFit/>
              </a:bodyPr>
              <a:lstStyle/>
              <a:p>
                <a:r>
                  <a:rPr lang="en-AU"/>
                  <a:t>200,000 ha</a:t>
                </a:r>
              </a:p>
            </p:txBody>
          </p:sp>
          <p:sp>
            <p:nvSpPr>
              <p:cNvPr id="42000" name="Line 16"/>
              <p:cNvSpPr>
                <a:spLocks noChangeShapeType="1"/>
              </p:cNvSpPr>
              <p:nvPr/>
            </p:nvSpPr>
            <p:spPr bwMode="auto">
              <a:xfrm>
                <a:off x="1655" y="3203"/>
                <a:ext cx="545" cy="91"/>
              </a:xfrm>
              <a:prstGeom prst="line">
                <a:avLst/>
              </a:prstGeom>
              <a:noFill/>
              <a:ln w="9525">
                <a:solidFill>
                  <a:schemeClr val="tx1"/>
                </a:solidFill>
                <a:round/>
                <a:headEnd/>
                <a:tailEnd type="triangle" w="med" len="med"/>
              </a:ln>
              <a:effectLst/>
            </p:spPr>
            <p:txBody>
              <a:bodyPr/>
              <a:lstStyle/>
              <a:p>
                <a:endParaRPr lang="en-AU"/>
              </a:p>
            </p:txBody>
          </p:sp>
        </p:grpSp>
        <p:grpSp>
          <p:nvGrpSpPr>
            <p:cNvPr id="42007" name="Group 23"/>
            <p:cNvGrpSpPr>
              <a:grpSpLocks/>
            </p:cNvGrpSpPr>
            <p:nvPr/>
          </p:nvGrpSpPr>
          <p:grpSpPr bwMode="auto">
            <a:xfrm>
              <a:off x="2789" y="1175"/>
              <a:ext cx="1320" cy="849"/>
              <a:chOff x="2789" y="1175"/>
              <a:chExt cx="1320" cy="849"/>
            </a:xfrm>
          </p:grpSpPr>
          <p:sp>
            <p:nvSpPr>
              <p:cNvPr id="41995" name="Text Box 11"/>
              <p:cNvSpPr txBox="1">
                <a:spLocks noChangeArrowheads="1"/>
              </p:cNvSpPr>
              <p:nvPr/>
            </p:nvSpPr>
            <p:spPr bwMode="auto">
              <a:xfrm>
                <a:off x="3140" y="1175"/>
                <a:ext cx="969" cy="288"/>
              </a:xfrm>
              <a:prstGeom prst="rect">
                <a:avLst/>
              </a:prstGeom>
              <a:noFill/>
              <a:ln w="9525">
                <a:noFill/>
                <a:miter lim="800000"/>
                <a:headEnd/>
                <a:tailEnd/>
              </a:ln>
              <a:effectLst/>
            </p:spPr>
            <p:txBody>
              <a:bodyPr wrap="none">
                <a:spAutoFit/>
              </a:bodyPr>
              <a:lstStyle/>
              <a:p>
                <a:r>
                  <a:rPr lang="en-AU"/>
                  <a:t>170,000 ha</a:t>
                </a:r>
              </a:p>
            </p:txBody>
          </p:sp>
          <p:sp>
            <p:nvSpPr>
              <p:cNvPr id="42001" name="Line 17"/>
              <p:cNvSpPr>
                <a:spLocks noChangeShapeType="1"/>
              </p:cNvSpPr>
              <p:nvPr/>
            </p:nvSpPr>
            <p:spPr bwMode="auto">
              <a:xfrm flipH="1">
                <a:off x="2789" y="1344"/>
                <a:ext cx="409" cy="680"/>
              </a:xfrm>
              <a:prstGeom prst="line">
                <a:avLst/>
              </a:prstGeom>
              <a:noFill/>
              <a:ln w="9525">
                <a:solidFill>
                  <a:schemeClr val="tx1"/>
                </a:solidFill>
                <a:round/>
                <a:headEnd/>
                <a:tailEnd type="triangle" w="med" len="med"/>
              </a:ln>
              <a:effectLst/>
            </p:spPr>
            <p:txBody>
              <a:bodyPr/>
              <a:lstStyle/>
              <a:p>
                <a:endParaRPr lang="en-AU"/>
              </a:p>
            </p:txBody>
          </p:sp>
        </p:grpSp>
        <p:grpSp>
          <p:nvGrpSpPr>
            <p:cNvPr id="42008" name="Group 24"/>
            <p:cNvGrpSpPr>
              <a:grpSpLocks/>
            </p:cNvGrpSpPr>
            <p:nvPr/>
          </p:nvGrpSpPr>
          <p:grpSpPr bwMode="auto">
            <a:xfrm>
              <a:off x="3651" y="2127"/>
              <a:ext cx="1138" cy="1076"/>
              <a:chOff x="3651" y="2127"/>
              <a:chExt cx="1138" cy="1076"/>
            </a:xfrm>
          </p:grpSpPr>
          <p:sp>
            <p:nvSpPr>
              <p:cNvPr id="41996" name="Text Box 12"/>
              <p:cNvSpPr txBox="1">
                <a:spLocks noChangeArrowheads="1"/>
              </p:cNvSpPr>
              <p:nvPr/>
            </p:nvSpPr>
            <p:spPr bwMode="auto">
              <a:xfrm>
                <a:off x="3820" y="2127"/>
                <a:ext cx="969" cy="288"/>
              </a:xfrm>
              <a:prstGeom prst="rect">
                <a:avLst/>
              </a:prstGeom>
              <a:noFill/>
              <a:ln w="9525">
                <a:noFill/>
                <a:miter lim="800000"/>
                <a:headEnd/>
                <a:tailEnd/>
              </a:ln>
              <a:effectLst/>
            </p:spPr>
            <p:txBody>
              <a:bodyPr wrap="none">
                <a:spAutoFit/>
              </a:bodyPr>
              <a:lstStyle/>
              <a:p>
                <a:r>
                  <a:rPr lang="en-AU"/>
                  <a:t>160,000 ha</a:t>
                </a:r>
              </a:p>
            </p:txBody>
          </p:sp>
          <p:sp>
            <p:nvSpPr>
              <p:cNvPr id="42002" name="Line 18"/>
              <p:cNvSpPr>
                <a:spLocks noChangeShapeType="1"/>
              </p:cNvSpPr>
              <p:nvPr/>
            </p:nvSpPr>
            <p:spPr bwMode="auto">
              <a:xfrm flipH="1">
                <a:off x="3651" y="2387"/>
                <a:ext cx="272" cy="816"/>
              </a:xfrm>
              <a:prstGeom prst="line">
                <a:avLst/>
              </a:prstGeom>
              <a:noFill/>
              <a:ln w="9525">
                <a:solidFill>
                  <a:schemeClr val="tx1"/>
                </a:solidFill>
                <a:round/>
                <a:headEnd/>
                <a:tailEnd type="triangle" w="med" len="med"/>
              </a:ln>
              <a:effectLst/>
            </p:spPr>
            <p:txBody>
              <a:bodyPr/>
              <a:lstStyle/>
              <a:p>
                <a:endParaRPr lang="en-AU"/>
              </a:p>
            </p:txBody>
          </p:sp>
        </p:grpSp>
        <p:grpSp>
          <p:nvGrpSpPr>
            <p:cNvPr id="42009" name="Group 25"/>
            <p:cNvGrpSpPr>
              <a:grpSpLocks/>
            </p:cNvGrpSpPr>
            <p:nvPr/>
          </p:nvGrpSpPr>
          <p:grpSpPr bwMode="auto">
            <a:xfrm>
              <a:off x="3865" y="3566"/>
              <a:ext cx="969" cy="573"/>
              <a:chOff x="3865" y="3566"/>
              <a:chExt cx="969" cy="573"/>
            </a:xfrm>
          </p:grpSpPr>
          <p:sp>
            <p:nvSpPr>
              <p:cNvPr id="41997" name="Text Box 13"/>
              <p:cNvSpPr txBox="1">
                <a:spLocks noChangeArrowheads="1"/>
              </p:cNvSpPr>
              <p:nvPr/>
            </p:nvSpPr>
            <p:spPr bwMode="auto">
              <a:xfrm>
                <a:off x="3865" y="3851"/>
                <a:ext cx="969" cy="288"/>
              </a:xfrm>
              <a:prstGeom prst="rect">
                <a:avLst/>
              </a:prstGeom>
              <a:noFill/>
              <a:ln w="9525">
                <a:noFill/>
                <a:miter lim="800000"/>
                <a:headEnd/>
                <a:tailEnd/>
              </a:ln>
              <a:effectLst/>
            </p:spPr>
            <p:txBody>
              <a:bodyPr wrap="none">
                <a:spAutoFit/>
              </a:bodyPr>
              <a:lstStyle/>
              <a:p>
                <a:r>
                  <a:rPr lang="en-AU"/>
                  <a:t>160,000 ha</a:t>
                </a:r>
              </a:p>
            </p:txBody>
          </p:sp>
          <p:sp>
            <p:nvSpPr>
              <p:cNvPr id="42003" name="Line 19"/>
              <p:cNvSpPr>
                <a:spLocks noChangeShapeType="1"/>
              </p:cNvSpPr>
              <p:nvPr/>
            </p:nvSpPr>
            <p:spPr bwMode="auto">
              <a:xfrm flipV="1">
                <a:off x="4195" y="3566"/>
                <a:ext cx="46" cy="318"/>
              </a:xfrm>
              <a:prstGeom prst="line">
                <a:avLst/>
              </a:prstGeom>
              <a:noFill/>
              <a:ln w="9525">
                <a:solidFill>
                  <a:schemeClr val="tx1"/>
                </a:solidFill>
                <a:round/>
                <a:headEnd/>
                <a:tailEnd type="triangle" w="med" len="med"/>
              </a:ln>
              <a:effectLst/>
            </p:spPr>
            <p:txBody>
              <a:bodyPr/>
              <a:lstStyle/>
              <a:p>
                <a:endParaRPr lang="en-AU"/>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AU"/>
              <a:t>Barley – </a:t>
            </a:r>
            <a:r>
              <a:rPr lang="en-AU">
                <a:solidFill>
                  <a:schemeClr val="bg1"/>
                </a:solidFill>
              </a:rPr>
              <a:t>which varieties?</a:t>
            </a:r>
          </a:p>
        </p:txBody>
      </p:sp>
      <p:pic>
        <p:nvPicPr>
          <p:cNvPr id="4" name="Picture 3"/>
          <p:cNvPicPr>
            <a:picLocks noChangeAspect="1"/>
          </p:cNvPicPr>
          <p:nvPr/>
        </p:nvPicPr>
        <p:blipFill>
          <a:blip r:embed="rId3"/>
          <a:stretch>
            <a:fillRect/>
          </a:stretch>
        </p:blipFill>
        <p:spPr>
          <a:xfrm>
            <a:off x="0" y="1124680"/>
            <a:ext cx="9252650" cy="5733320"/>
          </a:xfrm>
          <a:prstGeom prst="rect">
            <a:avLst/>
          </a:prstGeom>
        </p:spPr>
      </p:pic>
      <p:sp>
        <p:nvSpPr>
          <p:cNvPr id="2" name="Isosceles Triangle 1"/>
          <p:cNvSpPr/>
          <p:nvPr/>
        </p:nvSpPr>
        <p:spPr bwMode="auto">
          <a:xfrm>
            <a:off x="6588280" y="1196690"/>
            <a:ext cx="288040" cy="216030"/>
          </a:xfrm>
          <a:prstGeom prst="triangle">
            <a:avLst/>
          </a:prstGeom>
          <a:solidFill>
            <a:srgbClr val="336699"/>
          </a:solidFill>
          <a:ln w="9525" cap="flat" cmpd="sng" algn="ctr">
            <a:solidFill>
              <a:srgbClr val="336699"/>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sp>
        <p:nvSpPr>
          <p:cNvPr id="5" name="Isosceles Triangle 4"/>
          <p:cNvSpPr/>
          <p:nvPr/>
        </p:nvSpPr>
        <p:spPr bwMode="auto">
          <a:xfrm>
            <a:off x="6588787" y="3140960"/>
            <a:ext cx="288040" cy="216030"/>
          </a:xfrm>
          <a:prstGeom prst="triangle">
            <a:avLst/>
          </a:prstGeom>
          <a:solidFill>
            <a:srgbClr val="00B050"/>
          </a:solid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sp>
        <p:nvSpPr>
          <p:cNvPr id="3" name="5-Point Star 2"/>
          <p:cNvSpPr/>
          <p:nvPr/>
        </p:nvSpPr>
        <p:spPr bwMode="auto">
          <a:xfrm>
            <a:off x="6588280" y="4077090"/>
            <a:ext cx="288040" cy="255835"/>
          </a:xfrm>
          <a:prstGeom prst="star5">
            <a:avLst/>
          </a:prstGeom>
          <a:noFill/>
          <a:ln w="19050" cap="flat" cmpd="sng" algn="ctr">
            <a:solidFill>
              <a:srgbClr val="7030A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cxnSp>
        <p:nvCxnSpPr>
          <p:cNvPr id="8" name="Straight Connector 7"/>
          <p:cNvCxnSpPr/>
          <p:nvPr/>
        </p:nvCxnSpPr>
        <p:spPr bwMode="auto">
          <a:xfrm flipV="1">
            <a:off x="6300240" y="1412720"/>
            <a:ext cx="432060" cy="1008140"/>
          </a:xfrm>
          <a:prstGeom prst="line">
            <a:avLst/>
          </a:prstGeom>
          <a:solidFill>
            <a:schemeClr val="accent1"/>
          </a:solidFill>
          <a:ln w="12700" cap="flat" cmpd="sng" algn="ctr">
            <a:solidFill>
              <a:srgbClr val="336699"/>
            </a:solidFill>
            <a:prstDash val="solid"/>
            <a:round/>
            <a:headEnd type="none" w="med" len="med"/>
            <a:tailEnd type="none" w="med" len="med"/>
          </a:ln>
          <a:effectLst/>
        </p:spPr>
      </p:cxnSp>
      <p:cxnSp>
        <p:nvCxnSpPr>
          <p:cNvPr id="11" name="Straight Connector 10"/>
          <p:cNvCxnSpPr>
            <a:endCxn id="5" idx="5"/>
          </p:cNvCxnSpPr>
          <p:nvPr/>
        </p:nvCxnSpPr>
        <p:spPr bwMode="auto">
          <a:xfrm flipV="1">
            <a:off x="6300240" y="3248975"/>
            <a:ext cx="504577" cy="456115"/>
          </a:xfrm>
          <a:prstGeom prst="line">
            <a:avLst/>
          </a:prstGeom>
          <a:solidFill>
            <a:schemeClr val="accent1"/>
          </a:solidFill>
          <a:ln w="15875" cap="flat" cmpd="sng" algn="ctr">
            <a:solidFill>
              <a:srgbClr val="006600"/>
            </a:solidFill>
            <a:prstDash val="solid"/>
            <a:round/>
            <a:headEnd type="none" w="med" len="med"/>
            <a:tailEnd type="none" w="med" len="med"/>
          </a:ln>
          <a:effectLst/>
        </p:spPr>
      </p:cxnSp>
      <p:cxnSp>
        <p:nvCxnSpPr>
          <p:cNvPr id="13" name="Straight Connector 12"/>
          <p:cNvCxnSpPr/>
          <p:nvPr/>
        </p:nvCxnSpPr>
        <p:spPr bwMode="auto">
          <a:xfrm flipV="1">
            <a:off x="6371743" y="4205007"/>
            <a:ext cx="360557" cy="33033"/>
          </a:xfrm>
          <a:prstGeom prst="line">
            <a:avLst/>
          </a:prstGeom>
          <a:solidFill>
            <a:schemeClr val="accent1"/>
          </a:solidFill>
          <a:ln w="15875" cap="flat" cmpd="sng" algn="ctr">
            <a:solidFill>
              <a:srgbClr val="7030A0"/>
            </a:solidFill>
            <a:prstDash val="solid"/>
            <a:round/>
            <a:headEnd type="none" w="med" len="med"/>
            <a:tailEnd type="none" w="med" len="med"/>
          </a:ln>
          <a:effectLst/>
        </p:spPr>
      </p:cxnSp>
      <p:sp>
        <p:nvSpPr>
          <p:cNvPr id="14" name="TextBox 13"/>
          <p:cNvSpPr txBox="1"/>
          <p:nvPr/>
        </p:nvSpPr>
        <p:spPr>
          <a:xfrm>
            <a:off x="6473321" y="1341368"/>
            <a:ext cx="646331" cy="369332"/>
          </a:xfrm>
          <a:prstGeom prst="rect">
            <a:avLst/>
          </a:prstGeom>
          <a:noFill/>
        </p:spPr>
        <p:txBody>
          <a:bodyPr wrap="none" rtlCol="0">
            <a:spAutoFit/>
          </a:bodyPr>
          <a:lstStyle/>
          <a:p>
            <a:r>
              <a:rPr lang="en-AU" sz="1800">
                <a:latin typeface="+mn-lt"/>
              </a:rPr>
              <a:t>42%</a:t>
            </a:r>
          </a:p>
        </p:txBody>
      </p:sp>
      <p:sp>
        <p:nvSpPr>
          <p:cNvPr id="16" name="TextBox 15"/>
          <p:cNvSpPr txBox="1"/>
          <p:nvPr/>
        </p:nvSpPr>
        <p:spPr>
          <a:xfrm>
            <a:off x="6473322" y="3328468"/>
            <a:ext cx="646331" cy="369332"/>
          </a:xfrm>
          <a:prstGeom prst="rect">
            <a:avLst/>
          </a:prstGeom>
          <a:noFill/>
        </p:spPr>
        <p:txBody>
          <a:bodyPr wrap="none" rtlCol="0">
            <a:spAutoFit/>
          </a:bodyPr>
          <a:lstStyle/>
          <a:p>
            <a:r>
              <a:rPr lang="en-AU" sz="1800">
                <a:latin typeface="+mn-lt"/>
              </a:rPr>
              <a:t>18%</a:t>
            </a:r>
          </a:p>
        </p:txBody>
      </p:sp>
      <p:sp>
        <p:nvSpPr>
          <p:cNvPr id="17" name="TextBox 16"/>
          <p:cNvSpPr txBox="1"/>
          <p:nvPr/>
        </p:nvSpPr>
        <p:spPr>
          <a:xfrm>
            <a:off x="6539146" y="4261756"/>
            <a:ext cx="518091" cy="369332"/>
          </a:xfrm>
          <a:prstGeom prst="rect">
            <a:avLst/>
          </a:prstGeom>
          <a:noFill/>
        </p:spPr>
        <p:txBody>
          <a:bodyPr wrap="none" rtlCol="0">
            <a:spAutoFit/>
          </a:bodyPr>
          <a:lstStyle/>
          <a:p>
            <a:r>
              <a:rPr lang="en-AU" sz="1800">
                <a:latin typeface="+mn-lt"/>
              </a:rPr>
              <a:t>8%</a:t>
            </a:r>
          </a:p>
        </p:txBody>
      </p:sp>
      <p:sp>
        <p:nvSpPr>
          <p:cNvPr id="18" name="TextBox 17"/>
          <p:cNvSpPr txBox="1"/>
          <p:nvPr/>
        </p:nvSpPr>
        <p:spPr>
          <a:xfrm>
            <a:off x="6539146" y="4913004"/>
            <a:ext cx="511679" cy="307777"/>
          </a:xfrm>
          <a:prstGeom prst="rect">
            <a:avLst/>
          </a:prstGeom>
          <a:noFill/>
        </p:spPr>
        <p:txBody>
          <a:bodyPr wrap="none" rtlCol="0">
            <a:spAutoFit/>
          </a:bodyPr>
          <a:lstStyle/>
          <a:p>
            <a:r>
              <a:rPr lang="en-AU" sz="1400">
                <a:latin typeface="Arial Narrow" panose="020B0606020202030204" pitchFamily="34" charset="0"/>
              </a:rPr>
              <a:t>2019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343C3-E35D-80E8-E579-1C00A863F88A}"/>
              </a:ext>
            </a:extLst>
          </p:cNvPr>
          <p:cNvSpPr>
            <a:spLocks noGrp="1"/>
          </p:cNvSpPr>
          <p:nvPr>
            <p:ph type="title"/>
          </p:nvPr>
        </p:nvSpPr>
        <p:spPr/>
        <p:txBody>
          <a:bodyPr/>
          <a:lstStyle/>
          <a:p>
            <a:endParaRPr lang="en-AU"/>
          </a:p>
        </p:txBody>
      </p:sp>
      <p:pic>
        <p:nvPicPr>
          <p:cNvPr id="4" name="Picture 3">
            <a:extLst>
              <a:ext uri="{FF2B5EF4-FFF2-40B4-BE49-F238E27FC236}">
                <a16:creationId xmlns:a16="http://schemas.microsoft.com/office/drawing/2014/main" id="{FFF80D24-1EED-C7DF-3F6A-108CD5E3F8B9}"/>
              </a:ext>
            </a:extLst>
          </p:cNvPr>
          <p:cNvPicPr>
            <a:picLocks noChangeAspect="1"/>
          </p:cNvPicPr>
          <p:nvPr/>
        </p:nvPicPr>
        <p:blipFill>
          <a:blip r:embed="rId2"/>
          <a:stretch>
            <a:fillRect/>
          </a:stretch>
        </p:blipFill>
        <p:spPr>
          <a:xfrm>
            <a:off x="0" y="-99490"/>
            <a:ext cx="9197381" cy="6881290"/>
          </a:xfrm>
          <a:prstGeom prst="rect">
            <a:avLst/>
          </a:prstGeom>
        </p:spPr>
      </p:pic>
    </p:spTree>
    <p:extLst>
      <p:ext uri="{BB962C8B-B14F-4D97-AF65-F5344CB8AC3E}">
        <p14:creationId xmlns:p14="http://schemas.microsoft.com/office/powerpoint/2010/main" val="20700622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t>End Uses – </a:t>
            </a:r>
            <a:r>
              <a:rPr lang="en-US">
                <a:solidFill>
                  <a:schemeClr val="bg1"/>
                </a:solidFill>
              </a:rPr>
              <a:t>malt barley</a:t>
            </a:r>
          </a:p>
        </p:txBody>
      </p:sp>
      <p:pic>
        <p:nvPicPr>
          <p:cNvPr id="18435" name="Picture 3" descr="Beer glass #3"/>
          <p:cNvPicPr>
            <a:picLocks noGrp="1" noChangeAspect="1" noChangeArrowheads="1"/>
          </p:cNvPicPr>
          <p:nvPr>
            <p:ph sz="half" idx="1"/>
          </p:nvPr>
        </p:nvPicPr>
        <p:blipFill>
          <a:blip r:embed="rId2" cstate="print"/>
          <a:srcRect/>
          <a:stretch>
            <a:fillRect/>
          </a:stretch>
        </p:blipFill>
        <p:spPr>
          <a:xfrm>
            <a:off x="719138" y="1763713"/>
            <a:ext cx="3611562" cy="2368550"/>
          </a:xfrm>
          <a:noFill/>
          <a:ln w="12700">
            <a:solidFill>
              <a:schemeClr val="tx1"/>
            </a:solidFill>
          </a:ln>
        </p:spPr>
      </p:pic>
      <p:pic>
        <p:nvPicPr>
          <p:cNvPr id="18436" name="Picture 4" descr="Packaging styles"/>
          <p:cNvPicPr>
            <a:picLocks noGrp="1" noChangeAspect="1" noChangeArrowheads="1"/>
          </p:cNvPicPr>
          <p:nvPr>
            <p:ph sz="quarter" idx="2"/>
          </p:nvPr>
        </p:nvPicPr>
        <p:blipFill>
          <a:blip r:embed="rId3" cstate="print"/>
          <a:srcRect l="4385" t="11633"/>
          <a:stretch>
            <a:fillRect/>
          </a:stretch>
        </p:blipFill>
        <p:spPr>
          <a:xfrm>
            <a:off x="5003800" y="2420938"/>
            <a:ext cx="3851275" cy="2670175"/>
          </a:xfrm>
          <a:noFill/>
          <a:ln w="12700">
            <a:solidFill>
              <a:schemeClr val="tx1"/>
            </a:solidFill>
          </a:ln>
        </p:spPr>
      </p:pic>
      <p:sp>
        <p:nvSpPr>
          <p:cNvPr id="18437" name="Text Box 5"/>
          <p:cNvSpPr txBox="1">
            <a:spLocks noChangeArrowheads="1"/>
          </p:cNvSpPr>
          <p:nvPr/>
        </p:nvSpPr>
        <p:spPr bwMode="blackWhite">
          <a:xfrm>
            <a:off x="4495800" y="5334000"/>
            <a:ext cx="4114800" cy="1200150"/>
          </a:xfrm>
          <a:prstGeom prst="rect">
            <a:avLst/>
          </a:prstGeom>
          <a:solidFill>
            <a:schemeClr val="accent1"/>
          </a:solidFill>
          <a:ln w="12700">
            <a:solidFill>
              <a:srgbClr val="000000"/>
            </a:solidFill>
            <a:miter lim="800000"/>
            <a:headEnd type="none" w="sm" len="sm"/>
            <a:tailEnd type="none" w="sm" len="sm"/>
          </a:ln>
          <a:effectLst/>
        </p:spPr>
        <p:txBody>
          <a:bodyPr>
            <a:spAutoFit/>
          </a:bodyPr>
          <a:lstStyle/>
          <a:p>
            <a:pPr algn="ctr">
              <a:spcBef>
                <a:spcPct val="50000"/>
              </a:spcBef>
            </a:pPr>
            <a:r>
              <a:rPr lang="en-AU" b="1"/>
              <a:t>The number #1 quality focus for the WA barley market is for beer production</a:t>
            </a:r>
            <a:r>
              <a:rPr lang="en-AU"/>
              <a:t> </a:t>
            </a:r>
          </a:p>
        </p:txBody>
      </p:sp>
      <p:pic>
        <p:nvPicPr>
          <p:cNvPr id="18438" name="Picture 6" descr="Whisky barrels #2"/>
          <p:cNvPicPr>
            <a:picLocks noGrp="1" noChangeAspect="1" noChangeArrowheads="1"/>
          </p:cNvPicPr>
          <p:nvPr>
            <p:ph sz="quarter" idx="3"/>
          </p:nvPr>
        </p:nvPicPr>
        <p:blipFill>
          <a:blip r:embed="rId4" cstate="print"/>
          <a:srcRect/>
          <a:stretch>
            <a:fillRect/>
          </a:stretch>
        </p:blipFill>
        <p:spPr>
          <a:xfrm>
            <a:off x="827088" y="4221163"/>
            <a:ext cx="3170237" cy="2378075"/>
          </a:xfrm>
          <a:noFill/>
          <a:ln w="12700">
            <a:solidFill>
              <a:schemeClr val="tx1"/>
            </a:solidFill>
          </a:ln>
        </p:spPr>
      </p:pic>
      <p:sp>
        <p:nvSpPr>
          <p:cNvPr id="2" name="Rectangle 1"/>
          <p:cNvSpPr/>
          <p:nvPr/>
        </p:nvSpPr>
        <p:spPr>
          <a:xfrm>
            <a:off x="5364110" y="1468497"/>
            <a:ext cx="3409094" cy="830997"/>
          </a:xfrm>
          <a:prstGeom prst="rect">
            <a:avLst/>
          </a:prstGeom>
        </p:spPr>
        <p:txBody>
          <a:bodyPr wrap="square">
            <a:spAutoFit/>
          </a:bodyPr>
          <a:lstStyle/>
          <a:p>
            <a:r>
              <a:rPr lang="en-AU" dirty="0" err="1"/>
              <a:t>Shochu</a:t>
            </a:r>
            <a:r>
              <a:rPr lang="en-AU" dirty="0"/>
              <a:t>, whiskey and other distilled spirit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Grain Quality Issues – </a:t>
            </a:r>
            <a:r>
              <a:rPr lang="en-US">
                <a:solidFill>
                  <a:schemeClr val="bg1"/>
                </a:solidFill>
              </a:rPr>
              <a:t>malt barley</a:t>
            </a:r>
          </a:p>
        </p:txBody>
      </p:sp>
      <p:sp>
        <p:nvSpPr>
          <p:cNvPr id="19459" name="Rectangle 3"/>
          <p:cNvSpPr>
            <a:spLocks noGrp="1" noChangeArrowheads="1"/>
          </p:cNvSpPr>
          <p:nvPr>
            <p:ph type="body" idx="1"/>
          </p:nvPr>
        </p:nvSpPr>
        <p:spPr>
          <a:xfrm>
            <a:off x="0" y="1268700"/>
            <a:ext cx="8785225" cy="5327650"/>
          </a:xfrm>
        </p:spPr>
        <p:txBody>
          <a:bodyPr/>
          <a:lstStyle/>
          <a:p>
            <a:pPr>
              <a:buFontTx/>
              <a:buNone/>
            </a:pPr>
            <a:r>
              <a:rPr lang="en-AU" dirty="0"/>
              <a:t>Seven grain quality parameters:</a:t>
            </a:r>
          </a:p>
          <a:p>
            <a:r>
              <a:rPr lang="en-AU" dirty="0"/>
              <a:t>Germination</a:t>
            </a:r>
          </a:p>
          <a:p>
            <a:r>
              <a:rPr lang="en-AU" dirty="0"/>
              <a:t>Variety purity</a:t>
            </a:r>
          </a:p>
          <a:p>
            <a:r>
              <a:rPr lang="en-AU" dirty="0"/>
              <a:t>Hectolitre (100 L) weight</a:t>
            </a:r>
          </a:p>
          <a:p>
            <a:r>
              <a:rPr lang="en-AU" b="1" dirty="0"/>
              <a:t>Grain protein</a:t>
            </a:r>
          </a:p>
          <a:p>
            <a:r>
              <a:rPr lang="en-AU" b="1" dirty="0"/>
              <a:t>Screenings</a:t>
            </a:r>
          </a:p>
          <a:p>
            <a:r>
              <a:rPr lang="en-AU" b="1" dirty="0"/>
              <a:t>Grain colour</a:t>
            </a:r>
          </a:p>
          <a:p>
            <a:r>
              <a:rPr lang="en-AU" dirty="0"/>
              <a:t>Skinning </a:t>
            </a:r>
            <a:r>
              <a:rPr lang="en-AU" sz="2000" dirty="0"/>
              <a:t>(outer husk lost- uneven malting/germ)</a:t>
            </a:r>
            <a:endParaRPr lang="en-US" sz="2000" dirty="0"/>
          </a:p>
        </p:txBody>
      </p:sp>
      <p:pic>
        <p:nvPicPr>
          <p:cNvPr id="19460" name="Picture 4" descr="Barley grain"/>
          <p:cNvPicPr>
            <a:picLocks noChangeAspect="1" noChangeArrowheads="1"/>
          </p:cNvPicPr>
          <p:nvPr/>
        </p:nvPicPr>
        <p:blipFill>
          <a:blip r:embed="rId2" cstate="print"/>
          <a:srcRect l="5577" t="79071"/>
          <a:stretch>
            <a:fillRect/>
          </a:stretch>
        </p:blipFill>
        <p:spPr bwMode="auto">
          <a:xfrm>
            <a:off x="0" y="6092825"/>
            <a:ext cx="5181600" cy="765175"/>
          </a:xfrm>
          <a:prstGeom prst="rect">
            <a:avLst/>
          </a:prstGeom>
          <a:noFill/>
        </p:spPr>
      </p:pic>
      <p:pic>
        <p:nvPicPr>
          <p:cNvPr id="19461" name="Picture 5" descr="Unicorn"/>
          <p:cNvPicPr>
            <a:picLocks noChangeAspect="1" noChangeArrowheads="1"/>
          </p:cNvPicPr>
          <p:nvPr/>
        </p:nvPicPr>
        <p:blipFill>
          <a:blip r:embed="rId3" cstate="print"/>
          <a:srcRect l="41240" t="18159" r="42076" b="4355"/>
          <a:stretch>
            <a:fillRect/>
          </a:stretch>
        </p:blipFill>
        <p:spPr bwMode="auto">
          <a:xfrm>
            <a:off x="6475413" y="2060575"/>
            <a:ext cx="1373187" cy="4724400"/>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AU"/>
              <a:t>Best Practices – </a:t>
            </a:r>
            <a:r>
              <a:rPr lang="en-AU">
                <a:solidFill>
                  <a:schemeClr val="bg1"/>
                </a:solidFill>
              </a:rPr>
              <a:t>malt barley</a:t>
            </a:r>
          </a:p>
        </p:txBody>
      </p:sp>
      <p:sp>
        <p:nvSpPr>
          <p:cNvPr id="16387" name="Rectangle 3"/>
          <p:cNvSpPr>
            <a:spLocks noGrp="1" noChangeArrowheads="1"/>
          </p:cNvSpPr>
          <p:nvPr>
            <p:ph type="body" sz="half" idx="1"/>
          </p:nvPr>
        </p:nvSpPr>
        <p:spPr>
          <a:xfrm>
            <a:off x="179388" y="1341438"/>
            <a:ext cx="8713787" cy="5327650"/>
          </a:xfrm>
        </p:spPr>
        <p:txBody>
          <a:bodyPr/>
          <a:lstStyle/>
          <a:p>
            <a:pPr>
              <a:buFontTx/>
              <a:buNone/>
            </a:pPr>
            <a:r>
              <a:rPr lang="en-US" sz="3600" dirty="0"/>
              <a:t>Growing “good” malting barley is about:</a:t>
            </a:r>
          </a:p>
          <a:p>
            <a:r>
              <a:rPr lang="en-US" sz="3600" dirty="0"/>
              <a:t>Genotype/Variety</a:t>
            </a:r>
            <a:r>
              <a:rPr lang="en-US" sz="4400" dirty="0"/>
              <a:t> </a:t>
            </a:r>
            <a:r>
              <a:rPr lang="en-US" sz="2800" dirty="0"/>
              <a:t>– </a:t>
            </a:r>
            <a:r>
              <a:rPr lang="en-US" sz="2800" dirty="0" err="1"/>
              <a:t>Baudin</a:t>
            </a:r>
            <a:r>
              <a:rPr lang="en-US" sz="2800" dirty="0"/>
              <a:t>, </a:t>
            </a:r>
            <a:r>
              <a:rPr lang="en-US" sz="2800" dirty="0" err="1"/>
              <a:t>Buloke</a:t>
            </a:r>
            <a:r>
              <a:rPr lang="en-US" sz="2800" dirty="0"/>
              <a:t>, Bass, Flinders, Maximus CL, Spartacus</a:t>
            </a:r>
          </a:p>
          <a:p>
            <a:r>
              <a:rPr lang="en-US" sz="3600" dirty="0"/>
              <a:t>Environment – </a:t>
            </a:r>
            <a:r>
              <a:rPr lang="en-US" sz="2800" dirty="0"/>
              <a:t>rainfall, temperature, humidity</a:t>
            </a:r>
          </a:p>
          <a:p>
            <a:r>
              <a:rPr lang="en-US" sz="3600" dirty="0"/>
              <a:t>Management – </a:t>
            </a:r>
            <a:r>
              <a:rPr lang="en-US" sz="2800" dirty="0"/>
              <a:t>soil type, rotation,</a:t>
            </a:r>
            <a:r>
              <a:rPr lang="en-US" sz="3600" dirty="0"/>
              <a:t> </a:t>
            </a:r>
            <a:r>
              <a:rPr lang="en-US" sz="2800" dirty="0"/>
              <a:t>date of seeding, </a:t>
            </a:r>
            <a:r>
              <a:rPr lang="en-US" sz="2800" dirty="0" err="1"/>
              <a:t>fertiliser</a:t>
            </a:r>
            <a:r>
              <a:rPr lang="en-US" sz="2800" dirty="0"/>
              <a:t>, seeding rate, disease control, insect control, harvest date</a:t>
            </a:r>
          </a:p>
          <a:p>
            <a:endParaRPr lang="en-AU" dirty="0"/>
          </a:p>
        </p:txBody>
      </p:sp>
      <p:pic>
        <p:nvPicPr>
          <p:cNvPr id="16388" name="Picture 4" descr="Barley grain_half a grain picture"/>
          <p:cNvPicPr>
            <a:picLocks noGrp="1" noChangeAspect="1" noChangeArrowheads="1"/>
          </p:cNvPicPr>
          <p:nvPr>
            <p:ph sz="half" idx="2"/>
          </p:nvPr>
        </p:nvPicPr>
        <p:blipFill>
          <a:blip r:embed="rId2" cstate="print"/>
          <a:srcRect/>
          <a:stretch>
            <a:fillRect/>
          </a:stretch>
        </p:blipFill>
        <p:spPr>
          <a:xfrm>
            <a:off x="2484438" y="5318125"/>
            <a:ext cx="4030662" cy="1539875"/>
          </a:xfrm>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xfrm>
            <a:off x="228600" y="76200"/>
            <a:ext cx="7799880" cy="914400"/>
          </a:xfrm>
          <a:noFill/>
          <a:ln/>
        </p:spPr>
        <p:txBody>
          <a:bodyPr/>
          <a:lstStyle/>
          <a:p>
            <a:r>
              <a:rPr lang="en-AU" dirty="0"/>
              <a:t>Pattern of N uptake – </a:t>
            </a:r>
            <a:r>
              <a:rPr lang="en-AU" dirty="0">
                <a:solidFill>
                  <a:schemeClr val="bg1"/>
                </a:solidFill>
              </a:rPr>
              <a:t>wheat and barley</a:t>
            </a:r>
          </a:p>
        </p:txBody>
      </p:sp>
      <p:sp>
        <p:nvSpPr>
          <p:cNvPr id="2" name="Rectangle 1"/>
          <p:cNvSpPr/>
          <p:nvPr/>
        </p:nvSpPr>
        <p:spPr>
          <a:xfrm>
            <a:off x="2914" y="1268700"/>
            <a:ext cx="9141086" cy="4708981"/>
          </a:xfrm>
          <a:prstGeom prst="rect">
            <a:avLst/>
          </a:prstGeom>
        </p:spPr>
        <p:txBody>
          <a:bodyPr wrap="square">
            <a:spAutoFit/>
          </a:bodyPr>
          <a:lstStyle/>
          <a:p>
            <a:pPr>
              <a:spcAft>
                <a:spcPts val="600"/>
              </a:spcAft>
            </a:pPr>
            <a:r>
              <a:rPr lang="en-AU" sz="2000" b="1" dirty="0"/>
              <a:t>The pattern of uptake during the growing season</a:t>
            </a:r>
            <a:endParaRPr lang="en-AU" sz="2000" dirty="0"/>
          </a:p>
          <a:p>
            <a:pPr marL="285750" indent="-285750">
              <a:spcAft>
                <a:spcPts val="600"/>
              </a:spcAft>
              <a:buFont typeface="Arial" panose="020B0604020202020204" pitchFamily="34" charset="0"/>
              <a:buChar char="•"/>
            </a:pPr>
            <a:r>
              <a:rPr lang="en-AU" sz="2000" dirty="0"/>
              <a:t>Pattern of N uptake will reflect the changes in growth rates during the growing season.  </a:t>
            </a:r>
          </a:p>
          <a:p>
            <a:pPr marL="285750" indent="-285750">
              <a:spcAft>
                <a:spcPts val="600"/>
              </a:spcAft>
              <a:buFont typeface="Arial" panose="020B0604020202020204" pitchFamily="34" charset="0"/>
              <a:buChar char="•"/>
            </a:pPr>
            <a:r>
              <a:rPr lang="en-AU" sz="2000" dirty="0"/>
              <a:t>Essentially a cereal crop goes through two stages</a:t>
            </a:r>
          </a:p>
          <a:p>
            <a:pPr marL="1200150" lvl="2" indent="-285750">
              <a:spcAft>
                <a:spcPts val="600"/>
              </a:spcAft>
              <a:buFont typeface="Courier New" panose="02070309020205020404" pitchFamily="49" charset="0"/>
              <a:buChar char="o"/>
            </a:pPr>
            <a:r>
              <a:rPr lang="en-AU" sz="2000" dirty="0"/>
              <a:t>uptake of N, which drives growth and yield potential, </a:t>
            </a:r>
          </a:p>
          <a:p>
            <a:pPr marL="1200150" lvl="2" indent="-285750">
              <a:spcAft>
                <a:spcPts val="600"/>
              </a:spcAft>
              <a:buFont typeface="Courier New" panose="02070309020205020404" pitchFamily="49" charset="0"/>
              <a:buChar char="o"/>
            </a:pPr>
            <a:r>
              <a:rPr lang="en-AU" sz="2000" dirty="0"/>
              <a:t>and remobilisation of N to the grain, which influences grain protein.  </a:t>
            </a:r>
          </a:p>
          <a:p>
            <a:pPr marL="285750" indent="-285750">
              <a:spcAft>
                <a:spcPts val="600"/>
              </a:spcAft>
              <a:buFont typeface="Arial" panose="020B0604020202020204" pitchFamily="34" charset="0"/>
              <a:buChar char="•"/>
            </a:pPr>
            <a:r>
              <a:rPr lang="en-AU" sz="2000" dirty="0"/>
              <a:t>May-sown wheat crop 20-30% of the total N may be taken up by the crop by the start of stem elongation.  </a:t>
            </a:r>
          </a:p>
          <a:p>
            <a:pPr marL="285750" indent="-285750">
              <a:spcAft>
                <a:spcPts val="600"/>
              </a:spcAft>
              <a:buFont typeface="Arial" panose="020B0604020202020204" pitchFamily="34" charset="0"/>
              <a:buChar char="•"/>
            </a:pPr>
            <a:r>
              <a:rPr lang="en-AU" sz="2000" dirty="0"/>
              <a:t>The greatest demand for N is  stem elongation -  when the leaf area is expanding rapidly and the crop is growing most rapidly. </a:t>
            </a:r>
          </a:p>
          <a:p>
            <a:pPr marL="742950" lvl="1" indent="-285750">
              <a:spcAft>
                <a:spcPts val="600"/>
              </a:spcAft>
              <a:buFont typeface="Courier New" panose="02070309020205020404" pitchFamily="49" charset="0"/>
              <a:buChar char="o"/>
            </a:pPr>
            <a:r>
              <a:rPr lang="en-AU" sz="2000" dirty="0"/>
              <a:t>build the yield potential of the crop </a:t>
            </a:r>
          </a:p>
          <a:p>
            <a:pPr marL="742950" lvl="1" indent="-285750">
              <a:spcAft>
                <a:spcPts val="600"/>
              </a:spcAft>
              <a:buFont typeface="Courier New" panose="02070309020205020404" pitchFamily="49" charset="0"/>
              <a:buChar char="o"/>
            </a:pPr>
            <a:r>
              <a:rPr lang="en-AU" sz="2000" dirty="0"/>
              <a:t>N reserves for grain protein as most of the N present in the grain is derived from N remobilised from the leaves and other green tissues during grain filling.  </a:t>
            </a:r>
          </a:p>
        </p:txBody>
      </p:sp>
      <p:sp>
        <p:nvSpPr>
          <p:cNvPr id="4" name="Rectangle 3"/>
          <p:cNvSpPr/>
          <p:nvPr/>
        </p:nvSpPr>
        <p:spPr>
          <a:xfrm>
            <a:off x="-9609" y="6165380"/>
            <a:ext cx="8573670" cy="584775"/>
          </a:xfrm>
          <a:prstGeom prst="rect">
            <a:avLst/>
          </a:prstGeom>
        </p:spPr>
        <p:txBody>
          <a:bodyPr wrap="square">
            <a:spAutoFit/>
          </a:bodyPr>
          <a:lstStyle/>
          <a:p>
            <a:r>
              <a:rPr lang="en-AU" sz="1600" dirty="0"/>
              <a:t>https://grdc.com.au/Research-and-Development/GRDC-Update-Papers/2013/02/Nitrogen-decision-Guidelines-and-rules-of-thumb</a:t>
            </a:r>
          </a:p>
        </p:txBody>
      </p:sp>
    </p:spTree>
    <p:extLst>
      <p:ext uri="{BB962C8B-B14F-4D97-AF65-F5344CB8AC3E}">
        <p14:creationId xmlns:p14="http://schemas.microsoft.com/office/powerpoint/2010/main" val="2283835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bwMode="blackWhite">
          <a:noFill/>
          <a:ln/>
        </p:spPr>
        <p:txBody>
          <a:bodyPr/>
          <a:lstStyle/>
          <a:p>
            <a:r>
              <a:rPr lang="en-AU" dirty="0"/>
              <a:t>Spike/Spikelet – </a:t>
            </a:r>
            <a:r>
              <a:rPr lang="en-AU" dirty="0">
                <a:solidFill>
                  <a:schemeClr val="bg1"/>
                </a:solidFill>
              </a:rPr>
              <a:t>wheat and barley</a:t>
            </a:r>
          </a:p>
        </p:txBody>
      </p:sp>
      <p:sp>
        <p:nvSpPr>
          <p:cNvPr id="2" name="Rectangle 1"/>
          <p:cNvSpPr/>
          <p:nvPr/>
        </p:nvSpPr>
        <p:spPr>
          <a:xfrm>
            <a:off x="0" y="1412720"/>
            <a:ext cx="9144000" cy="5201424"/>
          </a:xfrm>
          <a:prstGeom prst="rect">
            <a:avLst/>
          </a:prstGeom>
        </p:spPr>
        <p:txBody>
          <a:bodyPr wrap="square">
            <a:spAutoFit/>
          </a:bodyPr>
          <a:lstStyle/>
          <a:p>
            <a:pPr>
              <a:spcAft>
                <a:spcPts val="600"/>
              </a:spcAft>
            </a:pPr>
            <a:r>
              <a:rPr lang="en-AU" b="1" dirty="0"/>
              <a:t>The pattern of uptake during the growing season …</a:t>
            </a:r>
            <a:r>
              <a:rPr lang="en-AU" dirty="0"/>
              <a:t>  </a:t>
            </a:r>
          </a:p>
          <a:p>
            <a:pPr marL="342900" indent="-342900">
              <a:spcAft>
                <a:spcPts val="600"/>
              </a:spcAft>
              <a:buFont typeface="Arial" panose="020B0604020202020204" pitchFamily="34" charset="0"/>
              <a:buChar char="•"/>
            </a:pPr>
            <a:r>
              <a:rPr lang="en-AU" dirty="0"/>
              <a:t>By flowering, about 80-90% of the total crop N has accumulated.</a:t>
            </a:r>
          </a:p>
          <a:p>
            <a:pPr marL="342900" indent="-342900">
              <a:spcAft>
                <a:spcPts val="600"/>
              </a:spcAft>
              <a:buFont typeface="Arial" panose="020B0604020202020204" pitchFamily="34" charset="0"/>
              <a:buChar char="•"/>
            </a:pPr>
            <a:r>
              <a:rPr lang="en-AU" dirty="0"/>
              <a:t>Crops can still take up N during grain filling if there is sufficient soil moisture, the roots are active and N is present in the soil.  This will tend to maintain green leaf area during grain filling and reduce the amount of N remobilised to the grain early in grain filling.  These conditions favour starch production in the grain and can lead to low grain protein concentrations.</a:t>
            </a:r>
          </a:p>
          <a:p>
            <a:pPr marL="342900" indent="-342900">
              <a:spcAft>
                <a:spcPts val="600"/>
              </a:spcAft>
              <a:buFont typeface="Arial" panose="020B0604020202020204" pitchFamily="34" charset="0"/>
              <a:buChar char="•"/>
            </a:pPr>
            <a:r>
              <a:rPr lang="en-AU" dirty="0"/>
              <a:t>At maturity &gt; about 75% of the total N taken up by the shoots during the year has been mobilised to the grain, although this can range from 60% to up to 80%.  </a:t>
            </a:r>
          </a:p>
          <a:p>
            <a:pPr marL="342900" indent="-342900">
              <a:spcAft>
                <a:spcPts val="600"/>
              </a:spcAft>
              <a:buFont typeface="Arial" panose="020B0604020202020204" pitchFamily="34" charset="0"/>
              <a:buChar char="•"/>
            </a:pPr>
            <a:r>
              <a:rPr lang="en-AU" dirty="0"/>
              <a:t>Under high rates of N the proportion remobilised to the grain tends to be lower compared to low rates of N.</a:t>
            </a:r>
            <a:endParaRPr lang="en-AU" dirty="0">
              <a:effectLst/>
            </a:endParaRPr>
          </a:p>
        </p:txBody>
      </p:sp>
    </p:spTree>
    <p:extLst>
      <p:ext uri="{BB962C8B-B14F-4D97-AF65-F5344CB8AC3E}">
        <p14:creationId xmlns:p14="http://schemas.microsoft.com/office/powerpoint/2010/main" val="1049934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AU" dirty="0"/>
              <a:t>Grain Protein – </a:t>
            </a:r>
            <a:r>
              <a:rPr lang="en-AU" dirty="0">
                <a:solidFill>
                  <a:schemeClr val="bg1"/>
                </a:solidFill>
              </a:rPr>
              <a:t>importance</a:t>
            </a:r>
            <a:r>
              <a:rPr lang="en-AU" dirty="0"/>
              <a:t> </a:t>
            </a:r>
          </a:p>
        </p:txBody>
      </p:sp>
      <p:sp>
        <p:nvSpPr>
          <p:cNvPr id="28675" name="Rectangle 3"/>
          <p:cNvSpPr>
            <a:spLocks noGrp="1" noChangeArrowheads="1"/>
          </p:cNvSpPr>
          <p:nvPr>
            <p:ph type="body" idx="1"/>
          </p:nvPr>
        </p:nvSpPr>
        <p:spPr/>
        <p:txBody>
          <a:bodyPr/>
          <a:lstStyle/>
          <a:p>
            <a:r>
              <a:rPr lang="en-AU" dirty="0"/>
              <a:t>Measures proportion of protein in grain</a:t>
            </a:r>
          </a:p>
          <a:p>
            <a:r>
              <a:rPr lang="en-AU" dirty="0"/>
              <a:t>Target – 9.5% to 12.8%</a:t>
            </a:r>
          </a:p>
          <a:p>
            <a:r>
              <a:rPr lang="en-AU" dirty="0"/>
              <a:t>One of the most important grain traits</a:t>
            </a:r>
          </a:p>
        </p:txBody>
      </p:sp>
      <p:pic>
        <p:nvPicPr>
          <p:cNvPr id="9" name="Picture 3" descr="Beer glass #3"/>
          <p:cNvPicPr>
            <a:picLocks noChangeAspect="1" noChangeArrowheads="1"/>
          </p:cNvPicPr>
          <p:nvPr/>
        </p:nvPicPr>
        <p:blipFill>
          <a:blip r:embed="rId2" cstate="print"/>
          <a:srcRect/>
          <a:stretch>
            <a:fillRect/>
          </a:stretch>
        </p:blipFill>
        <p:spPr bwMode="auto">
          <a:xfrm>
            <a:off x="388938" y="4149100"/>
            <a:ext cx="3611562" cy="2368550"/>
          </a:xfrm>
          <a:prstGeom prst="rect">
            <a:avLst/>
          </a:prstGeom>
          <a:noFill/>
          <a:ln w="12700">
            <a:solidFill>
              <a:schemeClr val="tx1"/>
            </a:solid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10596" t="5355" r="20345" b="6302"/>
          <a:stretch/>
        </p:blipFill>
        <p:spPr>
          <a:xfrm>
            <a:off x="7380390" y="2276840"/>
            <a:ext cx="1368190" cy="2376330"/>
          </a:xfrm>
          <a:prstGeom prst="rect">
            <a:avLst/>
          </a:prstGeom>
        </p:spPr>
      </p:pic>
      <p:sp>
        <p:nvSpPr>
          <p:cNvPr id="29698" name="Rectangle 2"/>
          <p:cNvSpPr>
            <a:spLocks noGrp="1" noChangeArrowheads="1"/>
          </p:cNvSpPr>
          <p:nvPr>
            <p:ph type="title"/>
          </p:nvPr>
        </p:nvSpPr>
        <p:spPr/>
        <p:txBody>
          <a:bodyPr/>
          <a:lstStyle/>
          <a:p>
            <a:r>
              <a:rPr lang="en-AU" dirty="0"/>
              <a:t>Grain Protein – </a:t>
            </a:r>
            <a:r>
              <a:rPr lang="en-AU" dirty="0">
                <a:solidFill>
                  <a:schemeClr val="bg1"/>
                </a:solidFill>
              </a:rPr>
              <a:t>importance</a:t>
            </a:r>
            <a:r>
              <a:rPr lang="en-AU" dirty="0"/>
              <a:t> </a:t>
            </a:r>
          </a:p>
        </p:txBody>
      </p:sp>
      <p:sp>
        <p:nvSpPr>
          <p:cNvPr id="29699" name="Rectangle 3"/>
          <p:cNvSpPr>
            <a:spLocks noGrp="1" noChangeArrowheads="1"/>
          </p:cNvSpPr>
          <p:nvPr>
            <p:ph type="body" idx="1"/>
          </p:nvPr>
        </p:nvSpPr>
        <p:spPr/>
        <p:txBody>
          <a:bodyPr/>
          <a:lstStyle/>
          <a:p>
            <a:r>
              <a:rPr lang="en-AU" dirty="0"/>
              <a:t>Consequence of high protein (&gt; 12.8%)</a:t>
            </a:r>
          </a:p>
          <a:p>
            <a:pPr lvl="1"/>
            <a:r>
              <a:rPr lang="en-AU" dirty="0"/>
              <a:t>decreases alcohol production per t grain</a:t>
            </a:r>
          </a:p>
          <a:p>
            <a:pPr lvl="1"/>
            <a:r>
              <a:rPr lang="en-AU" dirty="0"/>
              <a:t>increases filtration times in brewery</a:t>
            </a:r>
          </a:p>
          <a:p>
            <a:pPr lvl="1"/>
            <a:r>
              <a:rPr lang="en-AU" dirty="0"/>
              <a:t>increase potential for beer haze</a:t>
            </a:r>
          </a:p>
          <a:p>
            <a:pPr lvl="1"/>
            <a:r>
              <a:rPr lang="en-AU" dirty="0"/>
              <a:t>decreases shelf life of beer</a:t>
            </a:r>
          </a:p>
          <a:p>
            <a:r>
              <a:rPr lang="en-AU" dirty="0"/>
              <a:t>Consequence of low protein (&lt; 9.5%)</a:t>
            </a:r>
          </a:p>
          <a:p>
            <a:pPr lvl="1"/>
            <a:r>
              <a:rPr lang="en-AU" dirty="0"/>
              <a:t>reduces duration of beer head</a:t>
            </a:r>
          </a:p>
          <a:p>
            <a:pPr lvl="1"/>
            <a:r>
              <a:rPr lang="en-AU" dirty="0"/>
              <a:t>reduces cling of beer to glass</a:t>
            </a:r>
          </a:p>
          <a:p>
            <a:pPr lvl="1"/>
            <a:r>
              <a:rPr lang="en-AU" dirty="0"/>
              <a:t>affects fermentation by not providing enough food for yeast to make alcohol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AU"/>
              <a:t>Grain Protein – </a:t>
            </a:r>
            <a:r>
              <a:rPr lang="en-AU">
                <a:solidFill>
                  <a:schemeClr val="bg1"/>
                </a:solidFill>
              </a:rPr>
              <a:t>agronomy</a:t>
            </a:r>
            <a:r>
              <a:rPr lang="en-AU"/>
              <a:t> </a:t>
            </a:r>
          </a:p>
        </p:txBody>
      </p:sp>
      <p:sp>
        <p:nvSpPr>
          <p:cNvPr id="30723" name="Rectangle 3"/>
          <p:cNvSpPr>
            <a:spLocks noGrp="1" noChangeArrowheads="1"/>
          </p:cNvSpPr>
          <p:nvPr>
            <p:ph type="body" idx="1"/>
          </p:nvPr>
        </p:nvSpPr>
        <p:spPr>
          <a:xfrm>
            <a:off x="179388" y="1341438"/>
            <a:ext cx="8785225" cy="2159572"/>
          </a:xfrm>
        </p:spPr>
        <p:txBody>
          <a:bodyPr/>
          <a:lstStyle/>
          <a:p>
            <a:pPr>
              <a:buFontTx/>
              <a:buNone/>
            </a:pPr>
            <a:r>
              <a:rPr lang="en-AU" dirty="0"/>
              <a:t>Factors affecting grain protein include:</a:t>
            </a:r>
          </a:p>
        </p:txBody>
      </p:sp>
    </p:spTree>
    <p:extLst>
      <p:ext uri="{BB962C8B-B14F-4D97-AF65-F5344CB8AC3E}">
        <p14:creationId xmlns:p14="http://schemas.microsoft.com/office/powerpoint/2010/main" val="2756660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AU"/>
              <a:t>Grain Protein – </a:t>
            </a:r>
            <a:r>
              <a:rPr lang="en-AU">
                <a:solidFill>
                  <a:schemeClr val="bg1"/>
                </a:solidFill>
              </a:rPr>
              <a:t>agronomy</a:t>
            </a:r>
            <a:r>
              <a:rPr lang="en-AU"/>
              <a:t> </a:t>
            </a:r>
          </a:p>
        </p:txBody>
      </p:sp>
      <p:sp>
        <p:nvSpPr>
          <p:cNvPr id="30723" name="Rectangle 3"/>
          <p:cNvSpPr>
            <a:spLocks noGrp="1" noChangeArrowheads="1"/>
          </p:cNvSpPr>
          <p:nvPr>
            <p:ph type="body" idx="1"/>
          </p:nvPr>
        </p:nvSpPr>
        <p:spPr/>
        <p:txBody>
          <a:bodyPr/>
          <a:lstStyle/>
          <a:p>
            <a:pPr>
              <a:buFontTx/>
              <a:buNone/>
            </a:pPr>
            <a:r>
              <a:rPr lang="en-AU" dirty="0"/>
              <a:t>Factors affecting grain protein include:</a:t>
            </a:r>
          </a:p>
          <a:p>
            <a:r>
              <a:rPr lang="en-AU" dirty="0"/>
              <a:t>Crop rotation</a:t>
            </a:r>
          </a:p>
          <a:p>
            <a:r>
              <a:rPr lang="en-AU" dirty="0"/>
              <a:t>Soil type</a:t>
            </a:r>
          </a:p>
          <a:p>
            <a:r>
              <a:rPr lang="en-AU" dirty="0"/>
              <a:t>Soil fertility</a:t>
            </a:r>
          </a:p>
          <a:p>
            <a:r>
              <a:rPr lang="en-AU" dirty="0"/>
              <a:t>Fertiliser applied nitrogen</a:t>
            </a:r>
          </a:p>
          <a:p>
            <a:r>
              <a:rPr lang="en-AU" dirty="0"/>
              <a:t>Variety (yield potential, N harvest index)</a:t>
            </a:r>
          </a:p>
          <a:p>
            <a:r>
              <a:rPr lang="en-AU" dirty="0"/>
              <a:t>Conditions during grain filling</a:t>
            </a:r>
          </a:p>
        </p:txBody>
      </p:sp>
      <p:pic>
        <p:nvPicPr>
          <p:cNvPr id="30724" name="Picture 4" descr="Barley in field 14"/>
          <p:cNvPicPr>
            <a:picLocks noChangeAspect="1" noChangeArrowheads="1"/>
          </p:cNvPicPr>
          <p:nvPr/>
        </p:nvPicPr>
        <p:blipFill>
          <a:blip r:embed="rId2" cstate="print"/>
          <a:srcRect t="4233"/>
          <a:stretch>
            <a:fillRect/>
          </a:stretch>
        </p:blipFill>
        <p:spPr bwMode="auto">
          <a:xfrm>
            <a:off x="3657600" y="1892300"/>
            <a:ext cx="4724400" cy="1752600"/>
          </a:xfrm>
          <a:prstGeom prst="rect">
            <a:avLst/>
          </a:prstGeom>
          <a:noFill/>
        </p:spPr>
      </p:pic>
      <p:pic>
        <p:nvPicPr>
          <p:cNvPr id="30725" name="Picture 5" descr="Urea fertiliser #2"/>
          <p:cNvPicPr>
            <a:picLocks noGrp="1" noChangeAspect="1" noChangeArrowheads="1"/>
          </p:cNvPicPr>
          <p:nvPr>
            <p:ph sz="half" idx="4294967295"/>
          </p:nvPr>
        </p:nvPicPr>
        <p:blipFill>
          <a:blip r:embed="rId3" cstate="print"/>
          <a:srcRect/>
          <a:stretch>
            <a:fillRect/>
          </a:stretch>
        </p:blipFill>
        <p:spPr>
          <a:xfrm>
            <a:off x="6443663" y="4797425"/>
            <a:ext cx="2374900" cy="1779588"/>
          </a:xfrm>
          <a:noFill/>
          <a:ln/>
        </p:spPr>
      </p:pic>
      <p:pic>
        <p:nvPicPr>
          <p:cNvPr id="30726" name="Picture 6" descr="Rite N calculator"/>
          <p:cNvPicPr>
            <a:picLocks noGrp="1" noChangeAspect="1" noChangeArrowheads="1"/>
          </p:cNvPicPr>
          <p:nvPr>
            <p:ph sz="half" idx="4294967295"/>
          </p:nvPr>
        </p:nvPicPr>
        <p:blipFill>
          <a:blip r:embed="rId4" cstate="print"/>
          <a:srcRect/>
          <a:stretch>
            <a:fillRect/>
          </a:stretch>
        </p:blipFill>
        <p:spPr>
          <a:xfrm>
            <a:off x="539750" y="5445125"/>
            <a:ext cx="3816350" cy="1254125"/>
          </a:xfrm>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AU"/>
              <a:t>Grain Protein – </a:t>
            </a:r>
            <a:r>
              <a:rPr lang="en-AU">
                <a:solidFill>
                  <a:schemeClr val="bg1"/>
                </a:solidFill>
              </a:rPr>
              <a:t>calculating soil N</a:t>
            </a:r>
          </a:p>
        </p:txBody>
      </p:sp>
      <p:grpSp>
        <p:nvGrpSpPr>
          <p:cNvPr id="3" name="Group 2"/>
          <p:cNvGrpSpPr/>
          <p:nvPr/>
        </p:nvGrpSpPr>
        <p:grpSpPr>
          <a:xfrm>
            <a:off x="719138" y="1295400"/>
            <a:ext cx="8029575" cy="5446713"/>
            <a:chOff x="719138" y="1295400"/>
            <a:chExt cx="8029575" cy="5446713"/>
          </a:xfrm>
        </p:grpSpPr>
        <p:pic>
          <p:nvPicPr>
            <p:cNvPr id="5131" name="Picture 11"/>
            <p:cNvPicPr>
              <a:picLocks noChangeAspect="1" noChangeArrowheads="1"/>
            </p:cNvPicPr>
            <p:nvPr/>
          </p:nvPicPr>
          <p:blipFill>
            <a:blip r:embed="rId3" cstate="print"/>
            <a:srcRect/>
            <a:stretch>
              <a:fillRect/>
            </a:stretch>
          </p:blipFill>
          <p:spPr bwMode="auto">
            <a:xfrm>
              <a:off x="719138" y="1295400"/>
              <a:ext cx="8029575" cy="5446713"/>
            </a:xfrm>
            <a:prstGeom prst="rect">
              <a:avLst/>
            </a:prstGeom>
            <a:noFill/>
            <a:ln w="12700">
              <a:noFill/>
              <a:miter lim="800000"/>
              <a:headEnd type="none" w="sm" len="sm"/>
              <a:tailEnd type="none" w="sm" len="sm"/>
            </a:ln>
            <a:effectLst/>
          </p:spPr>
        </p:pic>
        <p:sp>
          <p:nvSpPr>
            <p:cNvPr id="2" name="Rectangle 1"/>
            <p:cNvSpPr/>
            <p:nvPr/>
          </p:nvSpPr>
          <p:spPr bwMode="auto">
            <a:xfrm>
              <a:off x="755470" y="5517290"/>
              <a:ext cx="1152160" cy="57608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U" sz="1600" b="1" i="0" u="none" strike="noStrike" cap="none" normalizeH="0" baseline="0" dirty="0">
                  <a:ln>
                    <a:noFill/>
                  </a:ln>
                  <a:solidFill>
                    <a:schemeClr val="tx1"/>
                  </a:solidFill>
                  <a:effectLst/>
                  <a:latin typeface="+mn-lt"/>
                </a:rPr>
                <a:t>Non</a:t>
              </a:r>
            </a:p>
            <a:p>
              <a:pPr marL="0" marR="0" indent="0" algn="ctr" defTabSz="914400" rtl="0" eaLnBrk="0" fontAlgn="base" latinLnBrk="0" hangingPunct="0">
                <a:lnSpc>
                  <a:spcPct val="100000"/>
                </a:lnSpc>
                <a:spcBef>
                  <a:spcPct val="0"/>
                </a:spcBef>
                <a:spcAft>
                  <a:spcPct val="0"/>
                </a:spcAft>
                <a:buClrTx/>
                <a:buSzTx/>
                <a:buFontTx/>
                <a:buNone/>
                <a:tabLst/>
              </a:pPr>
              <a:r>
                <a:rPr lang="en-AU" sz="1600" b="1" dirty="0">
                  <a:latin typeface="+mn-lt"/>
                </a:rPr>
                <a:t>Legume</a:t>
              </a:r>
              <a:endParaRPr kumimoji="0" lang="en-AU" sz="1600" b="1" i="0" u="none" strike="noStrike" cap="none" normalizeH="0" baseline="0" dirty="0">
                <a:ln>
                  <a:noFill/>
                </a:ln>
                <a:solidFill>
                  <a:schemeClr val="tx1"/>
                </a:solidFill>
                <a:effectLst/>
                <a:latin typeface="+mn-lt"/>
              </a:endParaRPr>
            </a:p>
          </p:txBody>
        </p:sp>
      </p:grpSp>
      <p:sp>
        <p:nvSpPr>
          <p:cNvPr id="4" name="Oval 3"/>
          <p:cNvSpPr/>
          <p:nvPr/>
        </p:nvSpPr>
        <p:spPr bwMode="auto">
          <a:xfrm>
            <a:off x="4139940" y="5553295"/>
            <a:ext cx="720100" cy="504070"/>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sp>
        <p:nvSpPr>
          <p:cNvPr id="7" name="Oval 6"/>
          <p:cNvSpPr/>
          <p:nvPr/>
        </p:nvSpPr>
        <p:spPr bwMode="auto">
          <a:xfrm>
            <a:off x="4162166" y="2564880"/>
            <a:ext cx="720100" cy="504070"/>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sp>
        <p:nvSpPr>
          <p:cNvPr id="5" name="Rectangle 4">
            <a:extLst>
              <a:ext uri="{FF2B5EF4-FFF2-40B4-BE49-F238E27FC236}">
                <a16:creationId xmlns:a16="http://schemas.microsoft.com/office/drawing/2014/main" id="{5F6E8D7D-30F2-553F-3CA9-C891651199F7}"/>
              </a:ext>
            </a:extLst>
          </p:cNvPr>
          <p:cNvSpPr/>
          <p:nvPr/>
        </p:nvSpPr>
        <p:spPr bwMode="auto">
          <a:xfrm>
            <a:off x="899490" y="1628750"/>
            <a:ext cx="2196305" cy="216030"/>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U" sz="1600" b="1" i="0" u="none" strike="noStrike" cap="none" normalizeH="0" baseline="0" dirty="0">
                <a:ln>
                  <a:noFill/>
                </a:ln>
                <a:solidFill>
                  <a:schemeClr val="tx1"/>
                </a:solidFill>
                <a:effectLst/>
                <a:latin typeface="+mn-lt"/>
              </a:rPr>
              <a:t>Organic </a:t>
            </a:r>
            <a:r>
              <a:rPr kumimoji="0" lang="en-AU" sz="1400" b="1" i="0" u="none" strike="noStrike" cap="none" normalizeH="0" baseline="0" dirty="0">
                <a:ln>
                  <a:noFill/>
                </a:ln>
                <a:solidFill>
                  <a:schemeClr val="tx1"/>
                </a:solidFill>
                <a:effectLst/>
                <a:latin typeface="+mn-lt"/>
              </a:rPr>
              <a:t>Matter</a:t>
            </a:r>
            <a:endParaRPr kumimoji="0" lang="en-AU" sz="1600" b="1" i="0" u="none" strike="noStrike" cap="none" normalizeH="0" baseline="0" dirty="0">
              <a:ln>
                <a:noFill/>
              </a:ln>
              <a:solidFill>
                <a:schemeClr val="tx1"/>
              </a:solidFill>
              <a:effectLst/>
              <a:latin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AU"/>
              <a:t>Grain Protein – </a:t>
            </a:r>
            <a:r>
              <a:rPr lang="en-AU">
                <a:solidFill>
                  <a:schemeClr val="bg1"/>
                </a:solidFill>
              </a:rPr>
              <a:t>N supply and yield</a:t>
            </a:r>
          </a:p>
        </p:txBody>
      </p:sp>
      <p:pic>
        <p:nvPicPr>
          <p:cNvPr id="15368" name="Picture 8"/>
          <p:cNvPicPr>
            <a:picLocks noGrp="1" noChangeAspect="1" noChangeArrowheads="1"/>
          </p:cNvPicPr>
          <p:nvPr>
            <p:ph idx="1"/>
          </p:nvPr>
        </p:nvPicPr>
        <p:blipFill>
          <a:blip r:embed="rId2" cstate="print"/>
          <a:srcRect/>
          <a:stretch>
            <a:fillRect/>
          </a:stretch>
        </p:blipFill>
        <p:spPr>
          <a:xfrm>
            <a:off x="2085975" y="1258888"/>
            <a:ext cx="5221288" cy="5394325"/>
          </a:xfrm>
          <a:noFill/>
          <a:ln/>
        </p:spPr>
      </p:pic>
      <p:sp>
        <p:nvSpPr>
          <p:cNvPr id="4" name="Oval 3"/>
          <p:cNvSpPr/>
          <p:nvPr/>
        </p:nvSpPr>
        <p:spPr bwMode="auto">
          <a:xfrm>
            <a:off x="3491850" y="2564880"/>
            <a:ext cx="720100" cy="504070"/>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sp>
        <p:nvSpPr>
          <p:cNvPr id="5" name="Oval 4"/>
          <p:cNvSpPr/>
          <p:nvPr/>
        </p:nvSpPr>
        <p:spPr bwMode="auto">
          <a:xfrm>
            <a:off x="3491850" y="3704015"/>
            <a:ext cx="720100" cy="504070"/>
          </a:xfrm>
          <a:prstGeom prst="ellipse">
            <a:avLst/>
          </a:prstGeom>
          <a:noFill/>
          <a:ln w="222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AU"/>
              <a:t>Grain Protein – </a:t>
            </a:r>
            <a:r>
              <a:rPr lang="en-AU">
                <a:solidFill>
                  <a:schemeClr val="bg1"/>
                </a:solidFill>
              </a:rPr>
              <a:t>agronomy</a:t>
            </a:r>
            <a:r>
              <a:rPr lang="en-AU"/>
              <a:t> </a:t>
            </a:r>
          </a:p>
        </p:txBody>
      </p:sp>
      <p:sp>
        <p:nvSpPr>
          <p:cNvPr id="30723" name="Rectangle 3"/>
          <p:cNvSpPr>
            <a:spLocks noGrp="1" noChangeArrowheads="1"/>
          </p:cNvSpPr>
          <p:nvPr>
            <p:ph type="body" idx="1"/>
          </p:nvPr>
        </p:nvSpPr>
        <p:spPr/>
        <p:txBody>
          <a:bodyPr/>
          <a:lstStyle/>
          <a:p>
            <a:pPr>
              <a:buFontTx/>
              <a:buNone/>
            </a:pPr>
            <a:r>
              <a:rPr lang="en-AU" dirty="0"/>
              <a:t>Factors affecting grain protein include:</a:t>
            </a:r>
          </a:p>
          <a:p>
            <a:r>
              <a:rPr lang="en-AU" dirty="0"/>
              <a:t>Crop rotation</a:t>
            </a:r>
          </a:p>
          <a:p>
            <a:r>
              <a:rPr lang="en-AU" dirty="0"/>
              <a:t>Soil type</a:t>
            </a:r>
          </a:p>
          <a:p>
            <a:r>
              <a:rPr lang="en-AU" dirty="0"/>
              <a:t>Soil fertility</a:t>
            </a:r>
          </a:p>
          <a:p>
            <a:r>
              <a:rPr lang="en-AU" dirty="0">
                <a:solidFill>
                  <a:srgbClr val="FF0000"/>
                </a:solidFill>
              </a:rPr>
              <a:t>Fertiliser applied nitrogen</a:t>
            </a:r>
          </a:p>
          <a:p>
            <a:r>
              <a:rPr lang="en-AU" dirty="0"/>
              <a:t>Variety (yield potential, N harvest index)</a:t>
            </a:r>
          </a:p>
          <a:p>
            <a:r>
              <a:rPr lang="en-AU" dirty="0"/>
              <a:t>Conditions during grain filling</a:t>
            </a:r>
          </a:p>
        </p:txBody>
      </p:sp>
      <p:pic>
        <p:nvPicPr>
          <p:cNvPr id="30724" name="Picture 4" descr="Barley in field 14"/>
          <p:cNvPicPr>
            <a:picLocks noChangeAspect="1" noChangeArrowheads="1"/>
          </p:cNvPicPr>
          <p:nvPr/>
        </p:nvPicPr>
        <p:blipFill>
          <a:blip r:embed="rId2" cstate="print"/>
          <a:srcRect t="4233"/>
          <a:stretch>
            <a:fillRect/>
          </a:stretch>
        </p:blipFill>
        <p:spPr bwMode="auto">
          <a:xfrm>
            <a:off x="3657600" y="1892300"/>
            <a:ext cx="4724400" cy="1752600"/>
          </a:xfrm>
          <a:prstGeom prst="rect">
            <a:avLst/>
          </a:prstGeom>
          <a:noFill/>
        </p:spPr>
      </p:pic>
      <p:pic>
        <p:nvPicPr>
          <p:cNvPr id="30725" name="Picture 5" descr="Urea fertiliser #2"/>
          <p:cNvPicPr>
            <a:picLocks noGrp="1" noChangeAspect="1" noChangeArrowheads="1"/>
          </p:cNvPicPr>
          <p:nvPr>
            <p:ph sz="half" idx="4294967295"/>
          </p:nvPr>
        </p:nvPicPr>
        <p:blipFill>
          <a:blip r:embed="rId3" cstate="print"/>
          <a:srcRect/>
          <a:stretch>
            <a:fillRect/>
          </a:stretch>
        </p:blipFill>
        <p:spPr>
          <a:xfrm>
            <a:off x="6443663" y="4797425"/>
            <a:ext cx="2374900" cy="1779588"/>
          </a:xfrm>
          <a:noFill/>
          <a:ln/>
        </p:spPr>
      </p:pic>
      <p:pic>
        <p:nvPicPr>
          <p:cNvPr id="30726" name="Picture 6" descr="Rite N calculator"/>
          <p:cNvPicPr>
            <a:picLocks noGrp="1" noChangeAspect="1" noChangeArrowheads="1"/>
          </p:cNvPicPr>
          <p:nvPr>
            <p:ph sz="half" idx="4294967295"/>
          </p:nvPr>
        </p:nvPicPr>
        <p:blipFill>
          <a:blip r:embed="rId4" cstate="print"/>
          <a:srcRect/>
          <a:stretch>
            <a:fillRect/>
          </a:stretch>
        </p:blipFill>
        <p:spPr>
          <a:xfrm>
            <a:off x="539750" y="5445125"/>
            <a:ext cx="3816350" cy="1254125"/>
          </a:xfrm>
          <a:noFill/>
          <a:ln/>
        </p:spPr>
      </p:pic>
    </p:spTree>
    <p:extLst>
      <p:ext uri="{BB962C8B-B14F-4D97-AF65-F5344CB8AC3E}">
        <p14:creationId xmlns:p14="http://schemas.microsoft.com/office/powerpoint/2010/main" val="21326435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r>
              <a:rPr lang="en-AU"/>
              <a:t>Grain Protein – </a:t>
            </a:r>
            <a:r>
              <a:rPr lang="en-AU">
                <a:solidFill>
                  <a:schemeClr val="bg1"/>
                </a:solidFill>
              </a:rPr>
              <a:t>rate and timing</a:t>
            </a:r>
          </a:p>
        </p:txBody>
      </p:sp>
      <p:pic>
        <p:nvPicPr>
          <p:cNvPr id="67589" name="Picture 5"/>
          <p:cNvPicPr>
            <a:picLocks noGrp="1" noChangeAspect="1" noChangeArrowheads="1"/>
          </p:cNvPicPr>
          <p:nvPr>
            <p:ph idx="1"/>
          </p:nvPr>
        </p:nvPicPr>
        <p:blipFill>
          <a:blip r:embed="rId2" cstate="print"/>
          <a:srcRect/>
          <a:stretch>
            <a:fillRect/>
          </a:stretch>
        </p:blipFill>
        <p:spPr>
          <a:xfrm>
            <a:off x="215900" y="1438275"/>
            <a:ext cx="8723313" cy="5094288"/>
          </a:xfrm>
          <a:noFill/>
          <a:ln/>
        </p:spPr>
      </p:pic>
      <p:sp>
        <p:nvSpPr>
          <p:cNvPr id="67591" name="Text Box 7"/>
          <p:cNvSpPr txBox="1">
            <a:spLocks noChangeArrowheads="1"/>
          </p:cNvSpPr>
          <p:nvPr/>
        </p:nvSpPr>
        <p:spPr bwMode="auto">
          <a:xfrm>
            <a:off x="2247900" y="1433513"/>
            <a:ext cx="5691188" cy="457200"/>
          </a:xfrm>
          <a:prstGeom prst="rect">
            <a:avLst/>
          </a:prstGeom>
          <a:solidFill>
            <a:srgbClr val="808000"/>
          </a:solidFill>
          <a:ln w="9525">
            <a:noFill/>
            <a:miter lim="800000"/>
            <a:headEnd/>
            <a:tailEnd/>
          </a:ln>
          <a:effectLst/>
        </p:spPr>
        <p:txBody>
          <a:bodyPr wrap="none">
            <a:spAutoFit/>
          </a:bodyPr>
          <a:lstStyle/>
          <a:p>
            <a:r>
              <a:rPr lang="en-AU" b="1">
                <a:solidFill>
                  <a:schemeClr val="bg1"/>
                </a:solidFill>
              </a:rPr>
              <a:t>Timing impact generally smaller than rate</a:t>
            </a:r>
            <a:endParaRPr lang="en-US" b="1">
              <a:solidFill>
                <a:schemeClr val="bg1"/>
              </a:solidFill>
            </a:endParaRPr>
          </a:p>
        </p:txBody>
      </p:sp>
    </p:spTree>
    <p:extLst>
      <p:ext uri="{BB962C8B-B14F-4D97-AF65-F5344CB8AC3E}">
        <p14:creationId xmlns:p14="http://schemas.microsoft.com/office/powerpoint/2010/main" val="1298969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Variety differences for grain protein</a:t>
            </a:r>
          </a:p>
        </p:txBody>
      </p:sp>
      <p:sp>
        <p:nvSpPr>
          <p:cNvPr id="3" name="Content Placeholder 2"/>
          <p:cNvSpPr>
            <a:spLocks noGrp="1"/>
          </p:cNvSpPr>
          <p:nvPr>
            <p:ph idx="1"/>
          </p:nvPr>
        </p:nvSpPr>
        <p:spPr/>
        <p:txBody>
          <a:bodyPr/>
          <a:lstStyle/>
          <a:p>
            <a:endParaRPr lang="en-AU"/>
          </a:p>
        </p:txBody>
      </p:sp>
      <p:grpSp>
        <p:nvGrpSpPr>
          <p:cNvPr id="6" name="Group 5">
            <a:extLst>
              <a:ext uri="{FF2B5EF4-FFF2-40B4-BE49-F238E27FC236}">
                <a16:creationId xmlns:a16="http://schemas.microsoft.com/office/drawing/2014/main" id="{C02A3407-E6F0-EBE0-6C3C-C4D5B0E28A79}"/>
              </a:ext>
            </a:extLst>
          </p:cNvPr>
          <p:cNvGrpSpPr/>
          <p:nvPr/>
        </p:nvGrpSpPr>
        <p:grpSpPr>
          <a:xfrm>
            <a:off x="-10753" y="1268700"/>
            <a:ext cx="9100712" cy="5400388"/>
            <a:chOff x="-10753" y="1268700"/>
            <a:chExt cx="9100712" cy="5400388"/>
          </a:xfrm>
        </p:grpSpPr>
        <p:pic>
          <p:nvPicPr>
            <p:cNvPr id="5" name="Content Placeholder 3"/>
            <p:cNvPicPr>
              <a:picLocks noChangeAspect="1"/>
            </p:cNvPicPr>
            <p:nvPr/>
          </p:nvPicPr>
          <p:blipFill>
            <a:blip r:embed="rId2"/>
            <a:stretch>
              <a:fillRect/>
            </a:stretch>
          </p:blipFill>
          <p:spPr bwMode="auto">
            <a:xfrm>
              <a:off x="-10753" y="1268700"/>
              <a:ext cx="9100712" cy="5400388"/>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CCDA4050-E06D-B879-9B4E-21EC1A15E1A8}"/>
                </a:ext>
              </a:extLst>
            </p:cNvPr>
            <p:cNvSpPr/>
            <p:nvPr/>
          </p:nvSpPr>
          <p:spPr bwMode="auto">
            <a:xfrm>
              <a:off x="107380" y="5589300"/>
              <a:ext cx="8857232" cy="79211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U" sz="2400" b="0" i="0" u="none" strike="noStrike" cap="none" normalizeH="0" baseline="0">
                <a:ln>
                  <a:noFill/>
                </a:ln>
                <a:solidFill>
                  <a:schemeClr val="tx1"/>
                </a:solidFill>
                <a:effectLst/>
                <a:latin typeface="Times New Roman" pitchFamily="18" charset="0"/>
              </a:endParaRPr>
            </a:p>
          </p:txBody>
        </p:sp>
      </p:grpSp>
    </p:spTree>
    <p:extLst>
      <p:ext uri="{BB962C8B-B14F-4D97-AF65-F5344CB8AC3E}">
        <p14:creationId xmlns:p14="http://schemas.microsoft.com/office/powerpoint/2010/main" val="39705383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r>
              <a:rPr lang="en-US"/>
              <a:t>Grain Protein – </a:t>
            </a:r>
            <a:r>
              <a:rPr lang="en-US">
                <a:solidFill>
                  <a:schemeClr val="bg1"/>
                </a:solidFill>
              </a:rPr>
              <a:t>management</a:t>
            </a:r>
            <a:endParaRPr lang="en-US" sz="2800">
              <a:solidFill>
                <a:schemeClr val="bg1"/>
              </a:solidFill>
            </a:endParaRPr>
          </a:p>
        </p:txBody>
      </p:sp>
      <p:sp>
        <p:nvSpPr>
          <p:cNvPr id="66563" name="Rectangle 3"/>
          <p:cNvSpPr>
            <a:spLocks noGrp="1" noChangeArrowheads="1"/>
          </p:cNvSpPr>
          <p:nvPr>
            <p:ph type="body" idx="1"/>
          </p:nvPr>
        </p:nvSpPr>
        <p:spPr>
          <a:xfrm>
            <a:off x="250825" y="1341438"/>
            <a:ext cx="8642350" cy="5256212"/>
          </a:xfrm>
        </p:spPr>
        <p:txBody>
          <a:bodyPr/>
          <a:lstStyle/>
          <a:p>
            <a:pPr>
              <a:lnSpc>
                <a:spcPct val="90000"/>
              </a:lnSpc>
              <a:spcBef>
                <a:spcPct val="50000"/>
              </a:spcBef>
            </a:pPr>
            <a:r>
              <a:rPr lang="en-AU" dirty="0"/>
              <a:t>Site and rate of N fertiliser are primary determinants of grain protein in barley</a:t>
            </a:r>
          </a:p>
          <a:p>
            <a:pPr>
              <a:lnSpc>
                <a:spcPct val="90000"/>
              </a:lnSpc>
              <a:spcBef>
                <a:spcPct val="50000"/>
              </a:spcBef>
            </a:pPr>
            <a:r>
              <a:rPr lang="en-AU" dirty="0"/>
              <a:t>Impact of variety and split applications of N are secondary</a:t>
            </a:r>
          </a:p>
          <a:p>
            <a:pPr>
              <a:lnSpc>
                <a:spcPct val="90000"/>
              </a:lnSpc>
              <a:spcBef>
                <a:spcPct val="50000"/>
              </a:spcBef>
            </a:pPr>
            <a:r>
              <a:rPr lang="en-AU" dirty="0"/>
              <a:t>Soil test to determine organic carbon</a:t>
            </a:r>
          </a:p>
          <a:p>
            <a:pPr>
              <a:lnSpc>
                <a:spcPct val="90000"/>
              </a:lnSpc>
              <a:spcBef>
                <a:spcPct val="50000"/>
              </a:spcBef>
            </a:pPr>
            <a:r>
              <a:rPr lang="en-AU" dirty="0"/>
              <a:t>Choose a non-legume rotation</a:t>
            </a:r>
          </a:p>
          <a:p>
            <a:pPr>
              <a:lnSpc>
                <a:spcPct val="90000"/>
              </a:lnSpc>
              <a:spcBef>
                <a:spcPct val="50000"/>
              </a:spcBef>
            </a:pPr>
            <a:r>
              <a:rPr lang="en-AU" dirty="0"/>
              <a:t>Use of tools such as Yield Prophet can estimate the N rate needed to reach 10 to 11% protein</a:t>
            </a:r>
            <a:r>
              <a:rPr lang="en-AU" dirty="0">
                <a:solidFill>
                  <a:schemeClr val="accent2"/>
                </a:solidFill>
              </a:rPr>
              <a:t> </a:t>
            </a:r>
            <a:endParaRPr lang="en-US" dirty="0">
              <a:solidFill>
                <a:schemeClr val="accent2"/>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Management</a:t>
            </a:r>
          </a:p>
        </p:txBody>
      </p:sp>
      <p:pic>
        <p:nvPicPr>
          <p:cNvPr id="4" name="Content Placeholder 3"/>
          <p:cNvPicPr>
            <a:picLocks noGrp="1" noChangeAspect="1"/>
          </p:cNvPicPr>
          <p:nvPr>
            <p:ph idx="1"/>
          </p:nvPr>
        </p:nvPicPr>
        <p:blipFill>
          <a:blip r:embed="rId3"/>
          <a:stretch>
            <a:fillRect/>
          </a:stretch>
        </p:blipFill>
        <p:spPr>
          <a:xfrm>
            <a:off x="179388" y="1350858"/>
            <a:ext cx="8785225" cy="5308810"/>
          </a:xfrm>
          <a:prstGeom prst="rect">
            <a:avLst/>
          </a:prstGeom>
        </p:spPr>
      </p:pic>
    </p:spTree>
    <p:extLst>
      <p:ext uri="{BB962C8B-B14F-4D97-AF65-F5344CB8AC3E}">
        <p14:creationId xmlns:p14="http://schemas.microsoft.com/office/powerpoint/2010/main" val="18492778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B664D-83FD-FCA4-6769-A7DA0018DA4A}"/>
              </a:ext>
            </a:extLst>
          </p:cNvPr>
          <p:cNvSpPr>
            <a:spLocks noGrp="1"/>
          </p:cNvSpPr>
          <p:nvPr>
            <p:ph type="title"/>
          </p:nvPr>
        </p:nvSpPr>
        <p:spPr/>
        <p:txBody>
          <a:bodyPr/>
          <a:lstStyle/>
          <a:p>
            <a:r>
              <a:rPr lang="en-AU" dirty="0"/>
              <a:t>To increase grain protein</a:t>
            </a:r>
          </a:p>
        </p:txBody>
      </p:sp>
      <p:sp>
        <p:nvSpPr>
          <p:cNvPr id="3" name="Content Placeholder 2">
            <a:extLst>
              <a:ext uri="{FF2B5EF4-FFF2-40B4-BE49-F238E27FC236}">
                <a16:creationId xmlns:a16="http://schemas.microsoft.com/office/drawing/2014/main" id="{1EC4CB24-48EF-426A-0A12-1987F78B48B4}"/>
              </a:ext>
            </a:extLst>
          </p:cNvPr>
          <p:cNvSpPr>
            <a:spLocks noGrp="1"/>
          </p:cNvSpPr>
          <p:nvPr>
            <p:ph idx="1"/>
          </p:nvPr>
        </p:nvSpPr>
        <p:spPr/>
        <p:txBody>
          <a:bodyPr/>
          <a:lstStyle/>
          <a:p>
            <a:pPr marL="514350" indent="-514350">
              <a:buFont typeface="+mj-lt"/>
              <a:buAutoNum type="arabicPeriod"/>
            </a:pPr>
            <a:r>
              <a:rPr lang="en-AU" dirty="0"/>
              <a:t>Apply higher levels of N</a:t>
            </a:r>
          </a:p>
          <a:p>
            <a:pPr marL="514350" indent="-514350">
              <a:buFont typeface="+mj-lt"/>
              <a:buAutoNum type="arabicPeriod"/>
            </a:pPr>
            <a:r>
              <a:rPr lang="en-AU" dirty="0"/>
              <a:t>Additional N at flag leaf emergence can boost grain protein</a:t>
            </a:r>
          </a:p>
          <a:p>
            <a:endParaRPr lang="en-AU" dirty="0"/>
          </a:p>
        </p:txBody>
      </p:sp>
    </p:spTree>
    <p:extLst>
      <p:ext uri="{BB962C8B-B14F-4D97-AF65-F5344CB8AC3E}">
        <p14:creationId xmlns:p14="http://schemas.microsoft.com/office/powerpoint/2010/main" val="29437166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AU"/>
              <a:t>Screenings – </a:t>
            </a:r>
            <a:r>
              <a:rPr lang="en-AU">
                <a:solidFill>
                  <a:schemeClr val="bg1"/>
                </a:solidFill>
              </a:rPr>
              <a:t>importance</a:t>
            </a:r>
            <a:r>
              <a:rPr lang="en-AU"/>
              <a:t> </a:t>
            </a:r>
          </a:p>
        </p:txBody>
      </p:sp>
      <p:sp>
        <p:nvSpPr>
          <p:cNvPr id="31747" name="Rectangle 3"/>
          <p:cNvSpPr>
            <a:spLocks noGrp="1" noChangeArrowheads="1"/>
          </p:cNvSpPr>
          <p:nvPr>
            <p:ph type="body" idx="1"/>
          </p:nvPr>
        </p:nvSpPr>
        <p:spPr/>
        <p:txBody>
          <a:bodyPr/>
          <a:lstStyle/>
          <a:p>
            <a:r>
              <a:rPr lang="en-AU" dirty="0"/>
              <a:t>Measure of grain plumpness (grain width)</a:t>
            </a:r>
          </a:p>
          <a:p>
            <a:r>
              <a:rPr lang="en-AU" dirty="0"/>
              <a:t>Target - &lt;10% through 2.2mm (Malt 1 7%)</a:t>
            </a:r>
          </a:p>
          <a:p>
            <a:r>
              <a:rPr lang="en-AU" dirty="0"/>
              <a:t>Correlated with grain weight (starch %)</a:t>
            </a:r>
          </a:p>
        </p:txBody>
      </p:sp>
      <p:pic>
        <p:nvPicPr>
          <p:cNvPr id="31748" name="Picture 4"/>
          <p:cNvPicPr>
            <a:picLocks noChangeAspect="1" noChangeArrowheads="1"/>
          </p:cNvPicPr>
          <p:nvPr/>
        </p:nvPicPr>
        <p:blipFill>
          <a:blip r:embed="rId2" cstate="print"/>
          <a:srcRect/>
          <a:stretch>
            <a:fillRect/>
          </a:stretch>
        </p:blipFill>
        <p:spPr bwMode="auto">
          <a:xfrm>
            <a:off x="2209800" y="3048000"/>
            <a:ext cx="5059363" cy="3563938"/>
          </a:xfrm>
          <a:prstGeom prst="rect">
            <a:avLst/>
          </a:prstGeom>
          <a:noFill/>
          <a:ln w="12700">
            <a:noFill/>
            <a:miter lim="800000"/>
            <a:headEnd type="none" w="sm" len="sm"/>
            <a:tailEnd type="none" w="sm" len="sm"/>
          </a:ln>
          <a:effectLst/>
        </p:spPr>
      </p:pic>
      <p:sp>
        <p:nvSpPr>
          <p:cNvPr id="2" name="TextBox 1"/>
          <p:cNvSpPr txBox="1"/>
          <p:nvPr/>
        </p:nvSpPr>
        <p:spPr>
          <a:xfrm>
            <a:off x="228600" y="5589300"/>
            <a:ext cx="2020630" cy="830997"/>
          </a:xfrm>
          <a:prstGeom prst="rect">
            <a:avLst/>
          </a:prstGeom>
          <a:noFill/>
        </p:spPr>
        <p:txBody>
          <a:bodyPr wrap="square" rtlCol="0">
            <a:spAutoFit/>
          </a:bodyPr>
          <a:lstStyle/>
          <a:p>
            <a:r>
              <a:rPr lang="en-AU" dirty="0"/>
              <a:t>5% screenings in wheat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AU"/>
              <a:t>Screenings – </a:t>
            </a:r>
            <a:r>
              <a:rPr lang="en-AU">
                <a:solidFill>
                  <a:schemeClr val="bg1"/>
                </a:solidFill>
              </a:rPr>
              <a:t>importance</a:t>
            </a:r>
            <a:r>
              <a:rPr lang="en-AU"/>
              <a:t> </a:t>
            </a:r>
          </a:p>
        </p:txBody>
      </p:sp>
      <p:sp>
        <p:nvSpPr>
          <p:cNvPr id="32771" name="Rectangle 3"/>
          <p:cNvSpPr>
            <a:spLocks noGrp="1" noChangeArrowheads="1"/>
          </p:cNvSpPr>
          <p:nvPr>
            <p:ph type="body" idx="1"/>
          </p:nvPr>
        </p:nvSpPr>
        <p:spPr>
          <a:xfrm>
            <a:off x="179388" y="1196975"/>
            <a:ext cx="8785225" cy="5327650"/>
          </a:xfrm>
          <a:noFill/>
        </p:spPr>
        <p:txBody>
          <a:bodyPr/>
          <a:lstStyle/>
          <a:p>
            <a:r>
              <a:rPr lang="en-AU"/>
              <a:t>Grain plumpness determines</a:t>
            </a:r>
          </a:p>
          <a:p>
            <a:pPr lvl="1"/>
            <a:r>
              <a:rPr lang="en-AU"/>
              <a:t>amount of grain available to be malted</a:t>
            </a:r>
          </a:p>
          <a:p>
            <a:pPr lvl="1"/>
            <a:r>
              <a:rPr lang="en-AU"/>
              <a:t>time for grains to soak up enough water</a:t>
            </a:r>
          </a:p>
          <a:p>
            <a:pPr lvl="1"/>
            <a:r>
              <a:rPr lang="en-AU"/>
              <a:t>duration of malting process</a:t>
            </a:r>
          </a:p>
        </p:txBody>
      </p:sp>
      <p:grpSp>
        <p:nvGrpSpPr>
          <p:cNvPr id="32772" name="Group 4"/>
          <p:cNvGrpSpPr>
            <a:grpSpLocks/>
          </p:cNvGrpSpPr>
          <p:nvPr/>
        </p:nvGrpSpPr>
        <p:grpSpPr bwMode="auto">
          <a:xfrm>
            <a:off x="2209800" y="3238500"/>
            <a:ext cx="6731000" cy="3563938"/>
            <a:chOff x="1392" y="2004"/>
            <a:chExt cx="4240" cy="2245"/>
          </a:xfrm>
        </p:grpSpPr>
        <p:pic>
          <p:nvPicPr>
            <p:cNvPr id="32773" name="Picture 5"/>
            <p:cNvPicPr>
              <a:picLocks noChangeAspect="1" noChangeArrowheads="1"/>
            </p:cNvPicPr>
            <p:nvPr/>
          </p:nvPicPr>
          <p:blipFill>
            <a:blip r:embed="rId2" cstate="print"/>
            <a:srcRect/>
            <a:stretch>
              <a:fillRect/>
            </a:stretch>
          </p:blipFill>
          <p:spPr bwMode="auto">
            <a:xfrm>
              <a:off x="1392" y="2004"/>
              <a:ext cx="3187" cy="2245"/>
            </a:xfrm>
            <a:prstGeom prst="rect">
              <a:avLst/>
            </a:prstGeom>
            <a:noFill/>
            <a:ln w="12700">
              <a:noFill/>
              <a:miter lim="800000"/>
              <a:headEnd type="none" w="sm" len="sm"/>
              <a:tailEnd type="none" w="sm" len="sm"/>
            </a:ln>
            <a:effectLst/>
          </p:spPr>
        </p:pic>
        <p:sp>
          <p:nvSpPr>
            <p:cNvPr id="32774" name="Text Box 6"/>
            <p:cNvSpPr txBox="1">
              <a:spLocks noChangeArrowheads="1"/>
            </p:cNvSpPr>
            <p:nvPr/>
          </p:nvSpPr>
          <p:spPr bwMode="blackWhite">
            <a:xfrm>
              <a:off x="2736" y="3120"/>
              <a:ext cx="2896" cy="412"/>
            </a:xfrm>
            <a:prstGeom prst="rect">
              <a:avLst/>
            </a:prstGeom>
            <a:solidFill>
              <a:schemeClr val="accent1"/>
            </a:solidFill>
            <a:ln w="12700">
              <a:solidFill>
                <a:srgbClr val="000000"/>
              </a:solidFill>
              <a:miter lim="800000"/>
              <a:headEnd type="none" w="sm" len="sm"/>
              <a:tailEnd type="none" w="sm" len="sm"/>
            </a:ln>
            <a:effectLst/>
          </p:spPr>
          <p:txBody>
            <a:bodyPr wrap="none">
              <a:spAutoFit/>
            </a:bodyPr>
            <a:lstStyle/>
            <a:p>
              <a:pPr algn="ctr"/>
              <a:r>
                <a:rPr lang="en-AU" sz="1800" b="1"/>
                <a:t>Difference between 10% and 20% screenings</a:t>
              </a:r>
            </a:p>
            <a:p>
              <a:pPr algn="ctr"/>
              <a:r>
                <a:rPr lang="en-AU" sz="1800" b="1"/>
                <a:t> is 3% less maltable grain</a:t>
              </a:r>
              <a:endParaRPr lang="en-AU"/>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AU"/>
              <a:t>Screenings – </a:t>
            </a:r>
            <a:r>
              <a:rPr lang="en-AU">
                <a:solidFill>
                  <a:schemeClr val="bg1"/>
                </a:solidFill>
              </a:rPr>
              <a:t>agronomy</a:t>
            </a:r>
            <a:r>
              <a:rPr lang="en-AU"/>
              <a:t> </a:t>
            </a:r>
          </a:p>
        </p:txBody>
      </p:sp>
      <p:sp>
        <p:nvSpPr>
          <p:cNvPr id="33795" name="Rectangle 3"/>
          <p:cNvSpPr>
            <a:spLocks noGrp="1" noChangeArrowheads="1"/>
          </p:cNvSpPr>
          <p:nvPr>
            <p:ph type="body" idx="1"/>
          </p:nvPr>
        </p:nvSpPr>
        <p:spPr/>
        <p:txBody>
          <a:bodyPr/>
          <a:lstStyle/>
          <a:p>
            <a:pPr>
              <a:buFontTx/>
              <a:buNone/>
            </a:pPr>
            <a:r>
              <a:rPr lang="en-AU"/>
              <a:t>Factors affecting screenings include:</a:t>
            </a:r>
          </a:p>
          <a:p>
            <a:r>
              <a:rPr lang="en-AU"/>
              <a:t>Crop rotation</a:t>
            </a:r>
          </a:p>
          <a:p>
            <a:r>
              <a:rPr lang="en-AU"/>
              <a:t>Soil type</a:t>
            </a:r>
          </a:p>
          <a:p>
            <a:r>
              <a:rPr lang="en-AU"/>
              <a:t>Soil fertility</a:t>
            </a:r>
          </a:p>
          <a:p>
            <a:r>
              <a:rPr lang="en-AU"/>
              <a:t>Applied nitrogen</a:t>
            </a:r>
          </a:p>
          <a:p>
            <a:r>
              <a:rPr lang="en-AU"/>
              <a:t>Disease</a:t>
            </a:r>
          </a:p>
          <a:p>
            <a:r>
              <a:rPr lang="en-AU"/>
              <a:t>Variety (grain shape)</a:t>
            </a:r>
          </a:p>
          <a:p>
            <a:r>
              <a:rPr lang="en-AU"/>
              <a:t>Environmental conditions during grain filling</a:t>
            </a:r>
          </a:p>
        </p:txBody>
      </p:sp>
      <p:pic>
        <p:nvPicPr>
          <p:cNvPr id="33796" name="Picture 4" descr="Grain quality - screenings"/>
          <p:cNvPicPr>
            <a:picLocks noChangeAspect="1" noChangeArrowheads="1"/>
          </p:cNvPicPr>
          <p:nvPr/>
        </p:nvPicPr>
        <p:blipFill>
          <a:blip r:embed="rId2" cstate="print"/>
          <a:srcRect/>
          <a:stretch>
            <a:fillRect/>
          </a:stretch>
        </p:blipFill>
        <p:spPr bwMode="auto">
          <a:xfrm>
            <a:off x="4419600" y="1931988"/>
            <a:ext cx="4322763" cy="2884487"/>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title"/>
          </p:nvPr>
        </p:nvSpPr>
        <p:spPr/>
        <p:txBody>
          <a:bodyPr/>
          <a:lstStyle/>
          <a:p>
            <a:r>
              <a:rPr lang="en-AU"/>
              <a:t>Screenings – </a:t>
            </a:r>
            <a:r>
              <a:rPr lang="en-AU">
                <a:solidFill>
                  <a:schemeClr val="bg1"/>
                </a:solidFill>
              </a:rPr>
              <a:t>grain shape</a:t>
            </a:r>
            <a:endParaRPr lang="en-US">
              <a:solidFill>
                <a:schemeClr val="bg1"/>
              </a:solidFill>
            </a:endParaRPr>
          </a:p>
        </p:txBody>
      </p:sp>
      <p:grpSp>
        <p:nvGrpSpPr>
          <p:cNvPr id="49163" name="Group 11"/>
          <p:cNvGrpSpPr>
            <a:grpSpLocks/>
          </p:cNvGrpSpPr>
          <p:nvPr/>
        </p:nvGrpSpPr>
        <p:grpSpPr bwMode="auto">
          <a:xfrm>
            <a:off x="358775" y="1412875"/>
            <a:ext cx="7424738" cy="5291138"/>
            <a:chOff x="521" y="890"/>
            <a:chExt cx="4677" cy="3333"/>
          </a:xfrm>
        </p:grpSpPr>
        <p:pic>
          <p:nvPicPr>
            <p:cNvPr id="49154" name="Picture 2"/>
            <p:cNvPicPr>
              <a:picLocks noChangeAspect="1" noChangeArrowheads="1"/>
            </p:cNvPicPr>
            <p:nvPr/>
          </p:nvPicPr>
          <p:blipFill>
            <a:blip r:embed="rId2" cstate="print"/>
            <a:srcRect/>
            <a:stretch>
              <a:fillRect/>
            </a:stretch>
          </p:blipFill>
          <p:spPr bwMode="auto">
            <a:xfrm>
              <a:off x="521" y="890"/>
              <a:ext cx="4677" cy="3333"/>
            </a:xfrm>
            <a:prstGeom prst="rect">
              <a:avLst/>
            </a:prstGeom>
            <a:noFill/>
            <a:ln>
              <a:noFill/>
            </a:ln>
            <a:effectLst/>
          </p:spPr>
        </p:pic>
        <p:sp>
          <p:nvSpPr>
            <p:cNvPr id="49157" name="Line 5"/>
            <p:cNvSpPr>
              <a:spLocks noChangeShapeType="1"/>
            </p:cNvSpPr>
            <p:nvPr/>
          </p:nvSpPr>
          <p:spPr bwMode="auto">
            <a:xfrm>
              <a:off x="3696" y="2840"/>
              <a:ext cx="0" cy="272"/>
            </a:xfrm>
            <a:prstGeom prst="line">
              <a:avLst/>
            </a:prstGeom>
            <a:noFill/>
            <a:ln w="38100">
              <a:solidFill>
                <a:srgbClr val="FF0000"/>
              </a:solidFill>
              <a:round/>
              <a:headEnd/>
              <a:tailEnd type="triangle" w="med" len="med"/>
            </a:ln>
            <a:effectLst/>
          </p:spPr>
          <p:txBody>
            <a:bodyPr/>
            <a:lstStyle/>
            <a:p>
              <a:endParaRPr lang="en-AU"/>
            </a:p>
          </p:txBody>
        </p:sp>
        <p:sp>
          <p:nvSpPr>
            <p:cNvPr id="49158" name="Line 6"/>
            <p:cNvSpPr>
              <a:spLocks noChangeShapeType="1"/>
            </p:cNvSpPr>
            <p:nvPr/>
          </p:nvSpPr>
          <p:spPr bwMode="auto">
            <a:xfrm flipH="1" flipV="1">
              <a:off x="3107" y="3294"/>
              <a:ext cx="0" cy="226"/>
            </a:xfrm>
            <a:prstGeom prst="line">
              <a:avLst/>
            </a:prstGeom>
            <a:noFill/>
            <a:ln w="38100">
              <a:solidFill>
                <a:srgbClr val="0000FF"/>
              </a:solidFill>
              <a:round/>
              <a:headEnd/>
              <a:tailEnd type="triangle" w="med" len="med"/>
            </a:ln>
            <a:effectLst/>
          </p:spPr>
          <p:txBody>
            <a:bodyPr/>
            <a:lstStyle/>
            <a:p>
              <a:endParaRPr lang="en-AU"/>
            </a:p>
          </p:txBody>
        </p:sp>
        <p:sp>
          <p:nvSpPr>
            <p:cNvPr id="49159" name="Line 7"/>
            <p:cNvSpPr>
              <a:spLocks noChangeShapeType="1"/>
            </p:cNvSpPr>
            <p:nvPr/>
          </p:nvSpPr>
          <p:spPr bwMode="auto">
            <a:xfrm>
              <a:off x="2971" y="2879"/>
              <a:ext cx="0" cy="272"/>
            </a:xfrm>
            <a:prstGeom prst="line">
              <a:avLst/>
            </a:prstGeom>
            <a:noFill/>
            <a:ln w="38100">
              <a:solidFill>
                <a:srgbClr val="FF6600"/>
              </a:solidFill>
              <a:round/>
              <a:headEnd/>
              <a:tailEnd type="triangle" w="med" len="med"/>
            </a:ln>
            <a:effectLst/>
          </p:spPr>
          <p:txBody>
            <a:bodyPr/>
            <a:lstStyle/>
            <a:p>
              <a:endParaRPr lang="en-AU"/>
            </a:p>
          </p:txBody>
        </p:sp>
        <p:sp>
          <p:nvSpPr>
            <p:cNvPr id="49160" name="Line 8"/>
            <p:cNvSpPr>
              <a:spLocks noChangeShapeType="1"/>
            </p:cNvSpPr>
            <p:nvPr/>
          </p:nvSpPr>
          <p:spPr bwMode="auto">
            <a:xfrm flipH="1" flipV="1">
              <a:off x="3424" y="3067"/>
              <a:ext cx="0" cy="226"/>
            </a:xfrm>
            <a:prstGeom prst="line">
              <a:avLst/>
            </a:prstGeom>
            <a:noFill/>
            <a:ln w="38100">
              <a:solidFill>
                <a:schemeClr val="tx1"/>
              </a:solidFill>
              <a:round/>
              <a:headEnd/>
              <a:tailEnd type="triangle" w="med" len="med"/>
            </a:ln>
            <a:effectLst/>
          </p:spPr>
          <p:txBody>
            <a:bodyPr/>
            <a:lstStyle/>
            <a:p>
              <a:endParaRPr lang="en-AU"/>
            </a:p>
          </p:txBody>
        </p:sp>
        <p:sp>
          <p:nvSpPr>
            <p:cNvPr id="49161" name="Line 9"/>
            <p:cNvSpPr>
              <a:spLocks noChangeShapeType="1"/>
            </p:cNvSpPr>
            <p:nvPr/>
          </p:nvSpPr>
          <p:spPr bwMode="auto">
            <a:xfrm flipH="1" flipV="1">
              <a:off x="3560" y="3158"/>
              <a:ext cx="0" cy="226"/>
            </a:xfrm>
            <a:prstGeom prst="line">
              <a:avLst/>
            </a:prstGeom>
            <a:noFill/>
            <a:ln w="38100">
              <a:solidFill>
                <a:srgbClr val="800080"/>
              </a:solidFill>
              <a:round/>
              <a:headEnd/>
              <a:tailEnd type="triangle" w="med" len="med"/>
            </a:ln>
            <a:effectLst/>
          </p:spPr>
          <p:txBody>
            <a:bodyPr/>
            <a:lstStyle/>
            <a:p>
              <a:endParaRPr lang="en-AU"/>
            </a:p>
          </p:txBody>
        </p:sp>
      </p:grpSp>
      <p:sp>
        <p:nvSpPr>
          <p:cNvPr id="49164" name="Text Box 12"/>
          <p:cNvSpPr txBox="1">
            <a:spLocks noChangeArrowheads="1"/>
          </p:cNvSpPr>
          <p:nvPr/>
        </p:nvSpPr>
        <p:spPr bwMode="blackWhite">
          <a:xfrm>
            <a:off x="3995738" y="1447800"/>
            <a:ext cx="4897437" cy="822325"/>
          </a:xfrm>
          <a:prstGeom prst="rect">
            <a:avLst/>
          </a:prstGeom>
          <a:solidFill>
            <a:srgbClr val="FF0000"/>
          </a:solidFill>
          <a:ln w="12700">
            <a:noFill/>
            <a:miter lim="800000"/>
            <a:headEnd type="none" w="sm" len="sm"/>
            <a:tailEnd type="none" w="sm" len="sm"/>
          </a:ln>
          <a:effectLst/>
        </p:spPr>
        <p:txBody>
          <a:bodyPr>
            <a:spAutoFit/>
          </a:bodyPr>
          <a:lstStyle/>
          <a:p>
            <a:pPr algn="ctr"/>
            <a:r>
              <a:rPr lang="en-AU">
                <a:solidFill>
                  <a:schemeClr val="bg1"/>
                </a:solidFill>
                <a:latin typeface="Tahoma" pitchFamily="34" charset="0"/>
              </a:rPr>
              <a:t>Grain shape influences how a variety responds to management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79" name="Picture 31"/>
          <p:cNvPicPr>
            <a:picLocks noGrp="1" noChangeAspect="1" noChangeArrowheads="1"/>
          </p:cNvPicPr>
          <p:nvPr>
            <p:ph sz="quarter" idx="4"/>
          </p:nvPr>
        </p:nvPicPr>
        <p:blipFill>
          <a:blip r:embed="rId2" cstate="print"/>
          <a:srcRect b="2344"/>
          <a:stretch>
            <a:fillRect/>
          </a:stretch>
        </p:blipFill>
        <p:spPr>
          <a:xfrm>
            <a:off x="358775" y="1268413"/>
            <a:ext cx="7985125" cy="5589587"/>
          </a:xfrm>
          <a:noFill/>
          <a:ln/>
        </p:spPr>
      </p:pic>
      <p:sp>
        <p:nvSpPr>
          <p:cNvPr id="53258" name="Rectangle 10"/>
          <p:cNvSpPr>
            <a:spLocks noGrp="1" noChangeArrowheads="1"/>
          </p:cNvSpPr>
          <p:nvPr>
            <p:ph type="title" sz="quarter"/>
          </p:nvPr>
        </p:nvSpPr>
        <p:spPr/>
        <p:txBody>
          <a:bodyPr/>
          <a:lstStyle/>
          <a:p>
            <a:r>
              <a:rPr lang="en-AU"/>
              <a:t>Screenings – </a:t>
            </a:r>
            <a:r>
              <a:rPr lang="en-AU">
                <a:solidFill>
                  <a:schemeClr val="bg1"/>
                </a:solidFill>
              </a:rPr>
              <a:t>rainfall during grain fill</a:t>
            </a:r>
          </a:p>
        </p:txBody>
      </p:sp>
      <p:pic>
        <p:nvPicPr>
          <p:cNvPr id="53268" name="Picture 20" descr="t-tape 7"/>
          <p:cNvPicPr>
            <a:picLocks noGrp="1" noChangeAspect="1" noChangeArrowheads="1"/>
          </p:cNvPicPr>
          <p:nvPr>
            <p:ph sz="quarter" idx="1"/>
          </p:nvPr>
        </p:nvPicPr>
        <p:blipFill>
          <a:blip r:embed="rId3" cstate="print"/>
          <a:srcRect/>
          <a:stretch>
            <a:fillRect/>
          </a:stretch>
        </p:blipFill>
        <p:spPr>
          <a:xfrm>
            <a:off x="4572000" y="4149725"/>
            <a:ext cx="2289175" cy="1525588"/>
          </a:xfrm>
          <a:noFill/>
          <a:ln/>
        </p:spPr>
      </p:pic>
      <p:sp>
        <p:nvSpPr>
          <p:cNvPr id="3" name="Content Placeholder 2">
            <a:extLst>
              <a:ext uri="{FF2B5EF4-FFF2-40B4-BE49-F238E27FC236}">
                <a16:creationId xmlns:a16="http://schemas.microsoft.com/office/drawing/2014/main" id="{5FA9C6B0-B9A9-5A98-620D-D10F5D6BA1E1}"/>
              </a:ext>
            </a:extLst>
          </p:cNvPr>
          <p:cNvSpPr>
            <a:spLocks noGrp="1"/>
          </p:cNvSpPr>
          <p:nvPr>
            <p:ph sz="quarter" idx="2"/>
          </p:nvPr>
        </p:nvSpPr>
        <p:spPr/>
        <p:txBody>
          <a:bodyPr/>
          <a:lstStyle/>
          <a:p>
            <a:endParaRPr lang="en-AU"/>
          </a:p>
        </p:txBody>
      </p:sp>
      <p:pic>
        <p:nvPicPr>
          <p:cNvPr id="5" name="Picture 4">
            <a:extLst>
              <a:ext uri="{FF2B5EF4-FFF2-40B4-BE49-F238E27FC236}">
                <a16:creationId xmlns:a16="http://schemas.microsoft.com/office/drawing/2014/main" id="{E5099815-AF73-6619-1861-C7B52AA75AC8}"/>
              </a:ext>
            </a:extLst>
          </p:cNvPr>
          <p:cNvPicPr>
            <a:picLocks noChangeAspect="1"/>
          </p:cNvPicPr>
          <p:nvPr/>
        </p:nvPicPr>
        <p:blipFill>
          <a:blip r:embed="rId4"/>
          <a:stretch>
            <a:fillRect/>
          </a:stretch>
        </p:blipFill>
        <p:spPr>
          <a:xfrm>
            <a:off x="4568610" y="4094446"/>
            <a:ext cx="3327894" cy="258102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type="title"/>
          </p:nvPr>
        </p:nvSpPr>
        <p:spPr/>
        <p:txBody>
          <a:bodyPr/>
          <a:lstStyle/>
          <a:p>
            <a:r>
              <a:rPr lang="en-AU"/>
              <a:t>Screenings – </a:t>
            </a:r>
            <a:r>
              <a:rPr lang="en-AU">
                <a:solidFill>
                  <a:schemeClr val="bg1"/>
                </a:solidFill>
              </a:rPr>
              <a:t>nitrogen application</a:t>
            </a:r>
            <a:endParaRPr lang="en-US">
              <a:solidFill>
                <a:schemeClr val="bg1"/>
              </a:solidFill>
            </a:endParaRPr>
          </a:p>
        </p:txBody>
      </p:sp>
      <p:sp>
        <p:nvSpPr>
          <p:cNvPr id="63492" name="Text Box 4"/>
          <p:cNvSpPr txBox="1">
            <a:spLocks noChangeArrowheads="1"/>
          </p:cNvSpPr>
          <p:nvPr/>
        </p:nvSpPr>
        <p:spPr bwMode="auto">
          <a:xfrm>
            <a:off x="503238" y="1366838"/>
            <a:ext cx="3435350" cy="366712"/>
          </a:xfrm>
          <a:prstGeom prst="rect">
            <a:avLst/>
          </a:prstGeom>
          <a:noFill/>
          <a:ln w="9525">
            <a:noFill/>
            <a:miter lim="800000"/>
            <a:headEnd/>
            <a:tailEnd/>
          </a:ln>
          <a:effectLst/>
        </p:spPr>
        <p:txBody>
          <a:bodyPr wrap="none">
            <a:spAutoFit/>
          </a:bodyPr>
          <a:lstStyle/>
          <a:p>
            <a:r>
              <a:rPr lang="en-AU" sz="1800" b="1">
                <a:latin typeface="Arial" charset="0"/>
              </a:rPr>
              <a:t>Average rainfall during spring</a:t>
            </a:r>
            <a:endParaRPr lang="en-US" sz="1800" b="1">
              <a:latin typeface="Arial" charset="0"/>
            </a:endParaRPr>
          </a:p>
        </p:txBody>
      </p:sp>
      <p:sp>
        <p:nvSpPr>
          <p:cNvPr id="63494" name="Text Box 6"/>
          <p:cNvSpPr txBox="1">
            <a:spLocks noChangeArrowheads="1"/>
          </p:cNvSpPr>
          <p:nvPr/>
        </p:nvSpPr>
        <p:spPr bwMode="auto">
          <a:xfrm>
            <a:off x="4786313" y="1366838"/>
            <a:ext cx="4133850" cy="366712"/>
          </a:xfrm>
          <a:prstGeom prst="rect">
            <a:avLst/>
          </a:prstGeom>
          <a:noFill/>
          <a:ln w="9525">
            <a:noFill/>
            <a:miter lim="800000"/>
            <a:headEnd/>
            <a:tailEnd/>
          </a:ln>
          <a:effectLst/>
        </p:spPr>
        <p:txBody>
          <a:bodyPr wrap="none">
            <a:spAutoFit/>
          </a:bodyPr>
          <a:lstStyle/>
          <a:p>
            <a:r>
              <a:rPr lang="en-AU" sz="1800" b="1">
                <a:latin typeface="Arial" charset="0"/>
              </a:rPr>
              <a:t>Below average rainfall during spring</a:t>
            </a:r>
            <a:endParaRPr lang="en-US" sz="1800" b="1">
              <a:latin typeface="Arial" charset="0"/>
            </a:endParaRPr>
          </a:p>
        </p:txBody>
      </p:sp>
      <p:pic>
        <p:nvPicPr>
          <p:cNvPr id="63509" name="Picture 21"/>
          <p:cNvPicPr>
            <a:picLocks noGrp="1" noChangeAspect="1" noChangeArrowheads="1"/>
          </p:cNvPicPr>
          <p:nvPr>
            <p:ph sz="half" idx="1"/>
          </p:nvPr>
        </p:nvPicPr>
        <p:blipFill>
          <a:blip r:embed="rId2" cstate="print"/>
          <a:srcRect/>
          <a:stretch>
            <a:fillRect/>
          </a:stretch>
        </p:blipFill>
        <p:spPr>
          <a:xfrm>
            <a:off x="241300" y="1762125"/>
            <a:ext cx="4191000" cy="4486275"/>
          </a:xfrm>
          <a:noFill/>
          <a:ln/>
        </p:spPr>
      </p:pic>
      <p:pic>
        <p:nvPicPr>
          <p:cNvPr id="63510" name="Picture 22"/>
          <p:cNvPicPr>
            <a:picLocks noGrp="1" noChangeAspect="1" noChangeArrowheads="1"/>
          </p:cNvPicPr>
          <p:nvPr>
            <p:ph sz="half" idx="2"/>
          </p:nvPr>
        </p:nvPicPr>
        <p:blipFill>
          <a:blip r:embed="rId3" cstate="print"/>
          <a:srcRect/>
          <a:stretch>
            <a:fillRect/>
          </a:stretch>
        </p:blipFill>
        <p:spPr>
          <a:xfrm>
            <a:off x="4710113" y="1762125"/>
            <a:ext cx="4191000" cy="4486275"/>
          </a:xfrm>
          <a:noFill/>
          <a:ln/>
        </p:spPr>
      </p:pic>
      <p:sp>
        <p:nvSpPr>
          <p:cNvPr id="63499" name="Line 11"/>
          <p:cNvSpPr>
            <a:spLocks noChangeShapeType="1"/>
          </p:cNvSpPr>
          <p:nvPr/>
        </p:nvSpPr>
        <p:spPr bwMode="auto">
          <a:xfrm flipV="1">
            <a:off x="898525" y="3573463"/>
            <a:ext cx="7921625" cy="17462"/>
          </a:xfrm>
          <a:prstGeom prst="line">
            <a:avLst/>
          </a:prstGeom>
          <a:noFill/>
          <a:ln w="28575">
            <a:solidFill>
              <a:schemeClr val="tx1"/>
            </a:solidFill>
            <a:prstDash val="sysDot"/>
            <a:round/>
            <a:headEnd/>
            <a:tailEnd/>
          </a:ln>
          <a:effectLst/>
        </p:spPr>
        <p:txBody>
          <a:bodyPr/>
          <a:lstStyle/>
          <a:p>
            <a:endParaRPr lang="en-AU"/>
          </a:p>
        </p:txBody>
      </p:sp>
      <p:sp>
        <p:nvSpPr>
          <p:cNvPr id="63500" name="Text Box 12"/>
          <p:cNvSpPr txBox="1">
            <a:spLocks noChangeArrowheads="1"/>
          </p:cNvSpPr>
          <p:nvPr/>
        </p:nvSpPr>
        <p:spPr bwMode="auto">
          <a:xfrm>
            <a:off x="8528050" y="3381375"/>
            <a:ext cx="473075" cy="284163"/>
          </a:xfrm>
          <a:prstGeom prst="rect">
            <a:avLst/>
          </a:prstGeom>
          <a:solidFill>
            <a:schemeClr val="bg1"/>
          </a:solidFill>
          <a:ln w="9525">
            <a:solidFill>
              <a:schemeClr val="tx1"/>
            </a:solidFill>
            <a:miter lim="800000"/>
            <a:headEnd/>
            <a:tailEnd/>
          </a:ln>
          <a:effectLst/>
        </p:spPr>
        <p:txBody>
          <a:bodyPr wrap="none">
            <a:spAutoFit/>
          </a:bodyPr>
          <a:lstStyle/>
          <a:p>
            <a:r>
              <a:rPr lang="en-AU" sz="1200"/>
              <a:t>20%</a:t>
            </a:r>
            <a:endParaRPr lang="en-US" sz="12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r>
              <a:rPr lang="en-AU"/>
              <a:t>Screenings – </a:t>
            </a:r>
            <a:r>
              <a:rPr lang="en-AU">
                <a:solidFill>
                  <a:schemeClr val="bg1"/>
                </a:solidFill>
              </a:rPr>
              <a:t>disease</a:t>
            </a:r>
            <a:endParaRPr lang="en-US">
              <a:solidFill>
                <a:schemeClr val="bg1"/>
              </a:solidFill>
            </a:endParaRPr>
          </a:p>
        </p:txBody>
      </p:sp>
      <p:grpSp>
        <p:nvGrpSpPr>
          <p:cNvPr id="64515" name="Group 3"/>
          <p:cNvGrpSpPr>
            <a:grpSpLocks noChangeAspect="1"/>
          </p:cNvGrpSpPr>
          <p:nvPr/>
        </p:nvGrpSpPr>
        <p:grpSpPr bwMode="auto">
          <a:xfrm>
            <a:off x="1330325" y="1773238"/>
            <a:ext cx="6975475" cy="4502150"/>
            <a:chOff x="795" y="1661"/>
            <a:chExt cx="3995" cy="1935"/>
          </a:xfrm>
        </p:grpSpPr>
        <p:sp>
          <p:nvSpPr>
            <p:cNvPr id="64516" name="Rectangle 4"/>
            <p:cNvSpPr>
              <a:spLocks noChangeAspect="1" noChangeArrowheads="1"/>
            </p:cNvSpPr>
            <p:nvPr/>
          </p:nvSpPr>
          <p:spPr bwMode="auto">
            <a:xfrm>
              <a:off x="1494" y="1912"/>
              <a:ext cx="190" cy="1548"/>
            </a:xfrm>
            <a:prstGeom prst="rect">
              <a:avLst/>
            </a:prstGeom>
            <a:solidFill>
              <a:srgbClr val="8080FF"/>
            </a:solidFill>
            <a:ln w="11113">
              <a:solidFill>
                <a:srgbClr val="000000"/>
              </a:solidFill>
              <a:miter lim="800000"/>
              <a:headEnd/>
              <a:tailEnd/>
            </a:ln>
          </p:spPr>
          <p:txBody>
            <a:bodyPr/>
            <a:lstStyle/>
            <a:p>
              <a:endParaRPr lang="en-AU"/>
            </a:p>
          </p:txBody>
        </p:sp>
        <p:sp>
          <p:nvSpPr>
            <p:cNvPr id="64517" name="Rectangle 5"/>
            <p:cNvSpPr>
              <a:spLocks noChangeAspect="1" noChangeArrowheads="1"/>
            </p:cNvSpPr>
            <p:nvPr/>
          </p:nvSpPr>
          <p:spPr bwMode="auto">
            <a:xfrm>
              <a:off x="2145" y="2132"/>
              <a:ext cx="190" cy="1328"/>
            </a:xfrm>
            <a:prstGeom prst="rect">
              <a:avLst/>
            </a:prstGeom>
            <a:solidFill>
              <a:srgbClr val="8080FF"/>
            </a:solidFill>
            <a:ln w="11113">
              <a:solidFill>
                <a:srgbClr val="000000"/>
              </a:solidFill>
              <a:miter lim="800000"/>
              <a:headEnd/>
              <a:tailEnd/>
            </a:ln>
          </p:spPr>
          <p:txBody>
            <a:bodyPr/>
            <a:lstStyle/>
            <a:p>
              <a:endParaRPr lang="en-AU"/>
            </a:p>
          </p:txBody>
        </p:sp>
        <p:sp>
          <p:nvSpPr>
            <p:cNvPr id="64518" name="Rectangle 6"/>
            <p:cNvSpPr>
              <a:spLocks noChangeAspect="1" noChangeArrowheads="1"/>
            </p:cNvSpPr>
            <p:nvPr/>
          </p:nvSpPr>
          <p:spPr bwMode="auto">
            <a:xfrm>
              <a:off x="1653" y="1787"/>
              <a:ext cx="178" cy="1673"/>
            </a:xfrm>
            <a:prstGeom prst="rect">
              <a:avLst/>
            </a:prstGeom>
            <a:solidFill>
              <a:srgbClr val="802060"/>
            </a:solidFill>
            <a:ln w="11113">
              <a:solidFill>
                <a:srgbClr val="000000"/>
              </a:solidFill>
              <a:miter lim="800000"/>
              <a:headEnd/>
              <a:tailEnd/>
            </a:ln>
          </p:spPr>
          <p:txBody>
            <a:bodyPr/>
            <a:lstStyle/>
            <a:p>
              <a:endParaRPr lang="en-AU"/>
            </a:p>
          </p:txBody>
        </p:sp>
        <p:sp>
          <p:nvSpPr>
            <p:cNvPr id="64519" name="Rectangle 7"/>
            <p:cNvSpPr>
              <a:spLocks noChangeAspect="1" noChangeArrowheads="1"/>
            </p:cNvSpPr>
            <p:nvPr/>
          </p:nvSpPr>
          <p:spPr bwMode="auto">
            <a:xfrm>
              <a:off x="2335" y="1921"/>
              <a:ext cx="178" cy="1539"/>
            </a:xfrm>
            <a:prstGeom prst="rect">
              <a:avLst/>
            </a:prstGeom>
            <a:solidFill>
              <a:srgbClr val="802060"/>
            </a:solidFill>
            <a:ln w="11113">
              <a:solidFill>
                <a:srgbClr val="000000"/>
              </a:solidFill>
              <a:miter lim="800000"/>
              <a:headEnd/>
              <a:tailEnd/>
            </a:ln>
          </p:spPr>
          <p:txBody>
            <a:bodyPr/>
            <a:lstStyle/>
            <a:p>
              <a:endParaRPr lang="en-AU"/>
            </a:p>
          </p:txBody>
        </p:sp>
        <p:sp>
          <p:nvSpPr>
            <p:cNvPr id="64520" name="Line 8"/>
            <p:cNvSpPr>
              <a:spLocks noChangeAspect="1" noChangeShapeType="1"/>
            </p:cNvSpPr>
            <p:nvPr/>
          </p:nvSpPr>
          <p:spPr bwMode="auto">
            <a:xfrm flipV="1">
              <a:off x="1587" y="1877"/>
              <a:ext cx="1" cy="39"/>
            </a:xfrm>
            <a:prstGeom prst="line">
              <a:avLst/>
            </a:prstGeom>
            <a:noFill/>
            <a:ln w="11176">
              <a:solidFill>
                <a:srgbClr val="000000"/>
              </a:solidFill>
              <a:round/>
              <a:headEnd/>
              <a:tailEnd/>
            </a:ln>
          </p:spPr>
          <p:txBody>
            <a:bodyPr/>
            <a:lstStyle/>
            <a:p>
              <a:endParaRPr lang="en-AU"/>
            </a:p>
          </p:txBody>
        </p:sp>
        <p:sp>
          <p:nvSpPr>
            <p:cNvPr id="64521" name="Line 9"/>
            <p:cNvSpPr>
              <a:spLocks noChangeAspect="1" noChangeShapeType="1"/>
            </p:cNvSpPr>
            <p:nvPr/>
          </p:nvSpPr>
          <p:spPr bwMode="auto">
            <a:xfrm>
              <a:off x="1548" y="1872"/>
              <a:ext cx="89" cy="1"/>
            </a:xfrm>
            <a:prstGeom prst="line">
              <a:avLst/>
            </a:prstGeom>
            <a:noFill/>
            <a:ln w="11113">
              <a:solidFill>
                <a:srgbClr val="000000"/>
              </a:solidFill>
              <a:round/>
              <a:headEnd/>
              <a:tailEnd/>
            </a:ln>
          </p:spPr>
          <p:txBody>
            <a:bodyPr/>
            <a:lstStyle/>
            <a:p>
              <a:endParaRPr lang="en-AU"/>
            </a:p>
          </p:txBody>
        </p:sp>
        <p:sp>
          <p:nvSpPr>
            <p:cNvPr id="64522" name="Line 10"/>
            <p:cNvSpPr>
              <a:spLocks noChangeAspect="1" noChangeShapeType="1"/>
            </p:cNvSpPr>
            <p:nvPr/>
          </p:nvSpPr>
          <p:spPr bwMode="auto">
            <a:xfrm flipV="1">
              <a:off x="2234" y="2099"/>
              <a:ext cx="2" cy="28"/>
            </a:xfrm>
            <a:prstGeom prst="line">
              <a:avLst/>
            </a:prstGeom>
            <a:noFill/>
            <a:ln w="11113">
              <a:solidFill>
                <a:srgbClr val="000000"/>
              </a:solidFill>
              <a:round/>
              <a:headEnd/>
              <a:tailEnd/>
            </a:ln>
          </p:spPr>
          <p:txBody>
            <a:bodyPr/>
            <a:lstStyle/>
            <a:p>
              <a:endParaRPr lang="en-AU"/>
            </a:p>
          </p:txBody>
        </p:sp>
        <p:sp>
          <p:nvSpPr>
            <p:cNvPr id="64523" name="Line 11"/>
            <p:cNvSpPr>
              <a:spLocks noChangeAspect="1" noChangeShapeType="1"/>
            </p:cNvSpPr>
            <p:nvPr/>
          </p:nvSpPr>
          <p:spPr bwMode="auto">
            <a:xfrm>
              <a:off x="2196" y="2097"/>
              <a:ext cx="89" cy="2"/>
            </a:xfrm>
            <a:prstGeom prst="line">
              <a:avLst/>
            </a:prstGeom>
            <a:noFill/>
            <a:ln w="11113">
              <a:solidFill>
                <a:srgbClr val="000000"/>
              </a:solidFill>
              <a:round/>
              <a:headEnd/>
              <a:tailEnd/>
            </a:ln>
          </p:spPr>
          <p:txBody>
            <a:bodyPr/>
            <a:lstStyle/>
            <a:p>
              <a:endParaRPr lang="en-AU"/>
            </a:p>
          </p:txBody>
        </p:sp>
        <p:sp>
          <p:nvSpPr>
            <p:cNvPr id="64524" name="Line 12"/>
            <p:cNvSpPr>
              <a:spLocks noChangeAspect="1" noChangeShapeType="1"/>
            </p:cNvSpPr>
            <p:nvPr/>
          </p:nvSpPr>
          <p:spPr bwMode="auto">
            <a:xfrm flipV="1">
              <a:off x="1765" y="1744"/>
              <a:ext cx="1" cy="38"/>
            </a:xfrm>
            <a:prstGeom prst="line">
              <a:avLst/>
            </a:prstGeom>
            <a:noFill/>
            <a:ln w="11113">
              <a:solidFill>
                <a:srgbClr val="000000"/>
              </a:solidFill>
              <a:round/>
              <a:headEnd/>
              <a:tailEnd/>
            </a:ln>
          </p:spPr>
          <p:txBody>
            <a:bodyPr/>
            <a:lstStyle/>
            <a:p>
              <a:endParaRPr lang="en-AU"/>
            </a:p>
          </p:txBody>
        </p:sp>
        <p:sp>
          <p:nvSpPr>
            <p:cNvPr id="64525" name="Line 13"/>
            <p:cNvSpPr>
              <a:spLocks noChangeAspect="1" noChangeShapeType="1"/>
            </p:cNvSpPr>
            <p:nvPr/>
          </p:nvSpPr>
          <p:spPr bwMode="auto">
            <a:xfrm>
              <a:off x="1726" y="1735"/>
              <a:ext cx="89" cy="1"/>
            </a:xfrm>
            <a:prstGeom prst="line">
              <a:avLst/>
            </a:prstGeom>
            <a:noFill/>
            <a:ln w="11113">
              <a:solidFill>
                <a:srgbClr val="000000"/>
              </a:solidFill>
              <a:round/>
              <a:headEnd/>
              <a:tailEnd/>
            </a:ln>
          </p:spPr>
          <p:txBody>
            <a:bodyPr/>
            <a:lstStyle/>
            <a:p>
              <a:endParaRPr lang="en-AU"/>
            </a:p>
          </p:txBody>
        </p:sp>
        <p:sp>
          <p:nvSpPr>
            <p:cNvPr id="64526" name="Line 14"/>
            <p:cNvSpPr>
              <a:spLocks noChangeAspect="1" noChangeShapeType="1"/>
            </p:cNvSpPr>
            <p:nvPr/>
          </p:nvSpPr>
          <p:spPr bwMode="auto">
            <a:xfrm flipV="1">
              <a:off x="2424" y="1873"/>
              <a:ext cx="3" cy="45"/>
            </a:xfrm>
            <a:prstGeom prst="line">
              <a:avLst/>
            </a:prstGeom>
            <a:noFill/>
            <a:ln w="11113">
              <a:solidFill>
                <a:srgbClr val="000000"/>
              </a:solidFill>
              <a:round/>
              <a:headEnd/>
              <a:tailEnd/>
            </a:ln>
          </p:spPr>
          <p:txBody>
            <a:bodyPr/>
            <a:lstStyle/>
            <a:p>
              <a:endParaRPr lang="en-AU"/>
            </a:p>
          </p:txBody>
        </p:sp>
        <p:sp>
          <p:nvSpPr>
            <p:cNvPr id="64527" name="Line 15"/>
            <p:cNvSpPr>
              <a:spLocks noChangeAspect="1" noChangeShapeType="1"/>
            </p:cNvSpPr>
            <p:nvPr/>
          </p:nvSpPr>
          <p:spPr bwMode="auto">
            <a:xfrm>
              <a:off x="2386" y="1873"/>
              <a:ext cx="89" cy="1"/>
            </a:xfrm>
            <a:prstGeom prst="line">
              <a:avLst/>
            </a:prstGeom>
            <a:noFill/>
            <a:ln w="11113">
              <a:solidFill>
                <a:srgbClr val="000000"/>
              </a:solidFill>
              <a:round/>
              <a:headEnd/>
              <a:tailEnd/>
            </a:ln>
          </p:spPr>
          <p:txBody>
            <a:bodyPr/>
            <a:lstStyle/>
            <a:p>
              <a:endParaRPr lang="en-AU"/>
            </a:p>
          </p:txBody>
        </p:sp>
        <p:sp>
          <p:nvSpPr>
            <p:cNvPr id="64528" name="Line 16"/>
            <p:cNvSpPr>
              <a:spLocks noChangeAspect="1" noChangeShapeType="1"/>
            </p:cNvSpPr>
            <p:nvPr/>
          </p:nvSpPr>
          <p:spPr bwMode="auto">
            <a:xfrm>
              <a:off x="1358" y="1661"/>
              <a:ext cx="2" cy="1799"/>
            </a:xfrm>
            <a:prstGeom prst="line">
              <a:avLst/>
            </a:prstGeom>
            <a:noFill/>
            <a:ln w="0">
              <a:solidFill>
                <a:srgbClr val="000000"/>
              </a:solidFill>
              <a:round/>
              <a:headEnd/>
              <a:tailEnd/>
            </a:ln>
          </p:spPr>
          <p:txBody>
            <a:bodyPr/>
            <a:lstStyle/>
            <a:p>
              <a:endParaRPr lang="en-AU"/>
            </a:p>
          </p:txBody>
        </p:sp>
        <p:sp>
          <p:nvSpPr>
            <p:cNvPr id="64529" name="Line 17"/>
            <p:cNvSpPr>
              <a:spLocks noChangeAspect="1" noChangeShapeType="1"/>
            </p:cNvSpPr>
            <p:nvPr/>
          </p:nvSpPr>
          <p:spPr bwMode="auto">
            <a:xfrm>
              <a:off x="1307" y="3459"/>
              <a:ext cx="51" cy="1"/>
            </a:xfrm>
            <a:prstGeom prst="line">
              <a:avLst/>
            </a:prstGeom>
            <a:noFill/>
            <a:ln w="0">
              <a:solidFill>
                <a:srgbClr val="000000"/>
              </a:solidFill>
              <a:round/>
              <a:headEnd/>
              <a:tailEnd/>
            </a:ln>
          </p:spPr>
          <p:txBody>
            <a:bodyPr/>
            <a:lstStyle/>
            <a:p>
              <a:endParaRPr lang="en-AU"/>
            </a:p>
          </p:txBody>
        </p:sp>
        <p:sp>
          <p:nvSpPr>
            <p:cNvPr id="64530" name="Line 18"/>
            <p:cNvSpPr>
              <a:spLocks noChangeAspect="1" noChangeShapeType="1"/>
            </p:cNvSpPr>
            <p:nvPr/>
          </p:nvSpPr>
          <p:spPr bwMode="auto">
            <a:xfrm>
              <a:off x="1307" y="3118"/>
              <a:ext cx="51" cy="2"/>
            </a:xfrm>
            <a:prstGeom prst="line">
              <a:avLst/>
            </a:prstGeom>
            <a:noFill/>
            <a:ln w="0">
              <a:solidFill>
                <a:srgbClr val="000000"/>
              </a:solidFill>
              <a:round/>
              <a:headEnd/>
              <a:tailEnd/>
            </a:ln>
          </p:spPr>
          <p:txBody>
            <a:bodyPr/>
            <a:lstStyle/>
            <a:p>
              <a:endParaRPr lang="en-AU"/>
            </a:p>
          </p:txBody>
        </p:sp>
        <p:sp>
          <p:nvSpPr>
            <p:cNvPr id="64531" name="Line 19"/>
            <p:cNvSpPr>
              <a:spLocks noChangeAspect="1" noChangeShapeType="1"/>
            </p:cNvSpPr>
            <p:nvPr/>
          </p:nvSpPr>
          <p:spPr bwMode="auto">
            <a:xfrm>
              <a:off x="1307" y="2791"/>
              <a:ext cx="51" cy="1"/>
            </a:xfrm>
            <a:prstGeom prst="line">
              <a:avLst/>
            </a:prstGeom>
            <a:noFill/>
            <a:ln w="0">
              <a:solidFill>
                <a:srgbClr val="000000"/>
              </a:solidFill>
              <a:round/>
              <a:headEnd/>
              <a:tailEnd/>
            </a:ln>
          </p:spPr>
          <p:txBody>
            <a:bodyPr/>
            <a:lstStyle/>
            <a:p>
              <a:endParaRPr lang="en-AU"/>
            </a:p>
          </p:txBody>
        </p:sp>
        <p:sp>
          <p:nvSpPr>
            <p:cNvPr id="64532" name="Line 20"/>
            <p:cNvSpPr>
              <a:spLocks noChangeAspect="1" noChangeShapeType="1"/>
            </p:cNvSpPr>
            <p:nvPr/>
          </p:nvSpPr>
          <p:spPr bwMode="auto">
            <a:xfrm>
              <a:off x="1307" y="2464"/>
              <a:ext cx="51" cy="1"/>
            </a:xfrm>
            <a:prstGeom prst="line">
              <a:avLst/>
            </a:prstGeom>
            <a:noFill/>
            <a:ln w="0">
              <a:solidFill>
                <a:srgbClr val="000000"/>
              </a:solidFill>
              <a:round/>
              <a:headEnd/>
              <a:tailEnd/>
            </a:ln>
          </p:spPr>
          <p:txBody>
            <a:bodyPr/>
            <a:lstStyle/>
            <a:p>
              <a:endParaRPr lang="en-AU"/>
            </a:p>
          </p:txBody>
        </p:sp>
        <p:sp>
          <p:nvSpPr>
            <p:cNvPr id="64533" name="Line 21"/>
            <p:cNvSpPr>
              <a:spLocks noChangeAspect="1" noChangeShapeType="1"/>
            </p:cNvSpPr>
            <p:nvPr/>
          </p:nvSpPr>
          <p:spPr bwMode="auto">
            <a:xfrm>
              <a:off x="1307" y="2137"/>
              <a:ext cx="51" cy="1"/>
            </a:xfrm>
            <a:prstGeom prst="line">
              <a:avLst/>
            </a:prstGeom>
            <a:noFill/>
            <a:ln w="0">
              <a:solidFill>
                <a:srgbClr val="000000"/>
              </a:solidFill>
              <a:round/>
              <a:headEnd/>
              <a:tailEnd/>
            </a:ln>
          </p:spPr>
          <p:txBody>
            <a:bodyPr/>
            <a:lstStyle/>
            <a:p>
              <a:endParaRPr lang="en-AU"/>
            </a:p>
          </p:txBody>
        </p:sp>
        <p:sp>
          <p:nvSpPr>
            <p:cNvPr id="64534" name="Line 22"/>
            <p:cNvSpPr>
              <a:spLocks noChangeAspect="1" noChangeShapeType="1"/>
            </p:cNvSpPr>
            <p:nvPr/>
          </p:nvSpPr>
          <p:spPr bwMode="auto">
            <a:xfrm>
              <a:off x="1307" y="1811"/>
              <a:ext cx="51" cy="1"/>
            </a:xfrm>
            <a:prstGeom prst="line">
              <a:avLst/>
            </a:prstGeom>
            <a:noFill/>
            <a:ln w="0">
              <a:solidFill>
                <a:srgbClr val="000000"/>
              </a:solidFill>
              <a:round/>
              <a:headEnd/>
              <a:tailEnd/>
            </a:ln>
          </p:spPr>
          <p:txBody>
            <a:bodyPr/>
            <a:lstStyle/>
            <a:p>
              <a:endParaRPr lang="en-AU"/>
            </a:p>
          </p:txBody>
        </p:sp>
        <p:sp>
          <p:nvSpPr>
            <p:cNvPr id="64535" name="Line 23"/>
            <p:cNvSpPr>
              <a:spLocks noChangeAspect="1" noChangeShapeType="1"/>
            </p:cNvSpPr>
            <p:nvPr/>
          </p:nvSpPr>
          <p:spPr bwMode="auto">
            <a:xfrm>
              <a:off x="1358" y="3459"/>
              <a:ext cx="1293" cy="1"/>
            </a:xfrm>
            <a:prstGeom prst="line">
              <a:avLst/>
            </a:prstGeom>
            <a:noFill/>
            <a:ln w="0">
              <a:solidFill>
                <a:srgbClr val="000000"/>
              </a:solidFill>
              <a:round/>
              <a:headEnd/>
              <a:tailEnd/>
            </a:ln>
          </p:spPr>
          <p:txBody>
            <a:bodyPr/>
            <a:lstStyle/>
            <a:p>
              <a:endParaRPr lang="en-AU"/>
            </a:p>
          </p:txBody>
        </p:sp>
        <p:sp>
          <p:nvSpPr>
            <p:cNvPr id="64536" name="Line 24"/>
            <p:cNvSpPr>
              <a:spLocks noChangeAspect="1" noChangeShapeType="1"/>
            </p:cNvSpPr>
            <p:nvPr/>
          </p:nvSpPr>
          <p:spPr bwMode="auto">
            <a:xfrm flipV="1">
              <a:off x="1358" y="3445"/>
              <a:ext cx="2" cy="39"/>
            </a:xfrm>
            <a:prstGeom prst="line">
              <a:avLst/>
            </a:prstGeom>
            <a:noFill/>
            <a:ln w="0">
              <a:solidFill>
                <a:srgbClr val="000000"/>
              </a:solidFill>
              <a:round/>
              <a:headEnd/>
              <a:tailEnd/>
            </a:ln>
          </p:spPr>
          <p:txBody>
            <a:bodyPr/>
            <a:lstStyle/>
            <a:p>
              <a:endParaRPr lang="en-AU"/>
            </a:p>
          </p:txBody>
        </p:sp>
        <p:sp>
          <p:nvSpPr>
            <p:cNvPr id="64537" name="Line 25"/>
            <p:cNvSpPr>
              <a:spLocks noChangeAspect="1" noChangeShapeType="1"/>
            </p:cNvSpPr>
            <p:nvPr/>
          </p:nvSpPr>
          <p:spPr bwMode="auto">
            <a:xfrm flipV="1">
              <a:off x="2005" y="3445"/>
              <a:ext cx="2" cy="39"/>
            </a:xfrm>
            <a:prstGeom prst="line">
              <a:avLst/>
            </a:prstGeom>
            <a:noFill/>
            <a:ln w="0">
              <a:solidFill>
                <a:srgbClr val="000000"/>
              </a:solidFill>
              <a:round/>
              <a:headEnd/>
              <a:tailEnd/>
            </a:ln>
          </p:spPr>
          <p:txBody>
            <a:bodyPr/>
            <a:lstStyle/>
            <a:p>
              <a:endParaRPr lang="en-AU"/>
            </a:p>
          </p:txBody>
        </p:sp>
        <p:sp>
          <p:nvSpPr>
            <p:cNvPr id="64538" name="Line 26"/>
            <p:cNvSpPr>
              <a:spLocks noChangeAspect="1" noChangeShapeType="1"/>
            </p:cNvSpPr>
            <p:nvPr/>
          </p:nvSpPr>
          <p:spPr bwMode="auto">
            <a:xfrm flipV="1">
              <a:off x="2651" y="3445"/>
              <a:ext cx="2" cy="39"/>
            </a:xfrm>
            <a:prstGeom prst="line">
              <a:avLst/>
            </a:prstGeom>
            <a:noFill/>
            <a:ln w="0">
              <a:solidFill>
                <a:srgbClr val="000000"/>
              </a:solidFill>
              <a:round/>
              <a:headEnd/>
              <a:tailEnd/>
            </a:ln>
          </p:spPr>
          <p:txBody>
            <a:bodyPr/>
            <a:lstStyle/>
            <a:p>
              <a:endParaRPr lang="en-AU"/>
            </a:p>
          </p:txBody>
        </p:sp>
        <p:sp>
          <p:nvSpPr>
            <p:cNvPr id="64539" name="Rectangle 27"/>
            <p:cNvSpPr>
              <a:spLocks noChangeAspect="1" noChangeArrowheads="1"/>
            </p:cNvSpPr>
            <p:nvPr/>
          </p:nvSpPr>
          <p:spPr bwMode="auto">
            <a:xfrm>
              <a:off x="1037" y="3368"/>
              <a:ext cx="184" cy="85"/>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0.00</a:t>
              </a:r>
              <a:endParaRPr lang="en-US">
                <a:cs typeface="Arial" charset="0"/>
              </a:endParaRPr>
            </a:p>
          </p:txBody>
        </p:sp>
        <p:sp>
          <p:nvSpPr>
            <p:cNvPr id="64540" name="Rectangle 28"/>
            <p:cNvSpPr>
              <a:spLocks noChangeAspect="1" noChangeArrowheads="1"/>
            </p:cNvSpPr>
            <p:nvPr/>
          </p:nvSpPr>
          <p:spPr bwMode="auto">
            <a:xfrm>
              <a:off x="1037" y="3041"/>
              <a:ext cx="184" cy="86"/>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1.00</a:t>
              </a:r>
              <a:endParaRPr lang="en-US">
                <a:cs typeface="Arial" charset="0"/>
              </a:endParaRPr>
            </a:p>
          </p:txBody>
        </p:sp>
        <p:sp>
          <p:nvSpPr>
            <p:cNvPr id="64541" name="Rectangle 29"/>
            <p:cNvSpPr>
              <a:spLocks noChangeAspect="1" noChangeArrowheads="1"/>
            </p:cNvSpPr>
            <p:nvPr/>
          </p:nvSpPr>
          <p:spPr bwMode="auto">
            <a:xfrm>
              <a:off x="1037" y="2714"/>
              <a:ext cx="184" cy="85"/>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2.00</a:t>
              </a:r>
              <a:endParaRPr lang="en-US">
                <a:cs typeface="Arial" charset="0"/>
              </a:endParaRPr>
            </a:p>
          </p:txBody>
        </p:sp>
        <p:sp>
          <p:nvSpPr>
            <p:cNvPr id="64542" name="Rectangle 30"/>
            <p:cNvSpPr>
              <a:spLocks noChangeAspect="1" noChangeArrowheads="1"/>
            </p:cNvSpPr>
            <p:nvPr/>
          </p:nvSpPr>
          <p:spPr bwMode="auto">
            <a:xfrm>
              <a:off x="1037" y="2387"/>
              <a:ext cx="184" cy="85"/>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3.00</a:t>
              </a:r>
              <a:endParaRPr lang="en-US">
                <a:cs typeface="Arial" charset="0"/>
              </a:endParaRPr>
            </a:p>
          </p:txBody>
        </p:sp>
        <p:sp>
          <p:nvSpPr>
            <p:cNvPr id="64543" name="Rectangle 31"/>
            <p:cNvSpPr>
              <a:spLocks noChangeAspect="1" noChangeArrowheads="1"/>
            </p:cNvSpPr>
            <p:nvPr/>
          </p:nvSpPr>
          <p:spPr bwMode="auto">
            <a:xfrm>
              <a:off x="1037" y="2060"/>
              <a:ext cx="184" cy="85"/>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4.00</a:t>
              </a:r>
              <a:endParaRPr lang="en-US">
                <a:cs typeface="Arial" charset="0"/>
              </a:endParaRPr>
            </a:p>
          </p:txBody>
        </p:sp>
        <p:sp>
          <p:nvSpPr>
            <p:cNvPr id="64544" name="Rectangle 32"/>
            <p:cNvSpPr>
              <a:spLocks noChangeAspect="1" noChangeArrowheads="1"/>
            </p:cNvSpPr>
            <p:nvPr/>
          </p:nvSpPr>
          <p:spPr bwMode="auto">
            <a:xfrm>
              <a:off x="1037" y="1734"/>
              <a:ext cx="184" cy="85"/>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5.00</a:t>
              </a:r>
              <a:endParaRPr lang="en-US">
                <a:cs typeface="Arial" charset="0"/>
              </a:endParaRPr>
            </a:p>
          </p:txBody>
        </p:sp>
        <p:sp>
          <p:nvSpPr>
            <p:cNvPr id="64545" name="Rectangle 33"/>
            <p:cNvSpPr>
              <a:spLocks noChangeAspect="1" noChangeArrowheads="1"/>
            </p:cNvSpPr>
            <p:nvPr/>
          </p:nvSpPr>
          <p:spPr bwMode="auto">
            <a:xfrm>
              <a:off x="1491" y="3505"/>
              <a:ext cx="339" cy="91"/>
            </a:xfrm>
            <a:prstGeom prst="rect">
              <a:avLst/>
            </a:prstGeom>
            <a:noFill/>
            <a:ln w="9525">
              <a:noFill/>
              <a:miter lim="800000"/>
              <a:headEnd/>
              <a:tailEnd/>
            </a:ln>
          </p:spPr>
          <p:txBody>
            <a:bodyPr wrap="none" lIns="0" tIns="0" rIns="0" bIns="0">
              <a:spAutoFit/>
            </a:bodyPr>
            <a:lstStyle/>
            <a:p>
              <a:pPr algn="ctr"/>
              <a:r>
                <a:rPr lang="en-US" sz="1400" b="1">
                  <a:solidFill>
                    <a:srgbClr val="000000"/>
                  </a:solidFill>
                  <a:latin typeface="Arial" charset="0"/>
                  <a:cs typeface="Arial" charset="0"/>
                </a:rPr>
                <a:t>MR/MS</a:t>
              </a:r>
              <a:endParaRPr lang="en-US">
                <a:cs typeface="Arial" charset="0"/>
              </a:endParaRPr>
            </a:p>
          </p:txBody>
        </p:sp>
        <p:sp>
          <p:nvSpPr>
            <p:cNvPr id="64546" name="Rectangle 34"/>
            <p:cNvSpPr>
              <a:spLocks noChangeAspect="1" noChangeArrowheads="1"/>
            </p:cNvSpPr>
            <p:nvPr/>
          </p:nvSpPr>
          <p:spPr bwMode="auto">
            <a:xfrm>
              <a:off x="2293" y="3505"/>
              <a:ext cx="69" cy="91"/>
            </a:xfrm>
            <a:prstGeom prst="rect">
              <a:avLst/>
            </a:prstGeom>
            <a:noFill/>
            <a:ln w="9525">
              <a:noFill/>
              <a:miter lim="800000"/>
              <a:headEnd/>
              <a:tailEnd/>
            </a:ln>
          </p:spPr>
          <p:txBody>
            <a:bodyPr wrap="none" lIns="0" tIns="0" rIns="0" bIns="0">
              <a:spAutoFit/>
            </a:bodyPr>
            <a:lstStyle/>
            <a:p>
              <a:pPr algn="ctr"/>
              <a:r>
                <a:rPr lang="en-US" sz="1400" b="1">
                  <a:solidFill>
                    <a:srgbClr val="000000"/>
                  </a:solidFill>
                  <a:latin typeface="Arial" charset="0"/>
                  <a:cs typeface="Arial" charset="0"/>
                </a:rPr>
                <a:t>S</a:t>
              </a:r>
              <a:endParaRPr lang="en-US">
                <a:cs typeface="Arial" charset="0"/>
              </a:endParaRPr>
            </a:p>
          </p:txBody>
        </p:sp>
        <p:sp>
          <p:nvSpPr>
            <p:cNvPr id="64547" name="Rectangle 35"/>
            <p:cNvSpPr>
              <a:spLocks noChangeAspect="1" noChangeArrowheads="1"/>
            </p:cNvSpPr>
            <p:nvPr/>
          </p:nvSpPr>
          <p:spPr bwMode="auto">
            <a:xfrm rot="16200000">
              <a:off x="580" y="2516"/>
              <a:ext cx="570" cy="140"/>
            </a:xfrm>
            <a:prstGeom prst="rect">
              <a:avLst/>
            </a:prstGeom>
            <a:noFill/>
            <a:ln w="9525">
              <a:noFill/>
              <a:miter lim="800000"/>
              <a:headEnd/>
              <a:tailEnd/>
            </a:ln>
          </p:spPr>
          <p:txBody>
            <a:bodyPr lIns="0" tIns="0" rIns="0" bIns="0">
              <a:spAutoFit/>
            </a:bodyPr>
            <a:lstStyle/>
            <a:p>
              <a:pPr algn="ctr"/>
              <a:r>
                <a:rPr lang="en-US" sz="1600" b="1">
                  <a:solidFill>
                    <a:srgbClr val="000000"/>
                  </a:solidFill>
                  <a:latin typeface="Arial" charset="0"/>
                  <a:cs typeface="Arial" charset="0"/>
                </a:rPr>
                <a:t>Yield (t/ha)</a:t>
              </a:r>
              <a:endParaRPr lang="en-US" sz="1600">
                <a:cs typeface="Arial" charset="0"/>
              </a:endParaRPr>
            </a:p>
          </p:txBody>
        </p:sp>
        <p:grpSp>
          <p:nvGrpSpPr>
            <p:cNvPr id="64548" name="Group 36"/>
            <p:cNvGrpSpPr>
              <a:grpSpLocks noChangeAspect="1"/>
            </p:cNvGrpSpPr>
            <p:nvPr/>
          </p:nvGrpSpPr>
          <p:grpSpPr bwMode="auto">
            <a:xfrm>
              <a:off x="3333" y="1691"/>
              <a:ext cx="1457" cy="1903"/>
              <a:chOff x="2970" y="1207"/>
              <a:chExt cx="1457" cy="1858"/>
            </a:xfrm>
          </p:grpSpPr>
          <p:sp>
            <p:nvSpPr>
              <p:cNvPr id="64549" name="Rectangle 37"/>
              <p:cNvSpPr>
                <a:spLocks noChangeAspect="1" noChangeArrowheads="1"/>
              </p:cNvSpPr>
              <p:nvPr/>
            </p:nvSpPr>
            <p:spPr bwMode="auto">
              <a:xfrm>
                <a:off x="3248" y="1808"/>
                <a:ext cx="192" cy="1121"/>
              </a:xfrm>
              <a:prstGeom prst="rect">
                <a:avLst/>
              </a:prstGeom>
              <a:solidFill>
                <a:srgbClr val="8080FF"/>
              </a:solidFill>
              <a:ln w="11113">
                <a:solidFill>
                  <a:srgbClr val="000000"/>
                </a:solidFill>
                <a:miter lim="800000"/>
                <a:headEnd/>
                <a:tailEnd/>
              </a:ln>
            </p:spPr>
            <p:txBody>
              <a:bodyPr/>
              <a:lstStyle/>
              <a:p>
                <a:endParaRPr lang="en-AU"/>
              </a:p>
            </p:txBody>
          </p:sp>
          <p:sp>
            <p:nvSpPr>
              <p:cNvPr id="64550" name="Rectangle 38"/>
              <p:cNvSpPr>
                <a:spLocks noChangeAspect="1" noChangeArrowheads="1"/>
              </p:cNvSpPr>
              <p:nvPr/>
            </p:nvSpPr>
            <p:spPr bwMode="auto">
              <a:xfrm>
                <a:off x="3910" y="1536"/>
                <a:ext cx="192" cy="1393"/>
              </a:xfrm>
              <a:prstGeom prst="rect">
                <a:avLst/>
              </a:prstGeom>
              <a:solidFill>
                <a:srgbClr val="8080FF"/>
              </a:solidFill>
              <a:ln w="11113">
                <a:solidFill>
                  <a:srgbClr val="000000"/>
                </a:solidFill>
                <a:miter lim="800000"/>
                <a:headEnd/>
                <a:tailEnd/>
              </a:ln>
            </p:spPr>
            <p:txBody>
              <a:bodyPr/>
              <a:lstStyle/>
              <a:p>
                <a:endParaRPr lang="en-AU"/>
              </a:p>
            </p:txBody>
          </p:sp>
          <p:sp>
            <p:nvSpPr>
              <p:cNvPr id="64551" name="Rectangle 39"/>
              <p:cNvSpPr>
                <a:spLocks noChangeAspect="1" noChangeArrowheads="1"/>
              </p:cNvSpPr>
              <p:nvPr/>
            </p:nvSpPr>
            <p:spPr bwMode="auto">
              <a:xfrm>
                <a:off x="3440" y="2179"/>
                <a:ext cx="192" cy="750"/>
              </a:xfrm>
              <a:prstGeom prst="rect">
                <a:avLst/>
              </a:prstGeom>
              <a:solidFill>
                <a:srgbClr val="802060"/>
              </a:solidFill>
              <a:ln w="11113">
                <a:solidFill>
                  <a:srgbClr val="000000"/>
                </a:solidFill>
                <a:miter lim="800000"/>
                <a:headEnd/>
                <a:tailEnd/>
              </a:ln>
            </p:spPr>
            <p:txBody>
              <a:bodyPr/>
              <a:lstStyle/>
              <a:p>
                <a:endParaRPr lang="en-AU"/>
              </a:p>
            </p:txBody>
          </p:sp>
          <p:sp>
            <p:nvSpPr>
              <p:cNvPr id="64552" name="Rectangle 40"/>
              <p:cNvSpPr>
                <a:spLocks noChangeAspect="1" noChangeArrowheads="1"/>
              </p:cNvSpPr>
              <p:nvPr/>
            </p:nvSpPr>
            <p:spPr bwMode="auto">
              <a:xfrm>
                <a:off x="4102" y="2245"/>
                <a:ext cx="185" cy="684"/>
              </a:xfrm>
              <a:prstGeom prst="rect">
                <a:avLst/>
              </a:prstGeom>
              <a:solidFill>
                <a:srgbClr val="802060"/>
              </a:solidFill>
              <a:ln w="11113">
                <a:solidFill>
                  <a:srgbClr val="000000"/>
                </a:solidFill>
                <a:miter lim="800000"/>
                <a:headEnd/>
                <a:tailEnd/>
              </a:ln>
            </p:spPr>
            <p:txBody>
              <a:bodyPr/>
              <a:lstStyle/>
              <a:p>
                <a:endParaRPr lang="en-AU"/>
              </a:p>
            </p:txBody>
          </p:sp>
          <p:sp>
            <p:nvSpPr>
              <p:cNvPr id="64553" name="Line 41"/>
              <p:cNvSpPr>
                <a:spLocks noChangeAspect="1" noChangeShapeType="1"/>
              </p:cNvSpPr>
              <p:nvPr/>
            </p:nvSpPr>
            <p:spPr bwMode="auto">
              <a:xfrm flipV="1">
                <a:off x="3341" y="1668"/>
                <a:ext cx="1" cy="140"/>
              </a:xfrm>
              <a:prstGeom prst="line">
                <a:avLst/>
              </a:prstGeom>
              <a:noFill/>
              <a:ln w="11113">
                <a:solidFill>
                  <a:srgbClr val="000000"/>
                </a:solidFill>
                <a:round/>
                <a:headEnd/>
                <a:tailEnd/>
              </a:ln>
            </p:spPr>
            <p:txBody>
              <a:bodyPr/>
              <a:lstStyle/>
              <a:p>
                <a:endParaRPr lang="en-AU"/>
              </a:p>
            </p:txBody>
          </p:sp>
          <p:sp>
            <p:nvSpPr>
              <p:cNvPr id="64554" name="Line 42"/>
              <p:cNvSpPr>
                <a:spLocks noChangeAspect="1" noChangeShapeType="1"/>
              </p:cNvSpPr>
              <p:nvPr/>
            </p:nvSpPr>
            <p:spPr bwMode="auto">
              <a:xfrm>
                <a:off x="3321" y="1668"/>
                <a:ext cx="46" cy="1"/>
              </a:xfrm>
              <a:prstGeom prst="line">
                <a:avLst/>
              </a:prstGeom>
              <a:noFill/>
              <a:ln w="11113">
                <a:solidFill>
                  <a:srgbClr val="000000"/>
                </a:solidFill>
                <a:round/>
                <a:headEnd/>
                <a:tailEnd/>
              </a:ln>
            </p:spPr>
            <p:txBody>
              <a:bodyPr/>
              <a:lstStyle/>
              <a:p>
                <a:endParaRPr lang="en-AU"/>
              </a:p>
            </p:txBody>
          </p:sp>
          <p:sp>
            <p:nvSpPr>
              <p:cNvPr id="64555" name="Line 43"/>
              <p:cNvSpPr>
                <a:spLocks noChangeAspect="1" noChangeShapeType="1"/>
              </p:cNvSpPr>
              <p:nvPr/>
            </p:nvSpPr>
            <p:spPr bwMode="auto">
              <a:xfrm flipV="1">
                <a:off x="4002" y="1421"/>
                <a:ext cx="1" cy="115"/>
              </a:xfrm>
              <a:prstGeom prst="line">
                <a:avLst/>
              </a:prstGeom>
              <a:noFill/>
              <a:ln w="11113">
                <a:solidFill>
                  <a:srgbClr val="000000"/>
                </a:solidFill>
                <a:round/>
                <a:headEnd/>
                <a:tailEnd/>
              </a:ln>
            </p:spPr>
            <p:txBody>
              <a:bodyPr/>
              <a:lstStyle/>
              <a:p>
                <a:endParaRPr lang="en-AU"/>
              </a:p>
            </p:txBody>
          </p:sp>
          <p:sp>
            <p:nvSpPr>
              <p:cNvPr id="64556" name="Line 44"/>
              <p:cNvSpPr>
                <a:spLocks noChangeAspect="1" noChangeShapeType="1"/>
              </p:cNvSpPr>
              <p:nvPr/>
            </p:nvSpPr>
            <p:spPr bwMode="auto">
              <a:xfrm>
                <a:off x="3983" y="1421"/>
                <a:ext cx="46" cy="1"/>
              </a:xfrm>
              <a:prstGeom prst="line">
                <a:avLst/>
              </a:prstGeom>
              <a:noFill/>
              <a:ln w="11113">
                <a:solidFill>
                  <a:srgbClr val="000000"/>
                </a:solidFill>
                <a:round/>
                <a:headEnd/>
                <a:tailEnd/>
              </a:ln>
            </p:spPr>
            <p:txBody>
              <a:bodyPr/>
              <a:lstStyle/>
              <a:p>
                <a:endParaRPr lang="en-AU"/>
              </a:p>
            </p:txBody>
          </p:sp>
          <p:sp>
            <p:nvSpPr>
              <p:cNvPr id="64557" name="Line 45"/>
              <p:cNvSpPr>
                <a:spLocks noChangeAspect="1" noChangeShapeType="1"/>
              </p:cNvSpPr>
              <p:nvPr/>
            </p:nvSpPr>
            <p:spPr bwMode="auto">
              <a:xfrm flipV="1">
                <a:off x="3533" y="2048"/>
                <a:ext cx="1" cy="131"/>
              </a:xfrm>
              <a:prstGeom prst="line">
                <a:avLst/>
              </a:prstGeom>
              <a:noFill/>
              <a:ln w="11113">
                <a:solidFill>
                  <a:srgbClr val="000000"/>
                </a:solidFill>
                <a:round/>
                <a:headEnd/>
                <a:tailEnd/>
              </a:ln>
            </p:spPr>
            <p:txBody>
              <a:bodyPr/>
              <a:lstStyle/>
              <a:p>
                <a:endParaRPr lang="en-AU"/>
              </a:p>
            </p:txBody>
          </p:sp>
          <p:sp>
            <p:nvSpPr>
              <p:cNvPr id="64558" name="Line 46"/>
              <p:cNvSpPr>
                <a:spLocks noChangeAspect="1" noChangeShapeType="1"/>
              </p:cNvSpPr>
              <p:nvPr/>
            </p:nvSpPr>
            <p:spPr bwMode="auto">
              <a:xfrm>
                <a:off x="3513" y="2048"/>
                <a:ext cx="46" cy="1"/>
              </a:xfrm>
              <a:prstGeom prst="line">
                <a:avLst/>
              </a:prstGeom>
              <a:noFill/>
              <a:ln w="11113">
                <a:solidFill>
                  <a:srgbClr val="000000"/>
                </a:solidFill>
                <a:round/>
                <a:headEnd/>
                <a:tailEnd/>
              </a:ln>
            </p:spPr>
            <p:txBody>
              <a:bodyPr/>
              <a:lstStyle/>
              <a:p>
                <a:endParaRPr lang="en-AU"/>
              </a:p>
            </p:txBody>
          </p:sp>
          <p:sp>
            <p:nvSpPr>
              <p:cNvPr id="64559" name="Line 47"/>
              <p:cNvSpPr>
                <a:spLocks noChangeAspect="1" noChangeShapeType="1"/>
              </p:cNvSpPr>
              <p:nvPr/>
            </p:nvSpPr>
            <p:spPr bwMode="auto">
              <a:xfrm flipV="1">
                <a:off x="4194" y="2155"/>
                <a:ext cx="1" cy="90"/>
              </a:xfrm>
              <a:prstGeom prst="line">
                <a:avLst/>
              </a:prstGeom>
              <a:noFill/>
              <a:ln w="11113">
                <a:solidFill>
                  <a:srgbClr val="000000"/>
                </a:solidFill>
                <a:round/>
                <a:headEnd/>
                <a:tailEnd/>
              </a:ln>
            </p:spPr>
            <p:txBody>
              <a:bodyPr/>
              <a:lstStyle/>
              <a:p>
                <a:endParaRPr lang="en-AU"/>
              </a:p>
            </p:txBody>
          </p:sp>
          <p:sp>
            <p:nvSpPr>
              <p:cNvPr id="64560" name="Line 48"/>
              <p:cNvSpPr>
                <a:spLocks noChangeAspect="1" noChangeShapeType="1"/>
              </p:cNvSpPr>
              <p:nvPr/>
            </p:nvSpPr>
            <p:spPr bwMode="auto">
              <a:xfrm>
                <a:off x="4174" y="2155"/>
                <a:ext cx="47" cy="1"/>
              </a:xfrm>
              <a:prstGeom prst="line">
                <a:avLst/>
              </a:prstGeom>
              <a:noFill/>
              <a:ln w="11113">
                <a:solidFill>
                  <a:srgbClr val="000000"/>
                </a:solidFill>
                <a:round/>
                <a:headEnd/>
                <a:tailEnd/>
              </a:ln>
            </p:spPr>
            <p:txBody>
              <a:bodyPr/>
              <a:lstStyle/>
              <a:p>
                <a:endParaRPr lang="en-AU"/>
              </a:p>
            </p:txBody>
          </p:sp>
          <p:sp>
            <p:nvSpPr>
              <p:cNvPr id="64561" name="Line 49"/>
              <p:cNvSpPr>
                <a:spLocks noChangeAspect="1" noChangeShapeType="1"/>
              </p:cNvSpPr>
              <p:nvPr/>
            </p:nvSpPr>
            <p:spPr bwMode="auto">
              <a:xfrm>
                <a:off x="3109" y="1273"/>
                <a:ext cx="1" cy="1656"/>
              </a:xfrm>
              <a:prstGeom prst="line">
                <a:avLst/>
              </a:prstGeom>
              <a:noFill/>
              <a:ln w="0">
                <a:solidFill>
                  <a:srgbClr val="000000"/>
                </a:solidFill>
                <a:round/>
                <a:headEnd/>
                <a:tailEnd/>
              </a:ln>
            </p:spPr>
            <p:txBody>
              <a:bodyPr/>
              <a:lstStyle/>
              <a:p>
                <a:endParaRPr lang="en-AU"/>
              </a:p>
            </p:txBody>
          </p:sp>
          <p:sp>
            <p:nvSpPr>
              <p:cNvPr id="64562" name="Line 50"/>
              <p:cNvSpPr>
                <a:spLocks noChangeAspect="1" noChangeShapeType="1"/>
              </p:cNvSpPr>
              <p:nvPr/>
            </p:nvSpPr>
            <p:spPr bwMode="auto">
              <a:xfrm>
                <a:off x="3083" y="2929"/>
                <a:ext cx="26" cy="1"/>
              </a:xfrm>
              <a:prstGeom prst="line">
                <a:avLst/>
              </a:prstGeom>
              <a:noFill/>
              <a:ln w="0">
                <a:solidFill>
                  <a:srgbClr val="000000"/>
                </a:solidFill>
                <a:round/>
                <a:headEnd/>
                <a:tailEnd/>
              </a:ln>
            </p:spPr>
            <p:txBody>
              <a:bodyPr/>
              <a:lstStyle/>
              <a:p>
                <a:endParaRPr lang="en-AU"/>
              </a:p>
            </p:txBody>
          </p:sp>
          <p:sp>
            <p:nvSpPr>
              <p:cNvPr id="64563" name="Line 51"/>
              <p:cNvSpPr>
                <a:spLocks noChangeAspect="1" noChangeShapeType="1"/>
              </p:cNvSpPr>
              <p:nvPr/>
            </p:nvSpPr>
            <p:spPr bwMode="auto">
              <a:xfrm>
                <a:off x="3083" y="2765"/>
                <a:ext cx="26" cy="1"/>
              </a:xfrm>
              <a:prstGeom prst="line">
                <a:avLst/>
              </a:prstGeom>
              <a:noFill/>
              <a:ln w="0">
                <a:solidFill>
                  <a:srgbClr val="000000"/>
                </a:solidFill>
                <a:round/>
                <a:headEnd/>
                <a:tailEnd/>
              </a:ln>
            </p:spPr>
            <p:txBody>
              <a:bodyPr/>
              <a:lstStyle/>
              <a:p>
                <a:endParaRPr lang="en-AU"/>
              </a:p>
            </p:txBody>
          </p:sp>
          <p:sp>
            <p:nvSpPr>
              <p:cNvPr id="64564" name="Line 52"/>
              <p:cNvSpPr>
                <a:spLocks noChangeAspect="1" noChangeShapeType="1"/>
              </p:cNvSpPr>
              <p:nvPr/>
            </p:nvSpPr>
            <p:spPr bwMode="auto">
              <a:xfrm>
                <a:off x="3083" y="2600"/>
                <a:ext cx="26" cy="1"/>
              </a:xfrm>
              <a:prstGeom prst="line">
                <a:avLst/>
              </a:prstGeom>
              <a:noFill/>
              <a:ln w="0">
                <a:solidFill>
                  <a:srgbClr val="000000"/>
                </a:solidFill>
                <a:round/>
                <a:headEnd/>
                <a:tailEnd/>
              </a:ln>
            </p:spPr>
            <p:txBody>
              <a:bodyPr/>
              <a:lstStyle/>
              <a:p>
                <a:endParaRPr lang="en-AU"/>
              </a:p>
            </p:txBody>
          </p:sp>
          <p:sp>
            <p:nvSpPr>
              <p:cNvPr id="64565" name="Line 53"/>
              <p:cNvSpPr>
                <a:spLocks noChangeAspect="1" noChangeShapeType="1"/>
              </p:cNvSpPr>
              <p:nvPr/>
            </p:nvSpPr>
            <p:spPr bwMode="auto">
              <a:xfrm>
                <a:off x="3083" y="2435"/>
                <a:ext cx="26" cy="1"/>
              </a:xfrm>
              <a:prstGeom prst="line">
                <a:avLst/>
              </a:prstGeom>
              <a:noFill/>
              <a:ln w="0">
                <a:solidFill>
                  <a:srgbClr val="000000"/>
                </a:solidFill>
                <a:round/>
                <a:headEnd/>
                <a:tailEnd/>
              </a:ln>
            </p:spPr>
            <p:txBody>
              <a:bodyPr/>
              <a:lstStyle/>
              <a:p>
                <a:endParaRPr lang="en-AU"/>
              </a:p>
            </p:txBody>
          </p:sp>
          <p:sp>
            <p:nvSpPr>
              <p:cNvPr id="64566" name="Line 54"/>
              <p:cNvSpPr>
                <a:spLocks noChangeAspect="1" noChangeShapeType="1"/>
              </p:cNvSpPr>
              <p:nvPr/>
            </p:nvSpPr>
            <p:spPr bwMode="auto">
              <a:xfrm>
                <a:off x="3083" y="2270"/>
                <a:ext cx="26" cy="1"/>
              </a:xfrm>
              <a:prstGeom prst="line">
                <a:avLst/>
              </a:prstGeom>
              <a:noFill/>
              <a:ln w="0">
                <a:solidFill>
                  <a:srgbClr val="000000"/>
                </a:solidFill>
                <a:round/>
                <a:headEnd/>
                <a:tailEnd/>
              </a:ln>
            </p:spPr>
            <p:txBody>
              <a:bodyPr/>
              <a:lstStyle/>
              <a:p>
                <a:endParaRPr lang="en-AU"/>
              </a:p>
            </p:txBody>
          </p:sp>
          <p:sp>
            <p:nvSpPr>
              <p:cNvPr id="64567" name="Line 55"/>
              <p:cNvSpPr>
                <a:spLocks noChangeAspect="1" noChangeShapeType="1"/>
              </p:cNvSpPr>
              <p:nvPr/>
            </p:nvSpPr>
            <p:spPr bwMode="auto">
              <a:xfrm>
                <a:off x="3083" y="2105"/>
                <a:ext cx="26" cy="1"/>
              </a:xfrm>
              <a:prstGeom prst="line">
                <a:avLst/>
              </a:prstGeom>
              <a:noFill/>
              <a:ln w="0">
                <a:solidFill>
                  <a:srgbClr val="000000"/>
                </a:solidFill>
                <a:round/>
                <a:headEnd/>
                <a:tailEnd/>
              </a:ln>
            </p:spPr>
            <p:txBody>
              <a:bodyPr/>
              <a:lstStyle/>
              <a:p>
                <a:endParaRPr lang="en-AU"/>
              </a:p>
            </p:txBody>
          </p:sp>
          <p:sp>
            <p:nvSpPr>
              <p:cNvPr id="64568" name="Line 56"/>
              <p:cNvSpPr>
                <a:spLocks noChangeAspect="1" noChangeShapeType="1"/>
              </p:cNvSpPr>
              <p:nvPr/>
            </p:nvSpPr>
            <p:spPr bwMode="auto">
              <a:xfrm>
                <a:off x="3083" y="1932"/>
                <a:ext cx="26" cy="1"/>
              </a:xfrm>
              <a:prstGeom prst="line">
                <a:avLst/>
              </a:prstGeom>
              <a:noFill/>
              <a:ln w="0">
                <a:solidFill>
                  <a:srgbClr val="000000"/>
                </a:solidFill>
                <a:round/>
                <a:headEnd/>
                <a:tailEnd/>
              </a:ln>
            </p:spPr>
            <p:txBody>
              <a:bodyPr/>
              <a:lstStyle/>
              <a:p>
                <a:endParaRPr lang="en-AU"/>
              </a:p>
            </p:txBody>
          </p:sp>
          <p:sp>
            <p:nvSpPr>
              <p:cNvPr id="64569" name="Line 57"/>
              <p:cNvSpPr>
                <a:spLocks noChangeAspect="1" noChangeShapeType="1"/>
              </p:cNvSpPr>
              <p:nvPr/>
            </p:nvSpPr>
            <p:spPr bwMode="auto">
              <a:xfrm>
                <a:off x="3083" y="1767"/>
                <a:ext cx="26" cy="1"/>
              </a:xfrm>
              <a:prstGeom prst="line">
                <a:avLst/>
              </a:prstGeom>
              <a:noFill/>
              <a:ln w="0">
                <a:solidFill>
                  <a:srgbClr val="000000"/>
                </a:solidFill>
                <a:round/>
                <a:headEnd/>
                <a:tailEnd/>
              </a:ln>
            </p:spPr>
            <p:txBody>
              <a:bodyPr/>
              <a:lstStyle/>
              <a:p>
                <a:endParaRPr lang="en-AU"/>
              </a:p>
            </p:txBody>
          </p:sp>
          <p:sp>
            <p:nvSpPr>
              <p:cNvPr id="64570" name="Line 58"/>
              <p:cNvSpPr>
                <a:spLocks noChangeAspect="1" noChangeShapeType="1"/>
              </p:cNvSpPr>
              <p:nvPr/>
            </p:nvSpPr>
            <p:spPr bwMode="auto">
              <a:xfrm>
                <a:off x="3083" y="1602"/>
                <a:ext cx="26" cy="1"/>
              </a:xfrm>
              <a:prstGeom prst="line">
                <a:avLst/>
              </a:prstGeom>
              <a:noFill/>
              <a:ln w="0">
                <a:solidFill>
                  <a:srgbClr val="000000"/>
                </a:solidFill>
                <a:round/>
                <a:headEnd/>
                <a:tailEnd/>
              </a:ln>
            </p:spPr>
            <p:txBody>
              <a:bodyPr/>
              <a:lstStyle/>
              <a:p>
                <a:endParaRPr lang="en-AU"/>
              </a:p>
            </p:txBody>
          </p:sp>
          <p:sp>
            <p:nvSpPr>
              <p:cNvPr id="64571" name="Line 59"/>
              <p:cNvSpPr>
                <a:spLocks noChangeAspect="1" noChangeShapeType="1"/>
              </p:cNvSpPr>
              <p:nvPr/>
            </p:nvSpPr>
            <p:spPr bwMode="auto">
              <a:xfrm>
                <a:off x="3083" y="1438"/>
                <a:ext cx="26" cy="1"/>
              </a:xfrm>
              <a:prstGeom prst="line">
                <a:avLst/>
              </a:prstGeom>
              <a:noFill/>
              <a:ln w="0">
                <a:solidFill>
                  <a:srgbClr val="000000"/>
                </a:solidFill>
                <a:round/>
                <a:headEnd/>
                <a:tailEnd/>
              </a:ln>
            </p:spPr>
            <p:txBody>
              <a:bodyPr/>
              <a:lstStyle/>
              <a:p>
                <a:endParaRPr lang="en-AU"/>
              </a:p>
            </p:txBody>
          </p:sp>
          <p:sp>
            <p:nvSpPr>
              <p:cNvPr id="64572" name="Line 60"/>
              <p:cNvSpPr>
                <a:spLocks noChangeAspect="1" noChangeShapeType="1"/>
              </p:cNvSpPr>
              <p:nvPr/>
            </p:nvSpPr>
            <p:spPr bwMode="auto">
              <a:xfrm>
                <a:off x="3083" y="1273"/>
                <a:ext cx="26" cy="1"/>
              </a:xfrm>
              <a:prstGeom prst="line">
                <a:avLst/>
              </a:prstGeom>
              <a:noFill/>
              <a:ln w="0">
                <a:solidFill>
                  <a:srgbClr val="000000"/>
                </a:solidFill>
                <a:round/>
                <a:headEnd/>
                <a:tailEnd/>
              </a:ln>
            </p:spPr>
            <p:txBody>
              <a:bodyPr/>
              <a:lstStyle/>
              <a:p>
                <a:endParaRPr lang="en-AU"/>
              </a:p>
            </p:txBody>
          </p:sp>
          <p:sp>
            <p:nvSpPr>
              <p:cNvPr id="64573" name="Line 61"/>
              <p:cNvSpPr>
                <a:spLocks noChangeAspect="1" noChangeShapeType="1"/>
              </p:cNvSpPr>
              <p:nvPr/>
            </p:nvSpPr>
            <p:spPr bwMode="auto">
              <a:xfrm>
                <a:off x="3109" y="2929"/>
                <a:ext cx="1317" cy="1"/>
              </a:xfrm>
              <a:prstGeom prst="line">
                <a:avLst/>
              </a:prstGeom>
              <a:noFill/>
              <a:ln w="0">
                <a:solidFill>
                  <a:srgbClr val="000000"/>
                </a:solidFill>
                <a:round/>
                <a:headEnd/>
                <a:tailEnd/>
              </a:ln>
            </p:spPr>
            <p:txBody>
              <a:bodyPr/>
              <a:lstStyle/>
              <a:p>
                <a:endParaRPr lang="en-AU"/>
              </a:p>
            </p:txBody>
          </p:sp>
          <p:sp>
            <p:nvSpPr>
              <p:cNvPr id="64574" name="Line 62"/>
              <p:cNvSpPr>
                <a:spLocks noChangeAspect="1" noChangeShapeType="1"/>
              </p:cNvSpPr>
              <p:nvPr/>
            </p:nvSpPr>
            <p:spPr bwMode="auto">
              <a:xfrm flipV="1">
                <a:off x="3109" y="2929"/>
                <a:ext cx="1" cy="33"/>
              </a:xfrm>
              <a:prstGeom prst="line">
                <a:avLst/>
              </a:prstGeom>
              <a:noFill/>
              <a:ln w="0">
                <a:solidFill>
                  <a:srgbClr val="000000"/>
                </a:solidFill>
                <a:round/>
                <a:headEnd/>
                <a:tailEnd/>
              </a:ln>
            </p:spPr>
            <p:txBody>
              <a:bodyPr/>
              <a:lstStyle/>
              <a:p>
                <a:endParaRPr lang="en-AU"/>
              </a:p>
            </p:txBody>
          </p:sp>
          <p:sp>
            <p:nvSpPr>
              <p:cNvPr id="64575" name="Line 63"/>
              <p:cNvSpPr>
                <a:spLocks noChangeAspect="1" noChangeShapeType="1"/>
              </p:cNvSpPr>
              <p:nvPr/>
            </p:nvSpPr>
            <p:spPr bwMode="auto">
              <a:xfrm flipV="1">
                <a:off x="3771" y="2929"/>
                <a:ext cx="1" cy="33"/>
              </a:xfrm>
              <a:prstGeom prst="line">
                <a:avLst/>
              </a:prstGeom>
              <a:noFill/>
              <a:ln w="0">
                <a:solidFill>
                  <a:srgbClr val="000000"/>
                </a:solidFill>
                <a:round/>
                <a:headEnd/>
                <a:tailEnd/>
              </a:ln>
            </p:spPr>
            <p:txBody>
              <a:bodyPr/>
              <a:lstStyle/>
              <a:p>
                <a:endParaRPr lang="en-AU"/>
              </a:p>
            </p:txBody>
          </p:sp>
          <p:sp>
            <p:nvSpPr>
              <p:cNvPr id="64576" name="Line 64"/>
              <p:cNvSpPr>
                <a:spLocks noChangeAspect="1" noChangeShapeType="1"/>
              </p:cNvSpPr>
              <p:nvPr/>
            </p:nvSpPr>
            <p:spPr bwMode="auto">
              <a:xfrm flipV="1">
                <a:off x="4426" y="2929"/>
                <a:ext cx="1" cy="33"/>
              </a:xfrm>
              <a:prstGeom prst="line">
                <a:avLst/>
              </a:prstGeom>
              <a:noFill/>
              <a:ln w="0">
                <a:solidFill>
                  <a:srgbClr val="000000"/>
                </a:solidFill>
                <a:round/>
                <a:headEnd/>
                <a:tailEnd/>
              </a:ln>
            </p:spPr>
            <p:txBody>
              <a:bodyPr/>
              <a:lstStyle/>
              <a:p>
                <a:endParaRPr lang="en-AU"/>
              </a:p>
            </p:txBody>
          </p:sp>
          <p:sp>
            <p:nvSpPr>
              <p:cNvPr id="64577" name="Rectangle 65"/>
              <p:cNvSpPr>
                <a:spLocks noChangeAspect="1" noChangeArrowheads="1"/>
              </p:cNvSpPr>
              <p:nvPr/>
            </p:nvSpPr>
            <p:spPr bwMode="auto">
              <a:xfrm>
                <a:off x="3016" y="2864"/>
                <a:ext cx="53" cy="83"/>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0</a:t>
                </a:r>
                <a:endParaRPr lang="en-US">
                  <a:cs typeface="Arial" charset="0"/>
                </a:endParaRPr>
              </a:p>
            </p:txBody>
          </p:sp>
          <p:sp>
            <p:nvSpPr>
              <p:cNvPr id="64578" name="Rectangle 66"/>
              <p:cNvSpPr>
                <a:spLocks noChangeAspect="1" noChangeArrowheads="1"/>
              </p:cNvSpPr>
              <p:nvPr/>
            </p:nvSpPr>
            <p:spPr bwMode="auto">
              <a:xfrm>
                <a:off x="2970" y="2534"/>
                <a:ext cx="106" cy="83"/>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10</a:t>
                </a:r>
                <a:endParaRPr lang="en-US">
                  <a:cs typeface="Arial" charset="0"/>
                </a:endParaRPr>
              </a:p>
            </p:txBody>
          </p:sp>
          <p:sp>
            <p:nvSpPr>
              <p:cNvPr id="64579" name="Rectangle 67"/>
              <p:cNvSpPr>
                <a:spLocks noChangeAspect="1" noChangeArrowheads="1"/>
              </p:cNvSpPr>
              <p:nvPr/>
            </p:nvSpPr>
            <p:spPr bwMode="auto">
              <a:xfrm>
                <a:off x="2970" y="2204"/>
                <a:ext cx="106" cy="84"/>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20</a:t>
                </a:r>
                <a:endParaRPr lang="en-US">
                  <a:cs typeface="Arial" charset="0"/>
                </a:endParaRPr>
              </a:p>
            </p:txBody>
          </p:sp>
          <p:sp>
            <p:nvSpPr>
              <p:cNvPr id="64580" name="Rectangle 68"/>
              <p:cNvSpPr>
                <a:spLocks noChangeAspect="1" noChangeArrowheads="1"/>
              </p:cNvSpPr>
              <p:nvPr/>
            </p:nvSpPr>
            <p:spPr bwMode="auto">
              <a:xfrm>
                <a:off x="2970" y="1866"/>
                <a:ext cx="106" cy="83"/>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30</a:t>
                </a:r>
                <a:endParaRPr lang="en-US">
                  <a:cs typeface="Arial" charset="0"/>
                </a:endParaRPr>
              </a:p>
            </p:txBody>
          </p:sp>
          <p:sp>
            <p:nvSpPr>
              <p:cNvPr id="64581" name="Rectangle 69"/>
              <p:cNvSpPr>
                <a:spLocks noChangeAspect="1" noChangeArrowheads="1"/>
              </p:cNvSpPr>
              <p:nvPr/>
            </p:nvSpPr>
            <p:spPr bwMode="auto">
              <a:xfrm>
                <a:off x="2970" y="1536"/>
                <a:ext cx="106" cy="83"/>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40</a:t>
                </a:r>
                <a:endParaRPr lang="en-US">
                  <a:cs typeface="Arial" charset="0"/>
                </a:endParaRPr>
              </a:p>
            </p:txBody>
          </p:sp>
          <p:sp>
            <p:nvSpPr>
              <p:cNvPr id="64582" name="Rectangle 70"/>
              <p:cNvSpPr>
                <a:spLocks noChangeAspect="1" noChangeArrowheads="1"/>
              </p:cNvSpPr>
              <p:nvPr/>
            </p:nvSpPr>
            <p:spPr bwMode="auto">
              <a:xfrm>
                <a:off x="2970" y="1207"/>
                <a:ext cx="106" cy="83"/>
              </a:xfrm>
              <a:prstGeom prst="rect">
                <a:avLst/>
              </a:prstGeom>
              <a:noFill/>
              <a:ln w="9525">
                <a:noFill/>
                <a:miter lim="800000"/>
                <a:headEnd/>
                <a:tailEnd/>
              </a:ln>
            </p:spPr>
            <p:txBody>
              <a:bodyPr wrap="none" lIns="0" tIns="0" rIns="0" bIns="0">
                <a:spAutoFit/>
              </a:bodyPr>
              <a:lstStyle/>
              <a:p>
                <a:pPr algn="ctr"/>
                <a:r>
                  <a:rPr lang="en-US" sz="1300">
                    <a:solidFill>
                      <a:srgbClr val="000000"/>
                    </a:solidFill>
                    <a:latin typeface="Arial" charset="0"/>
                    <a:cs typeface="Arial" charset="0"/>
                  </a:rPr>
                  <a:t>50</a:t>
                </a:r>
                <a:endParaRPr lang="en-US">
                  <a:cs typeface="Arial" charset="0"/>
                </a:endParaRPr>
              </a:p>
            </p:txBody>
          </p:sp>
          <p:sp>
            <p:nvSpPr>
              <p:cNvPr id="64583" name="Rectangle 71"/>
              <p:cNvSpPr>
                <a:spLocks noChangeAspect="1" noChangeArrowheads="1"/>
              </p:cNvSpPr>
              <p:nvPr/>
            </p:nvSpPr>
            <p:spPr bwMode="auto">
              <a:xfrm>
                <a:off x="3293" y="2976"/>
                <a:ext cx="339" cy="89"/>
              </a:xfrm>
              <a:prstGeom prst="rect">
                <a:avLst/>
              </a:prstGeom>
              <a:noFill/>
              <a:ln w="9525">
                <a:noFill/>
                <a:miter lim="800000"/>
                <a:headEnd/>
                <a:tailEnd/>
              </a:ln>
            </p:spPr>
            <p:txBody>
              <a:bodyPr wrap="none" lIns="0" tIns="0" rIns="0" bIns="0">
                <a:spAutoFit/>
              </a:bodyPr>
              <a:lstStyle/>
              <a:p>
                <a:pPr algn="ctr"/>
                <a:r>
                  <a:rPr lang="en-US" sz="1400" b="1">
                    <a:solidFill>
                      <a:srgbClr val="000000"/>
                    </a:solidFill>
                    <a:latin typeface="Arial" charset="0"/>
                    <a:cs typeface="Arial" charset="0"/>
                  </a:rPr>
                  <a:t>MR/MS</a:t>
                </a:r>
                <a:endParaRPr lang="en-US">
                  <a:cs typeface="Arial" charset="0"/>
                </a:endParaRPr>
              </a:p>
            </p:txBody>
          </p:sp>
          <p:sp>
            <p:nvSpPr>
              <p:cNvPr id="64584" name="Rectangle 72"/>
              <p:cNvSpPr>
                <a:spLocks noChangeAspect="1" noChangeArrowheads="1"/>
              </p:cNvSpPr>
              <p:nvPr/>
            </p:nvSpPr>
            <p:spPr bwMode="auto">
              <a:xfrm>
                <a:off x="4084" y="2976"/>
                <a:ext cx="68" cy="89"/>
              </a:xfrm>
              <a:prstGeom prst="rect">
                <a:avLst/>
              </a:prstGeom>
              <a:noFill/>
              <a:ln w="9525">
                <a:noFill/>
                <a:miter lim="800000"/>
                <a:headEnd/>
                <a:tailEnd/>
              </a:ln>
            </p:spPr>
            <p:txBody>
              <a:bodyPr wrap="none" lIns="0" tIns="0" rIns="0" bIns="0">
                <a:spAutoFit/>
              </a:bodyPr>
              <a:lstStyle/>
              <a:p>
                <a:pPr algn="ctr"/>
                <a:r>
                  <a:rPr lang="en-US" sz="1400" b="1">
                    <a:solidFill>
                      <a:srgbClr val="000000"/>
                    </a:solidFill>
                    <a:latin typeface="Arial" charset="0"/>
                    <a:cs typeface="Arial" charset="0"/>
                  </a:rPr>
                  <a:t>S</a:t>
                </a:r>
                <a:endParaRPr lang="en-US">
                  <a:cs typeface="Arial" charset="0"/>
                </a:endParaRPr>
              </a:p>
            </p:txBody>
          </p:sp>
        </p:grpSp>
        <p:sp>
          <p:nvSpPr>
            <p:cNvPr id="64585" name="Rectangle 73"/>
            <p:cNvSpPr>
              <a:spLocks noChangeAspect="1" noChangeArrowheads="1"/>
            </p:cNvSpPr>
            <p:nvPr/>
          </p:nvSpPr>
          <p:spPr bwMode="auto">
            <a:xfrm rot="16200000">
              <a:off x="2733" y="2619"/>
              <a:ext cx="1009" cy="140"/>
            </a:xfrm>
            <a:prstGeom prst="rect">
              <a:avLst/>
            </a:prstGeom>
            <a:noFill/>
            <a:ln w="9525">
              <a:noFill/>
              <a:miter lim="800000"/>
              <a:headEnd/>
              <a:tailEnd/>
            </a:ln>
          </p:spPr>
          <p:txBody>
            <a:bodyPr wrap="none" lIns="0" tIns="0" rIns="0" bIns="0">
              <a:spAutoFit/>
            </a:bodyPr>
            <a:lstStyle/>
            <a:p>
              <a:pPr algn="ctr"/>
              <a:r>
                <a:rPr lang="en-US" sz="1600" b="1">
                  <a:solidFill>
                    <a:srgbClr val="000000"/>
                  </a:solidFill>
                  <a:latin typeface="Arial" charset="0"/>
                  <a:cs typeface="Arial" charset="0"/>
                </a:rPr>
                <a:t>Screenings (% &lt; 2.5mm)</a:t>
              </a:r>
              <a:endParaRPr lang="en-US" sz="1600">
                <a:cs typeface="Arial" charset="0"/>
              </a:endParaRPr>
            </a:p>
          </p:txBody>
        </p:sp>
      </p:grpSp>
      <p:sp>
        <p:nvSpPr>
          <p:cNvPr id="64586" name="Rectangle 74"/>
          <p:cNvSpPr>
            <a:spLocks noChangeArrowheads="1"/>
          </p:cNvSpPr>
          <p:nvPr/>
        </p:nvSpPr>
        <p:spPr bwMode="auto">
          <a:xfrm>
            <a:off x="2411413" y="1150938"/>
            <a:ext cx="5400675" cy="457200"/>
          </a:xfrm>
          <a:prstGeom prst="rect">
            <a:avLst/>
          </a:prstGeom>
          <a:noFill/>
          <a:ln w="9525">
            <a:noFill/>
            <a:miter lim="800000"/>
            <a:headEnd/>
            <a:tailEnd/>
          </a:ln>
          <a:effectLst/>
        </p:spPr>
        <p:txBody>
          <a:bodyPr>
            <a:spAutoFit/>
          </a:bodyPr>
          <a:lstStyle/>
          <a:p>
            <a:pPr>
              <a:spcBef>
                <a:spcPct val="50000"/>
              </a:spcBef>
            </a:pPr>
            <a:r>
              <a:rPr lang="en-AU" b="1">
                <a:latin typeface="Arial" charset="0"/>
                <a:cs typeface="Arial" charset="0"/>
              </a:rPr>
              <a:t>Powdery mildew dominant disease</a:t>
            </a:r>
            <a:endParaRPr lang="en-AU" sz="3600" b="1">
              <a:solidFill>
                <a:schemeClr val="bg1"/>
              </a:solidFill>
              <a:latin typeface="Arial" charset="0"/>
              <a:cs typeface="Arial" charset="0"/>
            </a:endParaRPr>
          </a:p>
        </p:txBody>
      </p:sp>
      <p:grpSp>
        <p:nvGrpSpPr>
          <p:cNvPr id="64587" name="Group 75"/>
          <p:cNvGrpSpPr>
            <a:grpSpLocks/>
          </p:cNvGrpSpPr>
          <p:nvPr/>
        </p:nvGrpSpPr>
        <p:grpSpPr bwMode="auto">
          <a:xfrm>
            <a:off x="3492500" y="6308725"/>
            <a:ext cx="4044950" cy="212725"/>
            <a:chOff x="1383" y="3702"/>
            <a:chExt cx="2548" cy="134"/>
          </a:xfrm>
        </p:grpSpPr>
        <p:sp>
          <p:nvSpPr>
            <p:cNvPr id="64588" name="Rectangle 76"/>
            <p:cNvSpPr>
              <a:spLocks noChangeArrowheads="1"/>
            </p:cNvSpPr>
            <p:nvPr/>
          </p:nvSpPr>
          <p:spPr bwMode="auto">
            <a:xfrm>
              <a:off x="1383" y="3754"/>
              <a:ext cx="73" cy="82"/>
            </a:xfrm>
            <a:prstGeom prst="rect">
              <a:avLst/>
            </a:prstGeom>
            <a:solidFill>
              <a:srgbClr val="8080FF"/>
            </a:solidFill>
            <a:ln w="11113">
              <a:solidFill>
                <a:srgbClr val="000000"/>
              </a:solidFill>
              <a:miter lim="800000"/>
              <a:headEnd/>
              <a:tailEnd/>
            </a:ln>
          </p:spPr>
          <p:txBody>
            <a:bodyPr/>
            <a:lstStyle/>
            <a:p>
              <a:endParaRPr lang="en-AU"/>
            </a:p>
          </p:txBody>
        </p:sp>
        <p:sp>
          <p:nvSpPr>
            <p:cNvPr id="64589" name="Rectangle 77"/>
            <p:cNvSpPr>
              <a:spLocks noChangeArrowheads="1"/>
            </p:cNvSpPr>
            <p:nvPr/>
          </p:nvSpPr>
          <p:spPr bwMode="auto">
            <a:xfrm>
              <a:off x="1519" y="3702"/>
              <a:ext cx="632" cy="134"/>
            </a:xfrm>
            <a:prstGeom prst="rect">
              <a:avLst/>
            </a:prstGeom>
            <a:noFill/>
            <a:ln w="9525">
              <a:noFill/>
              <a:miter lim="800000"/>
              <a:headEnd/>
              <a:tailEnd/>
            </a:ln>
          </p:spPr>
          <p:txBody>
            <a:bodyPr lIns="0" tIns="0" rIns="0" bIns="0">
              <a:spAutoFit/>
            </a:bodyPr>
            <a:lstStyle/>
            <a:p>
              <a:pPr algn="ctr"/>
              <a:r>
                <a:rPr lang="en-US" sz="1400" b="1">
                  <a:solidFill>
                    <a:srgbClr val="000000"/>
                  </a:solidFill>
                  <a:latin typeface="Arial" charset="0"/>
                  <a:cs typeface="Arial" charset="0"/>
                </a:rPr>
                <a:t>Baytan only</a:t>
              </a:r>
              <a:endParaRPr lang="en-US">
                <a:cs typeface="Arial" charset="0"/>
              </a:endParaRPr>
            </a:p>
          </p:txBody>
        </p:sp>
        <p:sp>
          <p:nvSpPr>
            <p:cNvPr id="64590" name="Rectangle 78"/>
            <p:cNvSpPr>
              <a:spLocks noChangeArrowheads="1"/>
            </p:cNvSpPr>
            <p:nvPr/>
          </p:nvSpPr>
          <p:spPr bwMode="auto">
            <a:xfrm>
              <a:off x="2472" y="3754"/>
              <a:ext cx="73" cy="82"/>
            </a:xfrm>
            <a:prstGeom prst="rect">
              <a:avLst/>
            </a:prstGeom>
            <a:solidFill>
              <a:srgbClr val="802060"/>
            </a:solidFill>
            <a:ln w="11113">
              <a:solidFill>
                <a:srgbClr val="000000"/>
              </a:solidFill>
              <a:miter lim="800000"/>
              <a:headEnd/>
              <a:tailEnd/>
            </a:ln>
          </p:spPr>
          <p:txBody>
            <a:bodyPr/>
            <a:lstStyle/>
            <a:p>
              <a:endParaRPr lang="en-AU"/>
            </a:p>
          </p:txBody>
        </p:sp>
        <p:sp>
          <p:nvSpPr>
            <p:cNvPr id="64591" name="Rectangle 79"/>
            <p:cNvSpPr>
              <a:spLocks noChangeArrowheads="1"/>
            </p:cNvSpPr>
            <p:nvPr/>
          </p:nvSpPr>
          <p:spPr bwMode="auto">
            <a:xfrm>
              <a:off x="2608" y="3702"/>
              <a:ext cx="1323" cy="134"/>
            </a:xfrm>
            <a:prstGeom prst="rect">
              <a:avLst/>
            </a:prstGeom>
            <a:noFill/>
            <a:ln w="9525">
              <a:noFill/>
              <a:miter lim="800000"/>
              <a:headEnd/>
              <a:tailEnd/>
            </a:ln>
          </p:spPr>
          <p:txBody>
            <a:bodyPr wrap="none" lIns="0" tIns="0" rIns="0" bIns="0">
              <a:spAutoFit/>
            </a:bodyPr>
            <a:lstStyle/>
            <a:p>
              <a:pPr algn="ctr"/>
              <a:r>
                <a:rPr lang="en-US" sz="1400" b="1">
                  <a:solidFill>
                    <a:srgbClr val="000000"/>
                  </a:solidFill>
                  <a:latin typeface="Arial" charset="0"/>
                  <a:cs typeface="Arial" charset="0"/>
                </a:rPr>
                <a:t>Baytan + fungicide spray</a:t>
              </a:r>
              <a:endParaRPr lang="en-US">
                <a:cs typeface="Arial" charset="0"/>
              </a:endParaRPr>
            </a:p>
          </p:txBody>
        </p:sp>
      </p:grpSp>
      <p:sp>
        <p:nvSpPr>
          <p:cNvPr id="64592" name="Rectangle 80"/>
          <p:cNvSpPr>
            <a:spLocks noChangeArrowheads="1"/>
          </p:cNvSpPr>
          <p:nvPr/>
        </p:nvSpPr>
        <p:spPr bwMode="auto">
          <a:xfrm>
            <a:off x="2700338" y="1557338"/>
            <a:ext cx="1365250" cy="366712"/>
          </a:xfrm>
          <a:prstGeom prst="rect">
            <a:avLst/>
          </a:prstGeom>
          <a:noFill/>
          <a:ln w="9525">
            <a:noFill/>
            <a:miter lim="800000"/>
            <a:headEnd/>
            <a:tailEnd/>
          </a:ln>
          <a:effectLst/>
        </p:spPr>
        <p:txBody>
          <a:bodyPr wrap="none">
            <a:spAutoFit/>
          </a:bodyPr>
          <a:lstStyle/>
          <a:p>
            <a:r>
              <a:rPr lang="en-AU" sz="1800" b="1">
                <a:latin typeface="Arial" charset="0"/>
                <a:cs typeface="Arial" charset="0"/>
              </a:rPr>
              <a:t>Grain yield</a:t>
            </a:r>
          </a:p>
        </p:txBody>
      </p:sp>
      <p:sp>
        <p:nvSpPr>
          <p:cNvPr id="64593" name="Text Box 81"/>
          <p:cNvSpPr txBox="1">
            <a:spLocks noChangeArrowheads="1"/>
          </p:cNvSpPr>
          <p:nvPr/>
        </p:nvSpPr>
        <p:spPr bwMode="auto">
          <a:xfrm>
            <a:off x="6011863" y="1582738"/>
            <a:ext cx="1581150" cy="366712"/>
          </a:xfrm>
          <a:prstGeom prst="rect">
            <a:avLst/>
          </a:prstGeom>
          <a:noFill/>
          <a:ln w="9525">
            <a:noFill/>
            <a:miter lim="800000"/>
            <a:headEnd/>
            <a:tailEnd/>
          </a:ln>
          <a:effectLst/>
        </p:spPr>
        <p:txBody>
          <a:bodyPr wrap="none">
            <a:spAutoFit/>
          </a:bodyPr>
          <a:lstStyle/>
          <a:p>
            <a:r>
              <a:rPr lang="en-AU" sz="1800" b="1">
                <a:latin typeface="Arial" charset="0"/>
                <a:cs typeface="Arial" charset="0"/>
              </a:rPr>
              <a:t>Grain quality</a:t>
            </a:r>
          </a:p>
        </p:txBody>
      </p:sp>
      <p:sp>
        <p:nvSpPr>
          <p:cNvPr id="64594" name="Text Box 82"/>
          <p:cNvSpPr txBox="1">
            <a:spLocks noChangeArrowheads="1"/>
          </p:cNvSpPr>
          <p:nvPr/>
        </p:nvSpPr>
        <p:spPr bwMode="auto">
          <a:xfrm>
            <a:off x="323850" y="6513513"/>
            <a:ext cx="2833688" cy="244475"/>
          </a:xfrm>
          <a:prstGeom prst="rect">
            <a:avLst/>
          </a:prstGeom>
          <a:noFill/>
          <a:ln w="9525">
            <a:noFill/>
            <a:miter lim="800000"/>
            <a:headEnd/>
            <a:tailEnd/>
          </a:ln>
          <a:effectLst/>
        </p:spPr>
        <p:txBody>
          <a:bodyPr wrap="none">
            <a:spAutoFit/>
          </a:bodyPr>
          <a:lstStyle/>
          <a:p>
            <a:r>
              <a:rPr lang="en-AU" sz="1000"/>
              <a:t>Source: Kith Jayasena and Geoff Thomas, DAFWA</a:t>
            </a:r>
            <a:endParaRPr lang="en-US" sz="1000"/>
          </a:p>
        </p:txBody>
      </p:sp>
      <p:pic>
        <p:nvPicPr>
          <p:cNvPr id="64595" name="Picture 83" descr="Powdery mildew 9"/>
          <p:cNvPicPr>
            <a:picLocks noChangeAspect="1" noChangeArrowheads="1"/>
          </p:cNvPicPr>
          <p:nvPr/>
        </p:nvPicPr>
        <p:blipFill>
          <a:blip r:embed="rId2" cstate="print"/>
          <a:srcRect l="44620" r="10760"/>
          <a:stretch>
            <a:fillRect/>
          </a:stretch>
        </p:blipFill>
        <p:spPr bwMode="auto">
          <a:xfrm>
            <a:off x="0" y="1628775"/>
            <a:ext cx="1223963" cy="4572000"/>
          </a:xfrm>
          <a:prstGeom prst="rect">
            <a:avLst/>
          </a:prstGeom>
          <a:noFill/>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bwMode="blackWhite"/>
        <p:txBody>
          <a:bodyPr/>
          <a:lstStyle/>
          <a:p>
            <a:r>
              <a:rPr lang="en-AU" dirty="0"/>
              <a:t>Barley – </a:t>
            </a:r>
            <a:r>
              <a:rPr lang="en-AU" dirty="0">
                <a:solidFill>
                  <a:schemeClr val="bg1"/>
                </a:solidFill>
              </a:rPr>
              <a:t>disease resistance</a:t>
            </a:r>
          </a:p>
        </p:txBody>
      </p:sp>
      <p:sp>
        <p:nvSpPr>
          <p:cNvPr id="166920" name="Rectangle 8"/>
          <p:cNvSpPr>
            <a:spLocks noGrp="1" noChangeArrowheads="1"/>
          </p:cNvSpPr>
          <p:nvPr>
            <p:ph type="body" idx="1"/>
          </p:nvPr>
        </p:nvSpPr>
        <p:spPr/>
        <p:txBody>
          <a:bodyPr/>
          <a:lstStyle/>
          <a:p>
            <a:endParaRPr lang="en-AU" sz="4000"/>
          </a:p>
          <a:p>
            <a:endParaRPr lang="en-AU" sz="4000"/>
          </a:p>
          <a:p>
            <a:endParaRPr lang="en-AU" sz="4000"/>
          </a:p>
          <a:p>
            <a:endParaRPr lang="en-AU" sz="4000"/>
          </a:p>
          <a:p>
            <a:endParaRPr lang="en-AU" sz="4000"/>
          </a:p>
          <a:p>
            <a:pPr>
              <a:buFontTx/>
              <a:buNone/>
            </a:pPr>
            <a:r>
              <a:rPr lang="en-AU" sz="2400"/>
              <a:t>Net type net blotch                             Scald</a:t>
            </a:r>
          </a:p>
          <a:p>
            <a:pPr>
              <a:spcBef>
                <a:spcPct val="10000"/>
              </a:spcBef>
              <a:buFontTx/>
              <a:buNone/>
            </a:pPr>
            <a:r>
              <a:rPr lang="en-AU" sz="2400"/>
              <a:t>                             Powdery mildew              Spot type net blotch</a:t>
            </a:r>
          </a:p>
        </p:txBody>
      </p:sp>
      <p:pic>
        <p:nvPicPr>
          <p:cNvPr id="166917" name="Picture 5" descr="Powdery mildew 9"/>
          <p:cNvPicPr>
            <a:picLocks noChangeAspect="1" noChangeArrowheads="1"/>
          </p:cNvPicPr>
          <p:nvPr/>
        </p:nvPicPr>
        <p:blipFill>
          <a:blip r:embed="rId2" cstate="print"/>
          <a:srcRect l="29527"/>
          <a:stretch>
            <a:fillRect/>
          </a:stretch>
        </p:blipFill>
        <p:spPr bwMode="auto">
          <a:xfrm>
            <a:off x="2916238" y="1701800"/>
            <a:ext cx="1655762" cy="3659188"/>
          </a:xfrm>
          <a:prstGeom prst="rect">
            <a:avLst/>
          </a:prstGeom>
          <a:noFill/>
        </p:spPr>
      </p:pic>
      <p:pic>
        <p:nvPicPr>
          <p:cNvPr id="166918" name="Picture 6" descr="Spot type net blotch_0001"/>
          <p:cNvPicPr>
            <a:picLocks noChangeAspect="1" noChangeArrowheads="1"/>
          </p:cNvPicPr>
          <p:nvPr/>
        </p:nvPicPr>
        <p:blipFill>
          <a:blip r:embed="rId3" cstate="print"/>
          <a:srcRect l="23000" b="4575"/>
          <a:stretch>
            <a:fillRect/>
          </a:stretch>
        </p:blipFill>
        <p:spPr bwMode="auto">
          <a:xfrm>
            <a:off x="6516688" y="1773238"/>
            <a:ext cx="1933575" cy="3609975"/>
          </a:xfrm>
          <a:prstGeom prst="rect">
            <a:avLst/>
          </a:prstGeom>
          <a:noFill/>
        </p:spPr>
      </p:pic>
      <p:pic>
        <p:nvPicPr>
          <p:cNvPr id="166919" name="Picture 7" descr="Scald 5"/>
          <p:cNvPicPr>
            <a:picLocks noChangeAspect="1" noChangeArrowheads="1"/>
          </p:cNvPicPr>
          <p:nvPr/>
        </p:nvPicPr>
        <p:blipFill>
          <a:blip r:embed="rId4" cstate="print"/>
          <a:srcRect l="47023" t="7677" r="5684" b="20695"/>
          <a:stretch>
            <a:fillRect/>
          </a:stretch>
        </p:blipFill>
        <p:spPr bwMode="auto">
          <a:xfrm>
            <a:off x="4787900" y="1268413"/>
            <a:ext cx="1616075" cy="3671887"/>
          </a:xfrm>
          <a:prstGeom prst="rect">
            <a:avLst/>
          </a:prstGeom>
          <a:noFill/>
        </p:spPr>
      </p:pic>
      <p:pic>
        <p:nvPicPr>
          <p:cNvPr id="166916" name="Picture 4" descr="Net type net blotch 032"/>
          <p:cNvPicPr>
            <a:picLocks noChangeAspect="1" noChangeArrowheads="1"/>
          </p:cNvPicPr>
          <p:nvPr/>
        </p:nvPicPr>
        <p:blipFill>
          <a:blip r:embed="rId5" cstate="print"/>
          <a:srcRect l="16536" r="24449" b="9485"/>
          <a:stretch>
            <a:fillRect/>
          </a:stretch>
        </p:blipFill>
        <p:spPr bwMode="auto">
          <a:xfrm>
            <a:off x="684213" y="1268413"/>
            <a:ext cx="1800225" cy="3681412"/>
          </a:xfrm>
          <a:prstGeom prst="rect">
            <a:avLst/>
          </a:prstGeom>
          <a:noFill/>
        </p:spPr>
      </p:pic>
      <p:sp>
        <p:nvSpPr>
          <p:cNvPr id="166921" name="Rectangle 9"/>
          <p:cNvSpPr>
            <a:spLocks noChangeArrowheads="1"/>
          </p:cNvSpPr>
          <p:nvPr/>
        </p:nvSpPr>
        <p:spPr bwMode="auto">
          <a:xfrm>
            <a:off x="179388" y="5865813"/>
            <a:ext cx="8785225" cy="946150"/>
          </a:xfrm>
          <a:prstGeom prst="rect">
            <a:avLst/>
          </a:prstGeom>
          <a:solidFill>
            <a:srgbClr val="006600"/>
          </a:solidFill>
          <a:ln w="12700" algn="ctr">
            <a:noFill/>
            <a:miter lim="800000"/>
            <a:headEnd/>
            <a:tailEnd/>
          </a:ln>
          <a:effectLst/>
        </p:spPr>
        <p:txBody>
          <a:bodyPr>
            <a:spAutoFit/>
          </a:bodyPr>
          <a:lstStyle/>
          <a:p>
            <a:pPr algn="ctr"/>
            <a:r>
              <a:rPr lang="en-AU" sz="2800">
                <a:solidFill>
                  <a:schemeClr val="bg1"/>
                </a:solidFill>
              </a:rPr>
              <a:t>Aim: build disease resistance into elite genetic backgrounds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0" name="Rectangle 8"/>
          <p:cNvSpPr>
            <a:spLocks noGrp="1" noChangeArrowheads="1"/>
          </p:cNvSpPr>
          <p:nvPr>
            <p:ph type="title"/>
          </p:nvPr>
        </p:nvSpPr>
        <p:spPr/>
        <p:txBody>
          <a:bodyPr/>
          <a:lstStyle/>
          <a:p>
            <a:r>
              <a:rPr lang="en-AU" dirty="0"/>
              <a:t>Screenings – </a:t>
            </a:r>
            <a:r>
              <a:rPr lang="en-AU" dirty="0">
                <a:solidFill>
                  <a:schemeClr val="bg1"/>
                </a:solidFill>
              </a:rPr>
              <a:t>seed rate &amp;</a:t>
            </a:r>
            <a:r>
              <a:rPr lang="en-AU" dirty="0"/>
              <a:t> </a:t>
            </a:r>
            <a:r>
              <a:rPr lang="en-AU" dirty="0">
                <a:solidFill>
                  <a:schemeClr val="bg1"/>
                </a:solidFill>
              </a:rPr>
              <a:t>weeds</a:t>
            </a:r>
          </a:p>
        </p:txBody>
      </p:sp>
      <p:pic>
        <p:nvPicPr>
          <p:cNvPr id="59401" name="Picture 9" descr="GSARI row spacing 05NO16 #1"/>
          <p:cNvPicPr>
            <a:picLocks noChangeAspect="1" noChangeArrowheads="1"/>
          </p:cNvPicPr>
          <p:nvPr/>
        </p:nvPicPr>
        <p:blipFill>
          <a:blip r:embed="rId2" cstate="print"/>
          <a:srcRect t="36964"/>
          <a:stretch>
            <a:fillRect/>
          </a:stretch>
        </p:blipFill>
        <p:spPr bwMode="auto">
          <a:xfrm>
            <a:off x="2124075" y="4524375"/>
            <a:ext cx="4937125" cy="2333625"/>
          </a:xfrm>
          <a:prstGeom prst="rect">
            <a:avLst/>
          </a:prstGeom>
          <a:noFill/>
        </p:spPr>
      </p:pic>
      <p:pic>
        <p:nvPicPr>
          <p:cNvPr id="59402" name="Picture 10"/>
          <p:cNvPicPr>
            <a:picLocks noChangeAspect="1" noChangeArrowheads="1"/>
          </p:cNvPicPr>
          <p:nvPr/>
        </p:nvPicPr>
        <p:blipFill>
          <a:blip r:embed="rId3" cstate="print"/>
          <a:srcRect/>
          <a:stretch>
            <a:fillRect/>
          </a:stretch>
        </p:blipFill>
        <p:spPr bwMode="auto">
          <a:xfrm>
            <a:off x="90488" y="1258888"/>
            <a:ext cx="8963025" cy="3248025"/>
          </a:xfrm>
          <a:prstGeom prst="rect">
            <a:avLst/>
          </a:prstGeom>
          <a:noFill/>
          <a:ln w="9525">
            <a:noFill/>
            <a:miter lim="800000"/>
            <a:headEnd/>
            <a:tailEnd/>
          </a:ln>
          <a:effectLst/>
        </p:spPr>
      </p:pic>
      <p:sp>
        <p:nvSpPr>
          <p:cNvPr id="5" name="TextBox 4"/>
          <p:cNvSpPr txBox="1"/>
          <p:nvPr/>
        </p:nvSpPr>
        <p:spPr>
          <a:xfrm>
            <a:off x="2915770" y="764630"/>
            <a:ext cx="4791696" cy="461665"/>
          </a:xfrm>
          <a:prstGeom prst="rect">
            <a:avLst/>
          </a:prstGeom>
          <a:noFill/>
        </p:spPr>
        <p:txBody>
          <a:bodyPr wrap="none" rtlCol="0">
            <a:spAutoFit/>
          </a:bodyPr>
          <a:lstStyle/>
          <a:p>
            <a:r>
              <a:rPr lang="en-AU" dirty="0">
                <a:solidFill>
                  <a:schemeClr val="bg1"/>
                </a:solidFill>
                <a:latin typeface="+mn-lt"/>
              </a:rPr>
              <a:t>120-150 plants/m2 recommended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AU"/>
              <a:t>Screenings – </a:t>
            </a:r>
            <a:r>
              <a:rPr lang="en-AU">
                <a:solidFill>
                  <a:schemeClr val="bg1"/>
                </a:solidFill>
              </a:rPr>
              <a:t>management </a:t>
            </a:r>
          </a:p>
        </p:txBody>
      </p:sp>
      <p:sp>
        <p:nvSpPr>
          <p:cNvPr id="50179" name="Rectangle 3"/>
          <p:cNvSpPr>
            <a:spLocks noGrp="1" noChangeArrowheads="1"/>
          </p:cNvSpPr>
          <p:nvPr>
            <p:ph type="body" idx="1"/>
          </p:nvPr>
        </p:nvSpPr>
        <p:spPr/>
        <p:txBody>
          <a:bodyPr/>
          <a:lstStyle/>
          <a:p>
            <a:pPr>
              <a:lnSpc>
                <a:spcPct val="90000"/>
              </a:lnSpc>
            </a:pPr>
            <a:r>
              <a:rPr lang="en-US" sz="3600"/>
              <a:t>Choose variety, </a:t>
            </a:r>
            <a:r>
              <a:rPr lang="en-US"/>
              <a:t>then choose management</a:t>
            </a:r>
          </a:p>
          <a:p>
            <a:pPr>
              <a:lnSpc>
                <a:spcPct val="90000"/>
              </a:lnSpc>
            </a:pPr>
            <a:r>
              <a:rPr lang="en-US" sz="3600"/>
              <a:t>Management choices:</a:t>
            </a:r>
          </a:p>
          <a:p>
            <a:pPr lvl="1">
              <a:lnSpc>
                <a:spcPct val="90000"/>
              </a:lnSpc>
            </a:pPr>
            <a:r>
              <a:rPr lang="en-US" sz="3200"/>
              <a:t> soil type </a:t>
            </a:r>
            <a:r>
              <a:rPr lang="en-US" sz="2400"/>
              <a:t>(critical for malting barley)</a:t>
            </a:r>
          </a:p>
          <a:p>
            <a:pPr lvl="1">
              <a:lnSpc>
                <a:spcPct val="90000"/>
              </a:lnSpc>
            </a:pPr>
            <a:r>
              <a:rPr lang="en-US" sz="2400"/>
              <a:t> </a:t>
            </a:r>
            <a:r>
              <a:rPr lang="en-US" sz="3200"/>
              <a:t>time of sowing </a:t>
            </a:r>
            <a:r>
              <a:rPr lang="en-US" sz="2400"/>
              <a:t>(early usually better)</a:t>
            </a:r>
          </a:p>
          <a:p>
            <a:pPr lvl="1">
              <a:lnSpc>
                <a:spcPct val="90000"/>
              </a:lnSpc>
            </a:pPr>
            <a:r>
              <a:rPr lang="en-US" sz="2400"/>
              <a:t> </a:t>
            </a:r>
            <a:r>
              <a:rPr lang="en-US" sz="3200"/>
              <a:t>N fertiliser </a:t>
            </a:r>
            <a:r>
              <a:rPr lang="en-US" sz="2400"/>
              <a:t>(match yield potential with supply)</a:t>
            </a:r>
          </a:p>
          <a:p>
            <a:pPr lvl="1">
              <a:lnSpc>
                <a:spcPct val="90000"/>
              </a:lnSpc>
            </a:pPr>
            <a:r>
              <a:rPr lang="en-US" sz="3200"/>
              <a:t> seeding rate </a:t>
            </a:r>
            <a:r>
              <a:rPr lang="en-US" sz="2400"/>
              <a:t>(only an issue with late sowing)</a:t>
            </a:r>
          </a:p>
          <a:p>
            <a:pPr lvl="1">
              <a:lnSpc>
                <a:spcPct val="90000"/>
              </a:lnSpc>
            </a:pPr>
            <a:r>
              <a:rPr lang="en-US" sz="3200"/>
              <a:t> weeds </a:t>
            </a:r>
            <a:r>
              <a:rPr lang="en-US" sz="2400"/>
              <a:t>(rotation and herbicides)</a:t>
            </a:r>
            <a:r>
              <a:rPr lang="en-US" sz="3200"/>
              <a:t> </a:t>
            </a:r>
          </a:p>
          <a:p>
            <a:pPr lvl="1">
              <a:lnSpc>
                <a:spcPct val="90000"/>
              </a:lnSpc>
            </a:pPr>
            <a:r>
              <a:rPr lang="en-US" sz="3200"/>
              <a:t> disease control </a:t>
            </a:r>
            <a:r>
              <a:rPr lang="en-US" sz="2400"/>
              <a:t>(rotation and fungicides)</a:t>
            </a:r>
          </a:p>
          <a:p>
            <a:pPr lvl="1">
              <a:lnSpc>
                <a:spcPct val="90000"/>
              </a:lnSpc>
            </a:pPr>
            <a:r>
              <a:rPr lang="en-US" sz="3200"/>
              <a:t> insect control </a:t>
            </a:r>
            <a:r>
              <a:rPr lang="en-US" sz="2400"/>
              <a:t>(grain fill a critical period)</a:t>
            </a:r>
            <a:endParaRPr lang="en-AU" sz="32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AU" dirty="0"/>
              <a:t>Grain Brightness – </a:t>
            </a:r>
            <a:r>
              <a:rPr lang="en-AU" dirty="0">
                <a:solidFill>
                  <a:schemeClr val="bg1"/>
                </a:solidFill>
              </a:rPr>
              <a:t>yellowing</a:t>
            </a:r>
          </a:p>
        </p:txBody>
      </p:sp>
      <p:sp>
        <p:nvSpPr>
          <p:cNvPr id="34819" name="Rectangle 3"/>
          <p:cNvSpPr>
            <a:spLocks noGrp="1" noChangeArrowheads="1"/>
          </p:cNvSpPr>
          <p:nvPr>
            <p:ph type="body" idx="1"/>
          </p:nvPr>
        </p:nvSpPr>
        <p:spPr/>
        <p:txBody>
          <a:bodyPr/>
          <a:lstStyle/>
          <a:p>
            <a:r>
              <a:rPr lang="en-AU" dirty="0"/>
              <a:t>Discolouration due to light showers or high 3-PM RH causes yellowing</a:t>
            </a:r>
          </a:p>
          <a:p>
            <a:r>
              <a:rPr lang="en-AU" dirty="0"/>
              <a:t>No fungi are involved</a:t>
            </a:r>
          </a:p>
          <a:p>
            <a:r>
              <a:rPr lang="en-AU" dirty="0"/>
              <a:t>Measured by determining grain brightness</a:t>
            </a:r>
          </a:p>
          <a:p>
            <a:r>
              <a:rPr lang="en-AU" dirty="0"/>
              <a:t>Target - &gt;59 L (lux) (Minolta colour meter)</a:t>
            </a:r>
          </a:p>
        </p:txBody>
      </p:sp>
      <p:pic>
        <p:nvPicPr>
          <p:cNvPr id="34820" name="Picture 4" descr="3917001 brightgrain"/>
          <p:cNvPicPr>
            <a:picLocks noChangeAspect="1" noChangeArrowheads="1"/>
          </p:cNvPicPr>
          <p:nvPr/>
        </p:nvPicPr>
        <p:blipFill>
          <a:blip r:embed="rId2" cstate="print"/>
          <a:srcRect l="4182" t="6274" r="1033" b="4724"/>
          <a:stretch>
            <a:fillRect/>
          </a:stretch>
        </p:blipFill>
        <p:spPr bwMode="auto">
          <a:xfrm>
            <a:off x="990600" y="4191000"/>
            <a:ext cx="3468688" cy="2209800"/>
          </a:xfrm>
          <a:prstGeom prst="rect">
            <a:avLst/>
          </a:prstGeom>
          <a:noFill/>
        </p:spPr>
      </p:pic>
      <p:pic>
        <p:nvPicPr>
          <p:cNvPr id="34821" name="Picture 5" descr="3917002 stained grain"/>
          <p:cNvPicPr>
            <a:picLocks noChangeAspect="1" noChangeArrowheads="1"/>
          </p:cNvPicPr>
          <p:nvPr/>
        </p:nvPicPr>
        <p:blipFill>
          <a:blip r:embed="rId3" cstate="print"/>
          <a:srcRect l="4182" t="3101" r="3149" b="6422"/>
          <a:stretch>
            <a:fillRect/>
          </a:stretch>
        </p:blipFill>
        <p:spPr bwMode="auto">
          <a:xfrm>
            <a:off x="4953000" y="4191000"/>
            <a:ext cx="3394075" cy="2209800"/>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AU"/>
              <a:t>Grain Brightness – </a:t>
            </a:r>
            <a:r>
              <a:rPr lang="en-AU">
                <a:solidFill>
                  <a:schemeClr val="bg1"/>
                </a:solidFill>
              </a:rPr>
              <a:t>greying</a:t>
            </a:r>
          </a:p>
        </p:txBody>
      </p:sp>
      <p:sp>
        <p:nvSpPr>
          <p:cNvPr id="35843" name="Rectangle 3"/>
          <p:cNvSpPr>
            <a:spLocks noGrp="1" noChangeArrowheads="1"/>
          </p:cNvSpPr>
          <p:nvPr>
            <p:ph type="body" idx="1"/>
          </p:nvPr>
        </p:nvSpPr>
        <p:spPr/>
        <p:txBody>
          <a:bodyPr/>
          <a:lstStyle/>
          <a:p>
            <a:r>
              <a:rPr lang="en-AU"/>
              <a:t>Discolouration of the grain due to heavy showers causes greying</a:t>
            </a:r>
          </a:p>
          <a:p>
            <a:r>
              <a:rPr lang="en-AU"/>
              <a:t>Associated with moulds and fungi</a:t>
            </a:r>
          </a:p>
          <a:p>
            <a:r>
              <a:rPr lang="en-AU"/>
              <a:t>Measured by counting affected per 400 grains</a:t>
            </a:r>
          </a:p>
          <a:p>
            <a:r>
              <a:rPr lang="en-AU"/>
              <a:t>Target - &lt; 5% mould affected</a:t>
            </a:r>
          </a:p>
        </p:txBody>
      </p:sp>
      <p:pic>
        <p:nvPicPr>
          <p:cNvPr id="35844" name="Picture 4" descr="spotted mould"/>
          <p:cNvPicPr>
            <a:picLocks noChangeAspect="1" noChangeArrowheads="1"/>
          </p:cNvPicPr>
          <p:nvPr/>
        </p:nvPicPr>
        <p:blipFill>
          <a:blip r:embed="rId2" cstate="print"/>
          <a:srcRect r="1262"/>
          <a:stretch>
            <a:fillRect/>
          </a:stretch>
        </p:blipFill>
        <p:spPr bwMode="auto">
          <a:xfrm>
            <a:off x="0" y="4594225"/>
            <a:ext cx="9142413" cy="1808163"/>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en-AU"/>
              <a:t>Grain Brightness – </a:t>
            </a:r>
            <a:r>
              <a:rPr lang="en-AU">
                <a:solidFill>
                  <a:schemeClr val="bg1"/>
                </a:solidFill>
              </a:rPr>
              <a:t>importance</a:t>
            </a:r>
          </a:p>
        </p:txBody>
      </p:sp>
      <p:sp>
        <p:nvSpPr>
          <p:cNvPr id="36867" name="Rectangle 3"/>
          <p:cNvSpPr>
            <a:spLocks noGrp="1" noChangeArrowheads="1"/>
          </p:cNvSpPr>
          <p:nvPr>
            <p:ph type="body" idx="1"/>
          </p:nvPr>
        </p:nvSpPr>
        <p:spPr/>
        <p:txBody>
          <a:bodyPr/>
          <a:lstStyle/>
          <a:p>
            <a:r>
              <a:rPr lang="en-AU"/>
              <a:t>Grain discolouration</a:t>
            </a:r>
          </a:p>
          <a:p>
            <a:pPr lvl="1"/>
            <a:r>
              <a:rPr lang="en-AU"/>
              <a:t>has little effect on malting process</a:t>
            </a:r>
          </a:p>
          <a:p>
            <a:pPr lvl="1"/>
            <a:r>
              <a:rPr lang="en-AU"/>
              <a:t>grain less suited to pale coloured beer market</a:t>
            </a:r>
          </a:p>
          <a:p>
            <a:pPr lvl="1"/>
            <a:r>
              <a:rPr lang="en-AU"/>
              <a:t>may indicate presence of fungi and mould</a:t>
            </a:r>
          </a:p>
          <a:p>
            <a:r>
              <a:rPr lang="en-AU"/>
              <a:t>Presence of mould and fungi may</a:t>
            </a:r>
          </a:p>
          <a:p>
            <a:pPr lvl="1"/>
            <a:r>
              <a:rPr lang="en-AU"/>
              <a:t>induce dormancy and increase storage time</a:t>
            </a:r>
          </a:p>
          <a:p>
            <a:pPr lvl="1"/>
            <a:r>
              <a:rPr lang="en-AU"/>
              <a:t>increase sensitivity of grain to water in steep</a:t>
            </a:r>
          </a:p>
          <a:p>
            <a:pPr lvl="1"/>
            <a:r>
              <a:rPr lang="en-AU"/>
              <a:t>decrease alcohol yield</a:t>
            </a:r>
          </a:p>
          <a:p>
            <a:pPr lvl="1"/>
            <a:r>
              <a:rPr lang="en-AU"/>
              <a:t>cause gushing (excess foaming) in the brewery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r>
              <a:rPr lang="en-AU"/>
              <a:t>Grain Brightness – </a:t>
            </a:r>
            <a:r>
              <a:rPr lang="en-AU">
                <a:solidFill>
                  <a:schemeClr val="bg1"/>
                </a:solidFill>
              </a:rPr>
              <a:t>agronomy</a:t>
            </a:r>
          </a:p>
        </p:txBody>
      </p:sp>
      <p:sp>
        <p:nvSpPr>
          <p:cNvPr id="37891" name="Rectangle 3"/>
          <p:cNvSpPr>
            <a:spLocks noGrp="1" noChangeArrowheads="1"/>
          </p:cNvSpPr>
          <p:nvPr>
            <p:ph type="body" idx="1"/>
          </p:nvPr>
        </p:nvSpPr>
        <p:spPr/>
        <p:txBody>
          <a:bodyPr/>
          <a:lstStyle/>
          <a:p>
            <a:pPr>
              <a:buFontTx/>
              <a:buNone/>
            </a:pPr>
            <a:r>
              <a:rPr lang="en-AU"/>
              <a:t>Factors affecting grain colour are:</a:t>
            </a:r>
          </a:p>
          <a:p>
            <a:r>
              <a:rPr lang="en-AU"/>
              <a:t>Variety (grain brightness)</a:t>
            </a:r>
          </a:p>
          <a:p>
            <a:r>
              <a:rPr lang="en-AU"/>
              <a:t>Date of seeding</a:t>
            </a:r>
          </a:p>
          <a:p>
            <a:r>
              <a:rPr lang="en-AU"/>
              <a:t>Relative humidity at 3-PM</a:t>
            </a:r>
          </a:p>
          <a:p>
            <a:r>
              <a:rPr lang="en-AU"/>
              <a:t>Rainfall during crop maturity                       and harvest</a:t>
            </a:r>
          </a:p>
        </p:txBody>
      </p:sp>
      <p:pic>
        <p:nvPicPr>
          <p:cNvPr id="37892" name="Picture 4" descr="germend staining CBH"/>
          <p:cNvPicPr>
            <a:picLocks noChangeAspect="1" noChangeArrowheads="1"/>
          </p:cNvPicPr>
          <p:nvPr/>
        </p:nvPicPr>
        <p:blipFill>
          <a:blip r:embed="rId2" cstate="print"/>
          <a:srcRect/>
          <a:stretch>
            <a:fillRect/>
          </a:stretch>
        </p:blipFill>
        <p:spPr bwMode="auto">
          <a:xfrm>
            <a:off x="6735763" y="1447800"/>
            <a:ext cx="2127250" cy="520065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AU"/>
              <a:t>Grain Brightness – </a:t>
            </a:r>
            <a:r>
              <a:rPr lang="en-AU">
                <a:solidFill>
                  <a:schemeClr val="bg1"/>
                </a:solidFill>
              </a:rPr>
              <a:t>location</a:t>
            </a:r>
          </a:p>
        </p:txBody>
      </p:sp>
      <p:pic>
        <p:nvPicPr>
          <p:cNvPr id="108547" name="Picture 3"/>
          <p:cNvPicPr>
            <a:picLocks noChangeAspect="1" noChangeArrowheads="1"/>
          </p:cNvPicPr>
          <p:nvPr/>
        </p:nvPicPr>
        <p:blipFill>
          <a:blip r:embed="rId2" cstate="print"/>
          <a:srcRect/>
          <a:stretch>
            <a:fillRect/>
          </a:stretch>
        </p:blipFill>
        <p:spPr bwMode="auto">
          <a:xfrm>
            <a:off x="1187450" y="1366838"/>
            <a:ext cx="7388225" cy="5335587"/>
          </a:xfrm>
          <a:prstGeom prst="rect">
            <a:avLst/>
          </a:prstGeom>
          <a:noFill/>
          <a:ln w="12700">
            <a:noFill/>
            <a:miter lim="800000"/>
            <a:headEnd type="none" w="sm" len="sm"/>
            <a:tailEnd type="none" w="sm" len="sm"/>
          </a:ln>
          <a:effec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AU"/>
              <a:t>Grain Brightness – </a:t>
            </a:r>
            <a:r>
              <a:rPr lang="en-AU">
                <a:solidFill>
                  <a:schemeClr val="bg1"/>
                </a:solidFill>
              </a:rPr>
              <a:t>management</a:t>
            </a:r>
          </a:p>
        </p:txBody>
      </p:sp>
      <p:sp>
        <p:nvSpPr>
          <p:cNvPr id="109572" name="Rectangle 4"/>
          <p:cNvSpPr>
            <a:spLocks noGrp="1" noChangeArrowheads="1"/>
          </p:cNvSpPr>
          <p:nvPr>
            <p:ph type="body" idx="1"/>
          </p:nvPr>
        </p:nvSpPr>
        <p:spPr/>
        <p:txBody>
          <a:bodyPr/>
          <a:lstStyle/>
          <a:p>
            <a:r>
              <a:rPr lang="en-US"/>
              <a:t>Grain brightness is controlled by relative humidity, so being close to the coast is a disadvantage</a:t>
            </a:r>
          </a:p>
          <a:p>
            <a:r>
              <a:rPr lang="en-US"/>
              <a:t>Best agronomic practices can result in a minor improvement in brightness</a:t>
            </a:r>
          </a:p>
          <a:p>
            <a:r>
              <a:rPr lang="en-US"/>
              <a:t>Best solution to improve grain brightness is to use brighter varieties</a:t>
            </a:r>
            <a:endParaRPr lang="en-AU"/>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AU"/>
              <a:t>Summary – </a:t>
            </a:r>
            <a:r>
              <a:rPr lang="en-AU">
                <a:solidFill>
                  <a:schemeClr val="bg1"/>
                </a:solidFill>
              </a:rPr>
              <a:t>agronomic principles</a:t>
            </a:r>
            <a:r>
              <a:rPr lang="en-AU"/>
              <a:t> </a:t>
            </a:r>
          </a:p>
        </p:txBody>
      </p:sp>
      <p:sp>
        <p:nvSpPr>
          <p:cNvPr id="100355" name="Rectangle 3"/>
          <p:cNvSpPr>
            <a:spLocks noGrp="1" noChangeArrowheads="1"/>
          </p:cNvSpPr>
          <p:nvPr>
            <p:ph type="body" idx="1"/>
          </p:nvPr>
        </p:nvSpPr>
        <p:spPr/>
        <p:txBody>
          <a:bodyPr/>
          <a:lstStyle/>
          <a:p>
            <a:pPr>
              <a:buFontTx/>
              <a:buNone/>
            </a:pPr>
            <a:r>
              <a:rPr lang="en-US" b="1"/>
              <a:t>Producing premium grade, malting barley:</a:t>
            </a:r>
          </a:p>
          <a:p>
            <a:r>
              <a:rPr lang="en-US"/>
              <a:t>Rotation – </a:t>
            </a:r>
            <a:r>
              <a:rPr lang="en-US" sz="2800"/>
              <a:t>non-legume rotation best</a:t>
            </a:r>
          </a:p>
          <a:p>
            <a:r>
              <a:rPr lang="en-US"/>
              <a:t>Soil type – </a:t>
            </a:r>
            <a:r>
              <a:rPr lang="en-US" sz="2800"/>
              <a:t>those that</a:t>
            </a:r>
            <a:r>
              <a:rPr lang="en-US"/>
              <a:t> </a:t>
            </a:r>
            <a:r>
              <a:rPr lang="en-US" sz="2800"/>
              <a:t>hold moisture for spring</a:t>
            </a:r>
          </a:p>
          <a:p>
            <a:r>
              <a:rPr lang="en-US"/>
              <a:t>Time of Sowing – </a:t>
            </a:r>
            <a:r>
              <a:rPr lang="en-US" sz="2800"/>
              <a:t>early as possible for the variety</a:t>
            </a:r>
          </a:p>
          <a:p>
            <a:r>
              <a:rPr lang="en-US"/>
              <a:t>Applied N – </a:t>
            </a:r>
            <a:r>
              <a:rPr lang="en-US" sz="2800"/>
              <a:t>match to protein and yield target</a:t>
            </a:r>
            <a:endParaRPr lang="en-US"/>
          </a:p>
          <a:p>
            <a:r>
              <a:rPr lang="en-US"/>
              <a:t>Seeding Rate – </a:t>
            </a:r>
            <a:r>
              <a:rPr lang="en-US" sz="2800"/>
              <a:t>120 to 150 plants/m</a:t>
            </a:r>
            <a:r>
              <a:rPr lang="en-US" sz="2800" baseline="30000"/>
              <a:t>2</a:t>
            </a:r>
            <a:endParaRPr lang="en-US"/>
          </a:p>
          <a:p>
            <a:r>
              <a:rPr lang="en-US"/>
              <a:t>Disease – </a:t>
            </a:r>
            <a:r>
              <a:rPr lang="en-US" sz="2800"/>
              <a:t>seed dress and monitor foliar disease</a:t>
            </a:r>
          </a:p>
          <a:p>
            <a:r>
              <a:rPr lang="en-US"/>
              <a:t>Aphids – </a:t>
            </a:r>
            <a:r>
              <a:rPr lang="en-US" sz="2800"/>
              <a:t>control aphid feeding during grain fill</a:t>
            </a:r>
          </a:p>
          <a:p>
            <a:r>
              <a:rPr lang="en-AU"/>
              <a:t>Weeds</a:t>
            </a:r>
            <a:r>
              <a:rPr lang="en-AU" sz="2800"/>
              <a:t> – take out early and use IWM</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AU"/>
              <a:t>Summary – </a:t>
            </a:r>
            <a:r>
              <a:rPr lang="en-AU">
                <a:solidFill>
                  <a:schemeClr val="bg1"/>
                </a:solidFill>
              </a:rPr>
              <a:t>agronomic principles</a:t>
            </a:r>
            <a:r>
              <a:rPr lang="en-AU"/>
              <a:t> </a:t>
            </a:r>
          </a:p>
        </p:txBody>
      </p:sp>
      <p:pic>
        <p:nvPicPr>
          <p:cNvPr id="115723" name="Picture 11"/>
          <p:cNvPicPr>
            <a:picLocks noGrp="1" noChangeAspect="1" noChangeArrowheads="1"/>
          </p:cNvPicPr>
          <p:nvPr>
            <p:ph idx="1"/>
          </p:nvPr>
        </p:nvPicPr>
        <p:blipFill>
          <a:blip r:embed="rId2" cstate="print"/>
          <a:srcRect/>
          <a:stretch>
            <a:fillRect/>
          </a:stretch>
        </p:blipFill>
        <p:spPr>
          <a:xfrm>
            <a:off x="539750" y="1341438"/>
            <a:ext cx="8126413" cy="4675187"/>
          </a:xfrm>
          <a:noFill/>
          <a:ln/>
        </p:spPr>
      </p:pic>
      <p:sp>
        <p:nvSpPr>
          <p:cNvPr id="115725" name="Text Box 13"/>
          <p:cNvSpPr txBox="1">
            <a:spLocks noChangeArrowheads="1"/>
          </p:cNvSpPr>
          <p:nvPr/>
        </p:nvSpPr>
        <p:spPr bwMode="auto">
          <a:xfrm>
            <a:off x="2555875" y="6092825"/>
            <a:ext cx="6100763" cy="519113"/>
          </a:xfrm>
          <a:prstGeom prst="rect">
            <a:avLst/>
          </a:prstGeom>
          <a:solidFill>
            <a:srgbClr val="808000"/>
          </a:solidFill>
          <a:ln w="9525">
            <a:noFill/>
            <a:miter lim="800000"/>
            <a:headEnd/>
            <a:tailEnd/>
          </a:ln>
          <a:effectLst/>
        </p:spPr>
        <p:txBody>
          <a:bodyPr wrap="none">
            <a:spAutoFit/>
          </a:bodyPr>
          <a:lstStyle/>
          <a:p>
            <a:r>
              <a:rPr lang="en-AU" sz="2800" b="1">
                <a:solidFill>
                  <a:schemeClr val="bg1"/>
                </a:solidFill>
              </a:rPr>
              <a:t>The interaction is often very important</a:t>
            </a:r>
            <a:endParaRPr lang="en-US" sz="2800" b="1">
              <a:solidFill>
                <a:schemeClr val="bg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r>
              <a:rPr lang="en-AU"/>
              <a:t>Cheers</a:t>
            </a:r>
            <a:endParaRPr lang="en-US"/>
          </a:p>
        </p:txBody>
      </p:sp>
      <p:sp>
        <p:nvSpPr>
          <p:cNvPr id="114692" name="Rectangle 4"/>
          <p:cNvSpPr>
            <a:spLocks noChangeArrowheads="1"/>
          </p:cNvSpPr>
          <p:nvPr/>
        </p:nvSpPr>
        <p:spPr bwMode="auto">
          <a:xfrm>
            <a:off x="395288" y="5229225"/>
            <a:ext cx="7921625" cy="1171575"/>
          </a:xfrm>
          <a:prstGeom prst="rect">
            <a:avLst/>
          </a:prstGeom>
          <a:noFill/>
          <a:ln w="9525">
            <a:noFill/>
            <a:miter lim="800000"/>
            <a:headEnd/>
            <a:tailEnd/>
          </a:ln>
        </p:spPr>
        <p:txBody>
          <a:bodyPr/>
          <a:lstStyle/>
          <a:p>
            <a:pPr marL="342900" indent="-342900" algn="ctr">
              <a:spcBef>
                <a:spcPct val="20000"/>
              </a:spcBef>
            </a:pPr>
            <a:r>
              <a:rPr lang="en-US" sz="2800">
                <a:latin typeface="Arial" charset="0"/>
              </a:rPr>
              <a:t>This research is supported by DAFWA and the GRDC (DAW00148 and DAW00149)</a:t>
            </a:r>
          </a:p>
        </p:txBody>
      </p:sp>
      <p:pic>
        <p:nvPicPr>
          <p:cNvPr id="114693" name="Picture 5" descr="Barley heads 15"/>
          <p:cNvPicPr>
            <a:picLocks noChangeAspect="1" noChangeArrowheads="1"/>
          </p:cNvPicPr>
          <p:nvPr/>
        </p:nvPicPr>
        <p:blipFill>
          <a:blip r:embed="rId2" cstate="print"/>
          <a:srcRect/>
          <a:stretch>
            <a:fillRect/>
          </a:stretch>
        </p:blipFill>
        <p:spPr bwMode="auto">
          <a:xfrm>
            <a:off x="395288" y="1557338"/>
            <a:ext cx="4076700" cy="3359150"/>
          </a:xfrm>
          <a:prstGeom prst="rect">
            <a:avLst/>
          </a:prstGeom>
          <a:noFill/>
          <a:ln w="9525">
            <a:noFill/>
            <a:miter lim="800000"/>
            <a:headEnd/>
            <a:tailEnd/>
          </a:ln>
        </p:spPr>
      </p:pic>
      <p:pic>
        <p:nvPicPr>
          <p:cNvPr id="114694" name="Picture 6" descr="barley in sunset 2"/>
          <p:cNvPicPr>
            <a:picLocks noChangeAspect="1" noChangeArrowheads="1"/>
          </p:cNvPicPr>
          <p:nvPr/>
        </p:nvPicPr>
        <p:blipFill>
          <a:blip r:embed="rId3" cstate="print"/>
          <a:srcRect r="16689"/>
          <a:stretch>
            <a:fillRect/>
          </a:stretch>
        </p:blipFill>
        <p:spPr bwMode="auto">
          <a:xfrm>
            <a:off x="4572000" y="1557338"/>
            <a:ext cx="4105275" cy="3384550"/>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AU"/>
              <a:t>Screenings – </a:t>
            </a:r>
            <a:r>
              <a:rPr lang="en-AU">
                <a:solidFill>
                  <a:schemeClr val="bg1"/>
                </a:solidFill>
              </a:rPr>
              <a:t>row spacing &amp;</a:t>
            </a:r>
            <a:r>
              <a:rPr lang="en-AU"/>
              <a:t> </a:t>
            </a:r>
            <a:r>
              <a:rPr lang="en-AU">
                <a:solidFill>
                  <a:schemeClr val="bg1"/>
                </a:solidFill>
              </a:rPr>
              <a:t>weeds</a:t>
            </a:r>
          </a:p>
        </p:txBody>
      </p:sp>
      <p:pic>
        <p:nvPicPr>
          <p:cNvPr id="69638" name="Picture 6"/>
          <p:cNvPicPr>
            <a:picLocks noChangeAspect="1" noChangeArrowheads="1"/>
          </p:cNvPicPr>
          <p:nvPr/>
        </p:nvPicPr>
        <p:blipFill>
          <a:blip r:embed="rId2" cstate="print"/>
          <a:srcRect/>
          <a:stretch>
            <a:fillRect/>
          </a:stretch>
        </p:blipFill>
        <p:spPr bwMode="auto">
          <a:xfrm>
            <a:off x="71438" y="1222375"/>
            <a:ext cx="9029700" cy="3505200"/>
          </a:xfrm>
          <a:prstGeom prst="rect">
            <a:avLst/>
          </a:prstGeom>
          <a:noFill/>
          <a:ln w="9525">
            <a:noFill/>
            <a:miter lim="800000"/>
            <a:headEnd/>
            <a:tailEnd/>
          </a:ln>
          <a:effectLst/>
        </p:spPr>
      </p:pic>
      <p:pic>
        <p:nvPicPr>
          <p:cNvPr id="69639" name="Picture 7" descr="GSARI row spacing 05NO16 #3"/>
          <p:cNvPicPr>
            <a:picLocks noChangeAspect="1" noChangeArrowheads="1"/>
          </p:cNvPicPr>
          <p:nvPr/>
        </p:nvPicPr>
        <p:blipFill>
          <a:blip r:embed="rId3" cstate="print"/>
          <a:srcRect t="40823" b="5446"/>
          <a:stretch>
            <a:fillRect/>
          </a:stretch>
        </p:blipFill>
        <p:spPr bwMode="auto">
          <a:xfrm>
            <a:off x="2051050" y="4868863"/>
            <a:ext cx="4937125" cy="1989137"/>
          </a:xfrm>
          <a:prstGeom prst="rect">
            <a:avLst/>
          </a:prstGeom>
          <a:noFill/>
        </p:spPr>
      </p:pic>
    </p:spTree>
    <p:extLst>
      <p:ext uri="{BB962C8B-B14F-4D97-AF65-F5344CB8AC3E}">
        <p14:creationId xmlns:p14="http://schemas.microsoft.com/office/powerpoint/2010/main" val="416071692"/>
      </p:ext>
    </p:extLst>
  </p:cSld>
  <p:clrMapOvr>
    <a:masterClrMapping/>
  </p:clrMapOvr>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CCFF66"/>
      </a:accent1>
      <a:accent2>
        <a:srgbClr val="3333CC"/>
      </a:accent2>
      <a:accent3>
        <a:srgbClr val="FFFFFF"/>
      </a:accent3>
      <a:accent4>
        <a:srgbClr val="000000"/>
      </a:accent4>
      <a:accent5>
        <a:srgbClr val="E2FFB8"/>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3719</TotalTime>
  <Words>2861</Words>
  <Application>Microsoft Office PowerPoint</Application>
  <PresentationFormat>On-screen Show (4:3)</PresentationFormat>
  <Paragraphs>352</Paragraphs>
  <Slides>65</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65</vt:i4>
      </vt:variant>
    </vt:vector>
  </HeadingPairs>
  <TitlesOfParts>
    <vt:vector size="72" baseType="lpstr">
      <vt:lpstr>Arial</vt:lpstr>
      <vt:lpstr>Arial Narrow</vt:lpstr>
      <vt:lpstr>Calibri</vt:lpstr>
      <vt:lpstr>Courier New</vt:lpstr>
      <vt:lpstr>Tahoma</vt:lpstr>
      <vt:lpstr>Times New Roman</vt:lpstr>
      <vt:lpstr>Blank Presentation</vt:lpstr>
      <vt:lpstr>PowerPoint Presentation</vt:lpstr>
      <vt:lpstr>PowerPoint Presentation</vt:lpstr>
      <vt:lpstr>Spike/Spikelet – wheat</vt:lpstr>
      <vt:lpstr>Wheat</vt:lpstr>
      <vt:lpstr>Grain classification – wheat/barley</vt:lpstr>
      <vt:lpstr>Spike/Spikelet – wheat</vt:lpstr>
      <vt:lpstr>Taxonomy – wheat</vt:lpstr>
      <vt:lpstr>Wheat classification</vt:lpstr>
      <vt:lpstr>Wheat classification</vt:lpstr>
      <vt:lpstr>Wheat classification</vt:lpstr>
      <vt:lpstr>Wheat classification</vt:lpstr>
      <vt:lpstr>PowerPoint Presentation</vt:lpstr>
      <vt:lpstr>Growing Barley – Western Australia</vt:lpstr>
      <vt:lpstr>Taxonomy – barley</vt:lpstr>
      <vt:lpstr>Spike/Spikelet –barley</vt:lpstr>
      <vt:lpstr>Barley – Malt vs feed</vt:lpstr>
      <vt:lpstr>Falling number</vt:lpstr>
      <vt:lpstr>Grain standards</vt:lpstr>
      <vt:lpstr>Grain standards</vt:lpstr>
      <vt:lpstr>Grain standards</vt:lpstr>
      <vt:lpstr>PowerPoint Presentation</vt:lpstr>
      <vt:lpstr>PowerPoint Presentation</vt:lpstr>
      <vt:lpstr>Barley – agronomy topics</vt:lpstr>
      <vt:lpstr>Barley – season type</vt:lpstr>
      <vt:lpstr>Barley – agronomy topics</vt:lpstr>
      <vt:lpstr>Barley – where?</vt:lpstr>
      <vt:lpstr>Barley – which varieties?</vt:lpstr>
      <vt:lpstr>PowerPoint Presentation</vt:lpstr>
      <vt:lpstr>End Uses – malt barley</vt:lpstr>
      <vt:lpstr>Grain Quality Issues – malt barley</vt:lpstr>
      <vt:lpstr>Best Practices – malt barley</vt:lpstr>
      <vt:lpstr>Pattern of N uptake – wheat and barley</vt:lpstr>
      <vt:lpstr>Spike/Spikelet – wheat and barley</vt:lpstr>
      <vt:lpstr>Grain Protein – importance </vt:lpstr>
      <vt:lpstr>Grain Protein – importance </vt:lpstr>
      <vt:lpstr>Grain Protein – agronomy </vt:lpstr>
      <vt:lpstr>Grain Protein – agronomy </vt:lpstr>
      <vt:lpstr>Grain Protein – calculating soil N</vt:lpstr>
      <vt:lpstr>Grain Protein – N supply and yield</vt:lpstr>
      <vt:lpstr>Grain Protein – agronomy </vt:lpstr>
      <vt:lpstr>Grain Protein – rate and timing</vt:lpstr>
      <vt:lpstr>Variety differences for grain protein</vt:lpstr>
      <vt:lpstr>Grain Protein – management</vt:lpstr>
      <vt:lpstr>Management</vt:lpstr>
      <vt:lpstr>To increase grain protein</vt:lpstr>
      <vt:lpstr>Screenings – importance </vt:lpstr>
      <vt:lpstr>Screenings – importance </vt:lpstr>
      <vt:lpstr>Screenings – agronomy </vt:lpstr>
      <vt:lpstr>Screenings – grain shape</vt:lpstr>
      <vt:lpstr>Screenings – rainfall during grain fill</vt:lpstr>
      <vt:lpstr>Screenings – nitrogen application</vt:lpstr>
      <vt:lpstr>Screenings – disease</vt:lpstr>
      <vt:lpstr>Barley – disease resistance</vt:lpstr>
      <vt:lpstr>Screenings – seed rate &amp; weeds</vt:lpstr>
      <vt:lpstr>Screenings – management </vt:lpstr>
      <vt:lpstr>Grain Brightness – yellowing</vt:lpstr>
      <vt:lpstr>Grain Brightness – greying</vt:lpstr>
      <vt:lpstr>Grain Brightness – importance</vt:lpstr>
      <vt:lpstr>Grain Brightness – agronomy</vt:lpstr>
      <vt:lpstr>Grain Brightness – location</vt:lpstr>
      <vt:lpstr>Grain Brightness – management</vt:lpstr>
      <vt:lpstr>Summary – agronomic principles </vt:lpstr>
      <vt:lpstr>Summary – agronomic principles </vt:lpstr>
      <vt:lpstr>Cheers</vt:lpstr>
      <vt:lpstr>Screenings – row spacing &amp; weeds</vt:lpstr>
    </vt:vector>
  </TitlesOfParts>
  <Company>Dept of Agriculture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Western Region Barley Agronomy</dc:title>
  <dc:creator>Alaina Garthwaite</dc:creator>
  <cp:lastModifiedBy>Gustavo Alckmin</cp:lastModifiedBy>
  <cp:revision>291</cp:revision>
  <dcterms:created xsi:type="dcterms:W3CDTF">2005-06-15T03:19:23Z</dcterms:created>
  <dcterms:modified xsi:type="dcterms:W3CDTF">2024-08-19T05:21:42Z</dcterms:modified>
</cp:coreProperties>
</file>